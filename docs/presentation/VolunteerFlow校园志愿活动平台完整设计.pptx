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59e93fe123421e" /><Relationship Type="http://schemas.openxmlformats.org/officeDocument/2006/relationships/extended-properties" Target="/docProps/app.xml" Id="R334b52d3a2e24168" /><Relationship Type="http://schemas.openxmlformats.org/officeDocument/2006/relationships/officeDocument" Target="/ppt/presentation.xml" Id="R60dfca76f03140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b14b44cc484431"/>
  </p:sldMasterIdLst>
  <p:notesMasterIdLst>
    <p:notesMasterId xmlns:r="http://schemas.openxmlformats.org/officeDocument/2006/relationships" r:id="R6b604e68f3154a7c"/>
  </p:notesMasterIdLst>
  <p:sldIdLst>
    <p:sldId xmlns:r="http://schemas.openxmlformats.org/officeDocument/2006/relationships" id="256" r:id="Rbf47e35b413a4f54"/>
    <p:sldId xmlns:r="http://schemas.openxmlformats.org/officeDocument/2006/relationships" id="257" r:id="Rc50da09f3f5a4f22"/>
    <p:sldId xmlns:r="http://schemas.openxmlformats.org/officeDocument/2006/relationships" id="258" r:id="R05a29aba10eb412f"/>
    <p:sldId xmlns:r="http://schemas.openxmlformats.org/officeDocument/2006/relationships" id="259" r:id="Rb30b3d83f25b4d44"/>
    <p:sldId xmlns:r="http://schemas.openxmlformats.org/officeDocument/2006/relationships" id="260" r:id="R1c768e83c3334249"/>
    <p:sldId xmlns:r="http://schemas.openxmlformats.org/officeDocument/2006/relationships" id="261" r:id="Rf7ba499bc67a44de"/>
    <p:sldId xmlns:r="http://schemas.openxmlformats.org/officeDocument/2006/relationships" id="262" r:id="R56b003dc57df4f4c"/>
    <p:sldId xmlns:r="http://schemas.openxmlformats.org/officeDocument/2006/relationships" id="263" r:id="Rf1b7216bf24d4a50"/>
    <p:sldId xmlns:r="http://schemas.openxmlformats.org/officeDocument/2006/relationships" id="264" r:id="R80fd5ce1a36644e2"/>
    <p:sldId xmlns:r="http://schemas.openxmlformats.org/officeDocument/2006/relationships" id="265" r:id="Ra071b41da98c46ee"/>
    <p:sldId xmlns:r="http://schemas.openxmlformats.org/officeDocument/2006/relationships" id="266" r:id="R6bc06a79c5024bc9"/>
    <p:sldId xmlns:r="http://schemas.openxmlformats.org/officeDocument/2006/relationships" id="267" r:id="Rbed6483bbff54aee"/>
    <p:sldId xmlns:r="http://schemas.openxmlformats.org/officeDocument/2006/relationships" id="268" r:id="R196898b1846b4c63"/>
    <p:sldId xmlns:r="http://schemas.openxmlformats.org/officeDocument/2006/relationships" id="269" r:id="Rb3e991dec6894c03"/>
    <p:sldId xmlns:r="http://schemas.openxmlformats.org/officeDocument/2006/relationships" id="270" r:id="Rb91ddd766b8d40b9"/>
    <p:sldId xmlns:r="http://schemas.openxmlformats.org/officeDocument/2006/relationships" id="271" r:id="R1630b99fc62349bf"/>
    <p:sldId xmlns:r="http://schemas.openxmlformats.org/officeDocument/2006/relationships" id="272" r:id="R4bb2326868a94f26"/>
    <p:sldId xmlns:r="http://schemas.openxmlformats.org/officeDocument/2006/relationships" id="273" r:id="R963709f097634fbb"/>
    <p:sldId xmlns:r="http://schemas.openxmlformats.org/officeDocument/2006/relationships" id="274" r:id="Ra2adca0cc83d4105"/>
    <p:sldId xmlns:r="http://schemas.openxmlformats.org/officeDocument/2006/relationships" id="275" r:id="R583ad8d3df394fc6"/>
    <p:sldId xmlns:r="http://schemas.openxmlformats.org/officeDocument/2006/relationships" id="276" r:id="R05e901bd4a4a4535"/>
    <p:sldId xmlns:r="http://schemas.openxmlformats.org/officeDocument/2006/relationships" id="277" r:id="R8304149eb5554304"/>
    <p:sldId xmlns:r="http://schemas.openxmlformats.org/officeDocument/2006/relationships" id="278" r:id="R33f3e152db3e40af"/>
    <p:sldId xmlns:r="http://schemas.openxmlformats.org/officeDocument/2006/relationships" id="279" r:id="Rfec54ff212ed4b01"/>
    <p:sldId xmlns:r="http://schemas.openxmlformats.org/officeDocument/2006/relationships" id="280" r:id="Refcb3bcafd5246fd"/>
    <p:sldId xmlns:r="http://schemas.openxmlformats.org/officeDocument/2006/relationships" id="281" r:id="R8ce0e834737b48e3"/>
    <p:sldId xmlns:r="http://schemas.openxmlformats.org/officeDocument/2006/relationships" id="282" r:id="R8027fc1a601a4cc2"/>
    <p:sldId xmlns:r="http://schemas.openxmlformats.org/officeDocument/2006/relationships" id="283" r:id="R8c82eb8985534f85"/>
    <p:sldId xmlns:r="http://schemas.openxmlformats.org/officeDocument/2006/relationships" id="284" r:id="R950efae378804e05"/>
    <p:sldId xmlns:r="http://schemas.openxmlformats.org/officeDocument/2006/relationships" id="285" r:id="R54c474643b1b4e12"/>
    <p:sldId xmlns:r="http://schemas.openxmlformats.org/officeDocument/2006/relationships" id="286" r:id="R6a94c56377674f56"/>
    <p:sldId xmlns:r="http://schemas.openxmlformats.org/officeDocument/2006/relationships" id="287" r:id="R0a167d8212d24be8"/>
    <p:sldId xmlns:r="http://schemas.openxmlformats.org/officeDocument/2006/relationships" id="288" r:id="Rbb93aad6ed364b67"/>
    <p:sldId xmlns:r="http://schemas.openxmlformats.org/officeDocument/2006/relationships" id="289" r:id="R708b047e99e14872"/>
    <p:sldId xmlns:r="http://schemas.openxmlformats.org/officeDocument/2006/relationships" id="290" r:id="R82038d432e1f4d52"/>
    <p:sldId xmlns:r="http://schemas.openxmlformats.org/officeDocument/2006/relationships" id="291" r:id="Rf5c3b38ae33a4c82"/>
    <p:sldId xmlns:r="http://schemas.openxmlformats.org/officeDocument/2006/relationships" id="292" r:id="R0a6f7fe265ae421b"/>
    <p:sldId xmlns:r="http://schemas.openxmlformats.org/officeDocument/2006/relationships" id="293" r:id="R4591012ad82e4610"/>
    <p:sldId xmlns:r="http://schemas.openxmlformats.org/officeDocument/2006/relationships" id="294" r:id="Re747b68bb578463e"/>
    <p:sldId xmlns:r="http://schemas.openxmlformats.org/officeDocument/2006/relationships" id="295" r:id="Raf80a53f80b94a68"/>
    <p:sldId xmlns:r="http://schemas.openxmlformats.org/officeDocument/2006/relationships" id="296" r:id="R6f590d8e60da44bc"/>
    <p:sldId xmlns:r="http://schemas.openxmlformats.org/officeDocument/2006/relationships" id="297" r:id="Rb9469c96aa604d0f"/>
    <p:sldId xmlns:r="http://schemas.openxmlformats.org/officeDocument/2006/relationships" id="298" r:id="R3321db0f626c4b66"/>
    <p:sldId xmlns:r="http://schemas.openxmlformats.org/officeDocument/2006/relationships" id="299" r:id="R1d139abdfcbb497b"/>
    <p:sldId xmlns:r="http://schemas.openxmlformats.org/officeDocument/2006/relationships" id="300" r:id="R8914c916a01042b2"/>
    <p:sldId xmlns:r="http://schemas.openxmlformats.org/officeDocument/2006/relationships" id="301" r:id="R7f0aff4a7d7c4b5b"/>
    <p:sldId xmlns:r="http://schemas.openxmlformats.org/officeDocument/2006/relationships" id="302" r:id="Rc977dae954304e3a"/>
    <p:sldId xmlns:r="http://schemas.openxmlformats.org/officeDocument/2006/relationships" id="303" r:id="Rc2c88d5577f647ff"/>
    <p:sldId xmlns:r="http://schemas.openxmlformats.org/officeDocument/2006/relationships" id="304" r:id="Rb7c7dcd49af946e3"/>
    <p:sldId xmlns:r="http://schemas.openxmlformats.org/officeDocument/2006/relationships" id="305" r:id="R0b5405b02ee84442"/>
    <p:sldId xmlns:r="http://schemas.openxmlformats.org/officeDocument/2006/relationships" id="306" r:id="R633abdeca9054406"/>
    <p:sldId xmlns:r="http://schemas.openxmlformats.org/officeDocument/2006/relationships" id="307" r:id="R220bd726c7374a40"/>
    <p:sldId xmlns:r="http://schemas.openxmlformats.org/officeDocument/2006/relationships" id="308" r:id="R2b4d9626af074591"/>
    <p:sldId xmlns:r="http://schemas.openxmlformats.org/officeDocument/2006/relationships" id="309" r:id="R10f77ba2a3f4497d"/>
    <p:sldId xmlns:r="http://schemas.openxmlformats.org/officeDocument/2006/relationships" id="310" r:id="Rcf7f92ab7bc04b66"/>
    <p:sldId xmlns:r="http://schemas.openxmlformats.org/officeDocument/2006/relationships" id="311" r:id="R2498865c7ed74d22"/>
    <p:sldId xmlns:r="http://schemas.openxmlformats.org/officeDocument/2006/relationships" id="312" r:id="R58c998b26dea4c32"/>
    <p:sldId xmlns:r="http://schemas.openxmlformats.org/officeDocument/2006/relationships" id="313" r:id="Rde08a8181b484a8c"/>
    <p:sldId xmlns:r="http://schemas.openxmlformats.org/officeDocument/2006/relationships" id="314" r:id="R43c52ed643264580"/>
    <p:sldId xmlns:r="http://schemas.openxmlformats.org/officeDocument/2006/relationships" id="315" r:id="R2ef9e050c95e4041"/>
    <p:sldId xmlns:r="http://schemas.openxmlformats.org/officeDocument/2006/relationships" id="316" r:id="Red82bcb5b9cf487f"/>
    <p:sldId xmlns:r="http://schemas.openxmlformats.org/officeDocument/2006/relationships" id="317" r:id="R7e608eb97ce94e01"/>
    <p:sldId xmlns:r="http://schemas.openxmlformats.org/officeDocument/2006/relationships" id="318" r:id="R34ffe81d321e4eab"/>
    <p:sldId xmlns:r="http://schemas.openxmlformats.org/officeDocument/2006/relationships" id="319" r:id="R7c635530fb324db9"/>
    <p:sldId xmlns:r="http://schemas.openxmlformats.org/officeDocument/2006/relationships" id="320" r:id="R6d7bc36558584766"/>
    <p:sldId xmlns:r="http://schemas.openxmlformats.org/officeDocument/2006/relationships" id="321" r:id="R2b302d446c584cd3"/>
    <p:sldId xmlns:r="http://schemas.openxmlformats.org/officeDocument/2006/relationships" id="322" r:id="R14edf831a7504d4a"/>
    <p:sldId xmlns:r="http://schemas.openxmlformats.org/officeDocument/2006/relationships" id="323" r:id="R01683c05d6eb4c73"/>
    <p:sldId xmlns:r="http://schemas.openxmlformats.org/officeDocument/2006/relationships" id="324" r:id="R0790655dbf8045bc"/>
    <p:sldId xmlns:r="http://schemas.openxmlformats.org/officeDocument/2006/relationships" id="325" r:id="R80b8a7b5d68848ad"/>
    <p:sldId xmlns:r="http://schemas.openxmlformats.org/officeDocument/2006/relationships" id="326" r:id="Re35f6d13bc324b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c7149a76f74da2" /><Relationship Type="http://schemas.openxmlformats.org/officeDocument/2006/relationships/slideMaster" Target="/ppt/slideMasters/slideMaster1.xml" Id="R98b14b44cc484431" /><Relationship Type="http://schemas.openxmlformats.org/officeDocument/2006/relationships/notesMaster" Target="/ppt/notesMasters/notesMaster1.xml" Id="R6b604e68f3154a7c" /><Relationship Type="http://schemas.openxmlformats.org/officeDocument/2006/relationships/presProps" Target="/ppt/presProps.xml" Id="R3650677534234cce" /><Relationship Type="http://schemas.openxmlformats.org/officeDocument/2006/relationships/tableStyles" Target="/ppt/tableStyles.xml" Id="Rb233f410de914212" /><Relationship Type="http://schemas.openxmlformats.org/officeDocument/2006/relationships/slide" Target="/ppt/slides/slide1.xml" Id="Rbf47e35b413a4f54" /><Relationship Type="http://schemas.openxmlformats.org/officeDocument/2006/relationships/slide" Target="/ppt/slides/slide2.xml" Id="Rc50da09f3f5a4f22" /><Relationship Type="http://schemas.openxmlformats.org/officeDocument/2006/relationships/slide" Target="/ppt/slides/slide3.xml" Id="R05a29aba10eb412f" /><Relationship Type="http://schemas.openxmlformats.org/officeDocument/2006/relationships/slide" Target="/ppt/slides/slide4.xml" Id="Rb30b3d83f25b4d44" /><Relationship Type="http://schemas.openxmlformats.org/officeDocument/2006/relationships/slide" Target="/ppt/slides/slide5.xml" Id="R1c768e83c3334249" /><Relationship Type="http://schemas.openxmlformats.org/officeDocument/2006/relationships/slide" Target="/ppt/slides/slide6.xml" Id="Rf7ba499bc67a44de" /><Relationship Type="http://schemas.openxmlformats.org/officeDocument/2006/relationships/slide" Target="/ppt/slides/slide7.xml" Id="R56b003dc57df4f4c" /><Relationship Type="http://schemas.openxmlformats.org/officeDocument/2006/relationships/slide" Target="/ppt/slides/slide8.xml" Id="Rf1b7216bf24d4a50" /><Relationship Type="http://schemas.openxmlformats.org/officeDocument/2006/relationships/slide" Target="/ppt/slides/slide9.xml" Id="R80fd5ce1a36644e2" /><Relationship Type="http://schemas.openxmlformats.org/officeDocument/2006/relationships/slide" Target="/ppt/slides/slide10.xml" Id="Ra071b41da98c46ee" /><Relationship Type="http://schemas.openxmlformats.org/officeDocument/2006/relationships/slide" Target="/ppt/slides/slide11.xml" Id="R6bc06a79c5024bc9" /><Relationship Type="http://schemas.openxmlformats.org/officeDocument/2006/relationships/slide" Target="/ppt/slides/slide12.xml" Id="Rbed6483bbff54aee" /><Relationship Type="http://schemas.openxmlformats.org/officeDocument/2006/relationships/slide" Target="/ppt/slides/slide13.xml" Id="R196898b1846b4c63" /><Relationship Type="http://schemas.openxmlformats.org/officeDocument/2006/relationships/slide" Target="/ppt/slides/slide14.xml" Id="Rb3e991dec6894c03" /><Relationship Type="http://schemas.openxmlformats.org/officeDocument/2006/relationships/slide" Target="/ppt/slides/slide15.xml" Id="Rb91ddd766b8d40b9" /><Relationship Type="http://schemas.openxmlformats.org/officeDocument/2006/relationships/slide" Target="/ppt/slides/slide16.xml" Id="R1630b99fc62349bf" /><Relationship Type="http://schemas.openxmlformats.org/officeDocument/2006/relationships/slide" Target="/ppt/slides/slide17.xml" Id="R4bb2326868a94f26" /><Relationship Type="http://schemas.openxmlformats.org/officeDocument/2006/relationships/slide" Target="/ppt/slides/slide18.xml" Id="R963709f097634fbb" /><Relationship Type="http://schemas.openxmlformats.org/officeDocument/2006/relationships/slide" Target="/ppt/slides/slide19.xml" Id="Ra2adca0cc83d4105" /><Relationship Type="http://schemas.openxmlformats.org/officeDocument/2006/relationships/slide" Target="/ppt/slides/slide20.xml" Id="R583ad8d3df394fc6" /><Relationship Type="http://schemas.openxmlformats.org/officeDocument/2006/relationships/slide" Target="/ppt/slides/slide21.xml" Id="R05e901bd4a4a4535" /><Relationship Type="http://schemas.openxmlformats.org/officeDocument/2006/relationships/slide" Target="/ppt/slides/slide22.xml" Id="R8304149eb5554304" /><Relationship Type="http://schemas.openxmlformats.org/officeDocument/2006/relationships/slide" Target="/ppt/slides/slide23.xml" Id="R33f3e152db3e40af" /><Relationship Type="http://schemas.openxmlformats.org/officeDocument/2006/relationships/slide" Target="/ppt/slides/slide24.xml" Id="Rfec54ff212ed4b01" /><Relationship Type="http://schemas.openxmlformats.org/officeDocument/2006/relationships/slide" Target="/ppt/slides/slide25.xml" Id="Refcb3bcafd5246fd" /><Relationship Type="http://schemas.openxmlformats.org/officeDocument/2006/relationships/slide" Target="/ppt/slides/slide26.xml" Id="R8ce0e834737b48e3" /><Relationship Type="http://schemas.openxmlformats.org/officeDocument/2006/relationships/slide" Target="/ppt/slides/slide27.xml" Id="R8027fc1a601a4cc2" /><Relationship Type="http://schemas.openxmlformats.org/officeDocument/2006/relationships/slide" Target="/ppt/slides/slide28.xml" Id="R8c82eb8985534f85" /><Relationship Type="http://schemas.openxmlformats.org/officeDocument/2006/relationships/slide" Target="/ppt/slides/slide29.xml" Id="R950efae378804e05" /><Relationship Type="http://schemas.openxmlformats.org/officeDocument/2006/relationships/slide" Target="/ppt/slides/slide30.xml" Id="R54c474643b1b4e12" /><Relationship Type="http://schemas.openxmlformats.org/officeDocument/2006/relationships/slide" Target="/ppt/slides/slide31.xml" Id="R6a94c56377674f56" /><Relationship Type="http://schemas.openxmlformats.org/officeDocument/2006/relationships/slide" Target="/ppt/slides/slide32.xml" Id="R0a167d8212d24be8" /><Relationship Type="http://schemas.openxmlformats.org/officeDocument/2006/relationships/slide" Target="/ppt/slides/slide33.xml" Id="Rbb93aad6ed364b67" /><Relationship Type="http://schemas.openxmlformats.org/officeDocument/2006/relationships/slide" Target="/ppt/slides/slide34.xml" Id="R708b047e99e14872" /><Relationship Type="http://schemas.openxmlformats.org/officeDocument/2006/relationships/slide" Target="/ppt/slides/slide35.xml" Id="R82038d432e1f4d52" /><Relationship Type="http://schemas.openxmlformats.org/officeDocument/2006/relationships/slide" Target="/ppt/slides/slide36.xml" Id="Rf5c3b38ae33a4c82" /><Relationship Type="http://schemas.openxmlformats.org/officeDocument/2006/relationships/slide" Target="/ppt/slides/slide37.xml" Id="R0a6f7fe265ae421b" /><Relationship Type="http://schemas.openxmlformats.org/officeDocument/2006/relationships/slide" Target="/ppt/slides/slide38.xml" Id="R4591012ad82e4610" /><Relationship Type="http://schemas.openxmlformats.org/officeDocument/2006/relationships/slide" Target="/ppt/slides/slide39.xml" Id="Re747b68bb578463e" /><Relationship Type="http://schemas.openxmlformats.org/officeDocument/2006/relationships/slide" Target="/ppt/slides/slide40.xml" Id="Raf80a53f80b94a68" /><Relationship Type="http://schemas.openxmlformats.org/officeDocument/2006/relationships/slide" Target="/ppt/slides/slide41.xml" Id="R6f590d8e60da44bc" /><Relationship Type="http://schemas.openxmlformats.org/officeDocument/2006/relationships/slide" Target="/ppt/slides/slide42.xml" Id="Rb9469c96aa604d0f" /><Relationship Type="http://schemas.openxmlformats.org/officeDocument/2006/relationships/slide" Target="/ppt/slides/slide43.xml" Id="R3321db0f626c4b66" /><Relationship Type="http://schemas.openxmlformats.org/officeDocument/2006/relationships/slide" Target="/ppt/slides/slide44.xml" Id="R1d139abdfcbb497b" /><Relationship Type="http://schemas.openxmlformats.org/officeDocument/2006/relationships/slide" Target="/ppt/slides/slide45.xml" Id="R8914c916a01042b2" /><Relationship Type="http://schemas.openxmlformats.org/officeDocument/2006/relationships/slide" Target="/ppt/slides/slide46.xml" Id="R7f0aff4a7d7c4b5b" /><Relationship Type="http://schemas.openxmlformats.org/officeDocument/2006/relationships/slide" Target="/ppt/slides/slide47.xml" Id="Rc977dae954304e3a" /><Relationship Type="http://schemas.openxmlformats.org/officeDocument/2006/relationships/slide" Target="/ppt/slides/slide48.xml" Id="Rc2c88d5577f647ff" /><Relationship Type="http://schemas.openxmlformats.org/officeDocument/2006/relationships/slide" Target="/ppt/slides/slide49.xml" Id="Rb7c7dcd49af946e3" /><Relationship Type="http://schemas.openxmlformats.org/officeDocument/2006/relationships/slide" Target="/ppt/slides/slide50.xml" Id="R0b5405b02ee84442" /><Relationship Type="http://schemas.openxmlformats.org/officeDocument/2006/relationships/slide" Target="/ppt/slides/slide51.xml" Id="R633abdeca9054406" /><Relationship Type="http://schemas.openxmlformats.org/officeDocument/2006/relationships/slide" Target="/ppt/slides/slide52.xml" Id="R220bd726c7374a40" /><Relationship Type="http://schemas.openxmlformats.org/officeDocument/2006/relationships/slide" Target="/ppt/slides/slide53.xml" Id="R2b4d9626af074591" /><Relationship Type="http://schemas.openxmlformats.org/officeDocument/2006/relationships/slide" Target="/ppt/slides/slide54.xml" Id="R10f77ba2a3f4497d" /><Relationship Type="http://schemas.openxmlformats.org/officeDocument/2006/relationships/slide" Target="/ppt/slides/slide55.xml" Id="Rcf7f92ab7bc04b66" /><Relationship Type="http://schemas.openxmlformats.org/officeDocument/2006/relationships/slide" Target="/ppt/slides/slide56.xml" Id="R2498865c7ed74d22" /><Relationship Type="http://schemas.openxmlformats.org/officeDocument/2006/relationships/slide" Target="/ppt/slides/slide57.xml" Id="R58c998b26dea4c32" /><Relationship Type="http://schemas.openxmlformats.org/officeDocument/2006/relationships/slide" Target="/ppt/slides/slide58.xml" Id="Rde08a8181b484a8c" /><Relationship Type="http://schemas.openxmlformats.org/officeDocument/2006/relationships/slide" Target="/ppt/slides/slide59.xml" Id="R43c52ed643264580" /><Relationship Type="http://schemas.openxmlformats.org/officeDocument/2006/relationships/slide" Target="/ppt/slides/slide60.xml" Id="R2ef9e050c95e4041" /><Relationship Type="http://schemas.openxmlformats.org/officeDocument/2006/relationships/slide" Target="/ppt/slides/slide61.xml" Id="Red82bcb5b9cf487f" /><Relationship Type="http://schemas.openxmlformats.org/officeDocument/2006/relationships/slide" Target="/ppt/slides/slide62.xml" Id="R7e608eb97ce94e01" /><Relationship Type="http://schemas.openxmlformats.org/officeDocument/2006/relationships/slide" Target="/ppt/slides/slide63.xml" Id="R34ffe81d321e4eab" /><Relationship Type="http://schemas.openxmlformats.org/officeDocument/2006/relationships/slide" Target="/ppt/slides/slide64.xml" Id="R7c635530fb324db9" /><Relationship Type="http://schemas.openxmlformats.org/officeDocument/2006/relationships/slide" Target="/ppt/slides/slide65.xml" Id="R6d7bc36558584766" /><Relationship Type="http://schemas.openxmlformats.org/officeDocument/2006/relationships/slide" Target="/ppt/slides/slide66.xml" Id="R2b302d446c584cd3" /><Relationship Type="http://schemas.openxmlformats.org/officeDocument/2006/relationships/slide" Target="/ppt/slides/slide67.xml" Id="R14edf831a7504d4a" /><Relationship Type="http://schemas.openxmlformats.org/officeDocument/2006/relationships/slide" Target="/ppt/slides/slide68.xml" Id="R01683c05d6eb4c73" /><Relationship Type="http://schemas.openxmlformats.org/officeDocument/2006/relationships/slide" Target="/ppt/slides/slide69.xml" Id="R0790655dbf8045bc" /><Relationship Type="http://schemas.openxmlformats.org/officeDocument/2006/relationships/slide" Target="/ppt/slides/slide70.xml" Id="R80b8a7b5d68848ad" /><Relationship Type="http://schemas.openxmlformats.org/officeDocument/2006/relationships/slide" Target="/ppt/slides/slide71.xml" Id="Re35f6d13bc324b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8f713632e948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6e7e1ad00249e0" /><Relationship Type="http://schemas.openxmlformats.org/officeDocument/2006/relationships/notesMaster" Target="/ppt/notesMasters/notesMaster1.xml" Id="R5777c137acdf44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4b5eb958524ccf" /><Relationship Type="http://schemas.openxmlformats.org/officeDocument/2006/relationships/notesMaster" Target="/ppt/notesMasters/notesMaster1.xml" Id="Ra15953f183e74e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55ac18eca944d2" /><Relationship Type="http://schemas.openxmlformats.org/officeDocument/2006/relationships/notesMaster" Target="/ppt/notesMasters/notesMaster1.xml" Id="Rbd001b7e38d74c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a3bdf60d0f4846" /><Relationship Type="http://schemas.openxmlformats.org/officeDocument/2006/relationships/notesMaster" Target="/ppt/notesMasters/notesMaster1.xml" Id="Ra4e02283866c4e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b13bbda27d40c8" /><Relationship Type="http://schemas.openxmlformats.org/officeDocument/2006/relationships/notesMaster" Target="/ppt/notesMasters/notesMaster1.xml" Id="R69b9876ae37c4a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10bf771b6a486b" /><Relationship Type="http://schemas.openxmlformats.org/officeDocument/2006/relationships/notesMaster" Target="/ppt/notesMasters/notesMaster1.xml" Id="Rc27df2e82c724d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f832adeb1449f0" /><Relationship Type="http://schemas.openxmlformats.org/officeDocument/2006/relationships/notesMaster" Target="/ppt/notesMasters/notesMaster1.xml" Id="Rcf97cdc9aa3b45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d75492ddf14a52" /><Relationship Type="http://schemas.openxmlformats.org/officeDocument/2006/relationships/notesMaster" Target="/ppt/notesMasters/notesMaster1.xml" Id="R9e1240fc536c45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a4f6b54d814c6b" /><Relationship Type="http://schemas.openxmlformats.org/officeDocument/2006/relationships/notesMaster" Target="/ppt/notesMasters/notesMaster1.xml" Id="R91f30155f7ad43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4aeb471b2342dd" /><Relationship Type="http://schemas.openxmlformats.org/officeDocument/2006/relationships/notesMaster" Target="/ppt/notesMasters/notesMaster1.xml" Id="Rfc457d536f074e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96febe97eb46b2" /><Relationship Type="http://schemas.openxmlformats.org/officeDocument/2006/relationships/notesMaster" Target="/ppt/notesMasters/notesMaster1.xml" Id="Re5428f42b90f46f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61d115ae994711" /><Relationship Type="http://schemas.openxmlformats.org/officeDocument/2006/relationships/notesMaster" Target="/ppt/notesMasters/notesMaster1.xml" Id="R8ef80ca4ab424c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524f54c0deb46bf" /><Relationship Type="http://schemas.openxmlformats.org/officeDocument/2006/relationships/notesMaster" Target="/ppt/notesMasters/notesMaster1.xml" Id="Rfe0f6666074f49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73ed4e86274987" /><Relationship Type="http://schemas.openxmlformats.org/officeDocument/2006/relationships/notesMaster" Target="/ppt/notesMasters/notesMaster1.xml" Id="R608d0b8affdc4c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8a826c878c4063" /><Relationship Type="http://schemas.openxmlformats.org/officeDocument/2006/relationships/notesMaster" Target="/ppt/notesMasters/notesMaster1.xml" Id="Rc6ed1829e67b4e8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7abafa8c334c98" /><Relationship Type="http://schemas.openxmlformats.org/officeDocument/2006/relationships/notesMaster" Target="/ppt/notesMasters/notesMaster1.xml" Id="R2d59c940fd7c45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f598fca174d4547" /><Relationship Type="http://schemas.openxmlformats.org/officeDocument/2006/relationships/notesMaster" Target="/ppt/notesMasters/notesMaster1.xml" Id="Rea32c442379c46e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6350d085534e0a" /><Relationship Type="http://schemas.openxmlformats.org/officeDocument/2006/relationships/notesMaster" Target="/ppt/notesMasters/notesMaster1.xml" Id="Rfb08439f223d440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2ee470b1b1b44c8" /><Relationship Type="http://schemas.openxmlformats.org/officeDocument/2006/relationships/notesMaster" Target="/ppt/notesMasters/notesMaster1.xml" Id="Rfb32f85cb94a44b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25b1a151a92424a" /><Relationship Type="http://schemas.openxmlformats.org/officeDocument/2006/relationships/notesMaster" Target="/ppt/notesMasters/notesMaster1.xml" Id="R180fc0938be549d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45da68339ac4bd8" /><Relationship Type="http://schemas.openxmlformats.org/officeDocument/2006/relationships/notesMaster" Target="/ppt/notesMasters/notesMaster1.xml" Id="R871c5f8bbe364c3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214f5e3fa64aaa" /><Relationship Type="http://schemas.openxmlformats.org/officeDocument/2006/relationships/notesMaster" Target="/ppt/notesMasters/notesMaster1.xml" Id="R3025659e07764c5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b1762e5ce2b4b1a" /><Relationship Type="http://schemas.openxmlformats.org/officeDocument/2006/relationships/notesMaster" Target="/ppt/notesMasters/notesMaster1.xml" Id="R5f2076d2490346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00a2a58e2284c0e" /><Relationship Type="http://schemas.openxmlformats.org/officeDocument/2006/relationships/notesMaster" Target="/ppt/notesMasters/notesMaster1.xml" Id="R1ade2e77daf0441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b6500c75fd446e0" /><Relationship Type="http://schemas.openxmlformats.org/officeDocument/2006/relationships/notesMaster" Target="/ppt/notesMasters/notesMaster1.xml" Id="R06c911d1652045c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5ea41cc1a1141d3" /><Relationship Type="http://schemas.openxmlformats.org/officeDocument/2006/relationships/notesMaster" Target="/ppt/notesMasters/notesMaster1.xml" Id="R92cc819942ef45a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2eb0066bb9c485c" /><Relationship Type="http://schemas.openxmlformats.org/officeDocument/2006/relationships/notesMaster" Target="/ppt/notesMasters/notesMaster1.xml" Id="R04d397c0b5c64d4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c2fbefc53794b91" /><Relationship Type="http://schemas.openxmlformats.org/officeDocument/2006/relationships/notesMaster" Target="/ppt/notesMasters/notesMaster1.xml" Id="Re0f2143ad2ad4e7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9ca59c5699f4a9b" /><Relationship Type="http://schemas.openxmlformats.org/officeDocument/2006/relationships/notesMaster" Target="/ppt/notesMasters/notesMaster1.xml" Id="R56c4548a2d8c4ef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1026550e2bf4d80" /><Relationship Type="http://schemas.openxmlformats.org/officeDocument/2006/relationships/notesMaster" Target="/ppt/notesMasters/notesMaster1.xml" Id="R04af741f8574406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e6726fa84294b6b" /><Relationship Type="http://schemas.openxmlformats.org/officeDocument/2006/relationships/notesMaster" Target="/ppt/notesMasters/notesMaster1.xml" Id="R294dc54f8ee9457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5db192fd31349e9" /><Relationship Type="http://schemas.openxmlformats.org/officeDocument/2006/relationships/notesMaster" Target="/ppt/notesMasters/notesMaster1.xml" Id="R1a82008dd37b412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02828ba85b146bb" /><Relationship Type="http://schemas.openxmlformats.org/officeDocument/2006/relationships/notesMaster" Target="/ppt/notesMasters/notesMaster1.xml" Id="R37a1e4df483a495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a321b810722475e" /><Relationship Type="http://schemas.openxmlformats.org/officeDocument/2006/relationships/notesMaster" Target="/ppt/notesMasters/notesMaster1.xml" Id="R71eb9053992c494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af397afeebc4a1b" /><Relationship Type="http://schemas.openxmlformats.org/officeDocument/2006/relationships/notesMaster" Target="/ppt/notesMasters/notesMaster1.xml" Id="R6ecfd4014829495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37cf150032b34309" /><Relationship Type="http://schemas.openxmlformats.org/officeDocument/2006/relationships/notesMaster" Target="/ppt/notesMasters/notesMaster1.xml" Id="R6c6339427009427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a969d9c547d4575" /><Relationship Type="http://schemas.openxmlformats.org/officeDocument/2006/relationships/notesMaster" Target="/ppt/notesMasters/notesMaster1.xml" Id="Reeba0d293f71475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d3ff5c7ef8f4f80" /><Relationship Type="http://schemas.openxmlformats.org/officeDocument/2006/relationships/notesMaster" Target="/ppt/notesMasters/notesMaster1.xml" Id="R97573da1caec42c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2828514f965483c" /><Relationship Type="http://schemas.openxmlformats.org/officeDocument/2006/relationships/notesMaster" Target="/ppt/notesMasters/notesMaster1.xml" Id="Rfa0bf7f603b3416b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1e88b910fd1e4693" /><Relationship Type="http://schemas.openxmlformats.org/officeDocument/2006/relationships/notesMaster" Target="/ppt/notesMasters/notesMaster1.xml" Id="R5103a66c4d2b489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b1ebc4ace6b4449" /><Relationship Type="http://schemas.openxmlformats.org/officeDocument/2006/relationships/notesMaster" Target="/ppt/notesMasters/notesMaster1.xml" Id="Rf114b01bacc9467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8e0976cc2d24d5a" /><Relationship Type="http://schemas.openxmlformats.org/officeDocument/2006/relationships/notesMaster" Target="/ppt/notesMasters/notesMaster1.xml" Id="R075435ca635a40c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87d7b7d4dd64343" /><Relationship Type="http://schemas.openxmlformats.org/officeDocument/2006/relationships/notesMaster" Target="/ppt/notesMasters/notesMaster1.xml" Id="Rd83eada83ce94545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d59c5c8139c4b01" /><Relationship Type="http://schemas.openxmlformats.org/officeDocument/2006/relationships/notesMaster" Target="/ppt/notesMasters/notesMaster1.xml" Id="R708ae2e089344c0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f5ce8d1103ef4de4" /><Relationship Type="http://schemas.openxmlformats.org/officeDocument/2006/relationships/notesMaster" Target="/ppt/notesMasters/notesMaster1.xml" Id="Ra2dc658a4b70400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018600ebc004cce" /><Relationship Type="http://schemas.openxmlformats.org/officeDocument/2006/relationships/notesMaster" Target="/ppt/notesMasters/notesMaster1.xml" Id="Rfe1673497315416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f14a479baaa481f" /><Relationship Type="http://schemas.openxmlformats.org/officeDocument/2006/relationships/notesMaster" Target="/ppt/notesMasters/notesMaster1.xml" Id="Re949c3ba840a4aa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7c149699704406d" /><Relationship Type="http://schemas.openxmlformats.org/officeDocument/2006/relationships/notesMaster" Target="/ppt/notesMasters/notesMaster1.xml" Id="R39e1da5b100b4bdd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ba56500e6034654" /><Relationship Type="http://schemas.openxmlformats.org/officeDocument/2006/relationships/notesMaster" Target="/ppt/notesMasters/notesMaster1.xml" Id="R3b8242a5b955420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a614e7ee2fc4e3e" /><Relationship Type="http://schemas.openxmlformats.org/officeDocument/2006/relationships/notesMaster" Target="/ppt/notesMasters/notesMaster1.xml" Id="R0bd5dd33aaae4825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f247792f2214a9b" /><Relationship Type="http://schemas.openxmlformats.org/officeDocument/2006/relationships/notesMaster" Target="/ppt/notesMasters/notesMaster1.xml" Id="R9b9b50bc34ca4f7f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d0433a050084358" /><Relationship Type="http://schemas.openxmlformats.org/officeDocument/2006/relationships/notesMaster" Target="/ppt/notesMasters/notesMaster1.xml" Id="R433b04fa732d4b0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6bc1f2ba89f4a5c" /><Relationship Type="http://schemas.openxmlformats.org/officeDocument/2006/relationships/notesMaster" Target="/ppt/notesMasters/notesMaster1.xml" Id="R907d8f06f34044d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ff6dbd6481e487e" /><Relationship Type="http://schemas.openxmlformats.org/officeDocument/2006/relationships/notesMaster" Target="/ppt/notesMasters/notesMaster1.xml" Id="Ra3a3c67121ed47ff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1d30f41ddcca4474" /><Relationship Type="http://schemas.openxmlformats.org/officeDocument/2006/relationships/notesMaster" Target="/ppt/notesMasters/notesMaster1.xml" Id="R5a072def3caa4608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21d86804f89d442b" /><Relationship Type="http://schemas.openxmlformats.org/officeDocument/2006/relationships/notesMaster" Target="/ppt/notesMasters/notesMaster1.xml" Id="Rd0a16365dda84be0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7f7a477919374035" /><Relationship Type="http://schemas.openxmlformats.org/officeDocument/2006/relationships/notesMaster" Target="/ppt/notesMasters/notesMaster1.xml" Id="R87cf351f74504b13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1737f137592248cf" /><Relationship Type="http://schemas.openxmlformats.org/officeDocument/2006/relationships/notesMaster" Target="/ppt/notesMasters/notesMaster1.xml" Id="R9f157ccffb954dd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1b81cf756184b34" /><Relationship Type="http://schemas.openxmlformats.org/officeDocument/2006/relationships/notesMaster" Target="/ppt/notesMasters/notesMaster1.xml" Id="R56320f0d36954cf0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ae57c478360045ba" /><Relationship Type="http://schemas.openxmlformats.org/officeDocument/2006/relationships/notesMaster" Target="/ppt/notesMasters/notesMaster1.xml" Id="Rf4e922ec00674e59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03b3b61818c64fee" /><Relationship Type="http://schemas.openxmlformats.org/officeDocument/2006/relationships/notesMaster" Target="/ppt/notesMasters/notesMaster1.xml" Id="Rdc48f48721f54274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2dc4e8743624436c" /><Relationship Type="http://schemas.openxmlformats.org/officeDocument/2006/relationships/notesMaster" Target="/ppt/notesMasters/notesMaster1.xml" Id="R8b3338d01514489f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93d717f4a0b34ff2" /><Relationship Type="http://schemas.openxmlformats.org/officeDocument/2006/relationships/notesMaster" Target="/ppt/notesMasters/notesMaster1.xml" Id="R011398d7266b4d85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ab6562c95b5a4b94" /><Relationship Type="http://schemas.openxmlformats.org/officeDocument/2006/relationships/notesMaster" Target="/ppt/notesMasters/notesMaster1.xml" Id="R20ea2333392b4495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e9b88d22d5084797" /><Relationship Type="http://schemas.openxmlformats.org/officeDocument/2006/relationships/notesMaster" Target="/ppt/notesMasters/notesMaster1.xml" Id="R6075f5cf24ae46d5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93fdf9dde4df44ca" /><Relationship Type="http://schemas.openxmlformats.org/officeDocument/2006/relationships/notesMaster" Target="/ppt/notesMasters/notesMaster1.xml" Id="Rd779024214a3473e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7404bb8e25764a84" /><Relationship Type="http://schemas.openxmlformats.org/officeDocument/2006/relationships/notesMaster" Target="/ppt/notesMasters/notesMaster1.xml" Id="R2c8bf16f58874787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1029379e29424099" /><Relationship Type="http://schemas.openxmlformats.org/officeDocument/2006/relationships/notesMaster" Target="/ppt/notesMasters/notesMaster1.xml" Id="Rfc989ee859ae4a65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183f9a5a558c466f" /><Relationship Type="http://schemas.openxmlformats.org/officeDocument/2006/relationships/notesMaster" Target="/ppt/notesMasters/notesMaster1.xml" Id="R28ef35755a1d4457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22168d9e950547f6" /><Relationship Type="http://schemas.openxmlformats.org/officeDocument/2006/relationships/notesMaster" Target="/ppt/notesMasters/notesMaster1.xml" Id="R064dbc626a674428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78ebe38e903c47b0" /><Relationship Type="http://schemas.openxmlformats.org/officeDocument/2006/relationships/notesMaster" Target="/ppt/notesMasters/notesMaster1.xml" Id="R0c4dd650d51447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C:/Users/lenovo/Documents/Codex/2026-07-21/ai-javaweb-java-spring-boot-ai/docs/superpowers/specs/2026-08-06-campus-volunteer-platform-design.md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636ed1b66445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00d9eefda544d06" /><Relationship Type="http://schemas.openxmlformats.org/officeDocument/2006/relationships/slideLayout" Target="/ppt/slideLayouts/slideLayout1.xml" Id="R096f16869def48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6f16869def48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3e2602d6c4434" /><Relationship Type="http://schemas.openxmlformats.org/officeDocument/2006/relationships/notesSlide" Target="/ppt/notesSlides/notesSlide1.xml" Id="R9a028b63e79944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29cd5e9da4d76" /><Relationship Type="http://schemas.openxmlformats.org/officeDocument/2006/relationships/notesSlide" Target="/ppt/notesSlides/notesSlide2.xml" Id="R063fe26f274446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63e12037c426c" /><Relationship Type="http://schemas.openxmlformats.org/officeDocument/2006/relationships/notesSlide" Target="/ppt/notesSlides/notesSlide3.xml" Id="R6e7687144bfd4f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f2014e2724797" /><Relationship Type="http://schemas.openxmlformats.org/officeDocument/2006/relationships/notesSlide" Target="/ppt/notesSlides/notesSlide4.xml" Id="Ra68d001474a64b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0bd144d564677" /><Relationship Type="http://schemas.openxmlformats.org/officeDocument/2006/relationships/notesSlide" Target="/ppt/notesSlides/notesSlide5.xml" Id="R828cef489b6740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33558e60547e9" /><Relationship Type="http://schemas.openxmlformats.org/officeDocument/2006/relationships/notesSlide" Target="/ppt/notesSlides/notesSlide6.xml" Id="Rafac636ab08a47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1dd9dee3be4783" /><Relationship Type="http://schemas.openxmlformats.org/officeDocument/2006/relationships/notesSlide" Target="/ppt/notesSlides/notesSlide7.xml" Id="Rae3b40577ca74d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13d50af674347" /><Relationship Type="http://schemas.openxmlformats.org/officeDocument/2006/relationships/notesSlide" Target="/ppt/notesSlides/notesSlide8.xml" Id="R6f82e3845ba540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6a05fe5ff4395" /><Relationship Type="http://schemas.openxmlformats.org/officeDocument/2006/relationships/notesSlide" Target="/ppt/notesSlides/notesSlide9.xml" Id="R501863d0315844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722ee8bf343c4" /><Relationship Type="http://schemas.openxmlformats.org/officeDocument/2006/relationships/notesSlide" Target="/ppt/notesSlides/notesSlide10.xml" Id="Re33381c1bda340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d2e775eb3466a" /><Relationship Type="http://schemas.openxmlformats.org/officeDocument/2006/relationships/notesSlide" Target="/ppt/notesSlides/notesSlide11.xml" Id="R38ad66c0af6b4c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84805c7f14cda" /><Relationship Type="http://schemas.openxmlformats.org/officeDocument/2006/relationships/notesSlide" Target="/ppt/notesSlides/notesSlide12.xml" Id="R411b769c55af4a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d8f646aee4b1c" /><Relationship Type="http://schemas.openxmlformats.org/officeDocument/2006/relationships/notesSlide" Target="/ppt/notesSlides/notesSlide13.xml" Id="R7f6f5d22f60c4a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0c298620a49cd" /><Relationship Type="http://schemas.openxmlformats.org/officeDocument/2006/relationships/notesSlide" Target="/ppt/notesSlides/notesSlide14.xml" Id="Rdce4e178c66a44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37107001c46f7" /><Relationship Type="http://schemas.openxmlformats.org/officeDocument/2006/relationships/notesSlide" Target="/ppt/notesSlides/notesSlide15.xml" Id="R7171faeacc4640e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2795fd6814298" /><Relationship Type="http://schemas.openxmlformats.org/officeDocument/2006/relationships/notesSlide" Target="/ppt/notesSlides/notesSlide16.xml" Id="R51c862c2054b4be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8eeac33e742c0" /><Relationship Type="http://schemas.openxmlformats.org/officeDocument/2006/relationships/notesSlide" Target="/ppt/notesSlides/notesSlide17.xml" Id="Re937f60185ff48e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bc2f2b15c4e65" /><Relationship Type="http://schemas.openxmlformats.org/officeDocument/2006/relationships/notesSlide" Target="/ppt/notesSlides/notesSlide18.xml" Id="R5ef251a038194c9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82c7ad226f4c20" /><Relationship Type="http://schemas.openxmlformats.org/officeDocument/2006/relationships/notesSlide" Target="/ppt/notesSlides/notesSlide19.xml" Id="R0ed6e8eca6f1407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d45e315174197" /><Relationship Type="http://schemas.openxmlformats.org/officeDocument/2006/relationships/notesSlide" Target="/ppt/notesSlides/notesSlide20.xml" Id="R65e80ec6bdf24dc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54c6fe939e4d1c" /><Relationship Type="http://schemas.openxmlformats.org/officeDocument/2006/relationships/notesSlide" Target="/ppt/notesSlides/notesSlide21.xml" Id="R881ad2a295a14dd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71b83c4864887" /><Relationship Type="http://schemas.openxmlformats.org/officeDocument/2006/relationships/notesSlide" Target="/ppt/notesSlides/notesSlide22.xml" Id="R07ec3d8b4003475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2f38ccaf54412" /><Relationship Type="http://schemas.openxmlformats.org/officeDocument/2006/relationships/notesSlide" Target="/ppt/notesSlides/notesSlide23.xml" Id="R20d032c24c0c436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8e36b9a684de5" /><Relationship Type="http://schemas.openxmlformats.org/officeDocument/2006/relationships/notesSlide" Target="/ppt/notesSlides/notesSlide24.xml" Id="R4fc5905225954c7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f0b0e05a84c17" /><Relationship Type="http://schemas.openxmlformats.org/officeDocument/2006/relationships/notesSlide" Target="/ppt/notesSlides/notesSlide25.xml" Id="R10d388f34dc4415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617ae4f6574ec8" /><Relationship Type="http://schemas.openxmlformats.org/officeDocument/2006/relationships/notesSlide" Target="/ppt/notesSlides/notesSlide26.xml" Id="Raa05ef750ba64e7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2fae96f5c4d90" /><Relationship Type="http://schemas.openxmlformats.org/officeDocument/2006/relationships/notesSlide" Target="/ppt/notesSlides/notesSlide27.xml" Id="R3d0113c4a0e5491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e0f12445746f9" /><Relationship Type="http://schemas.openxmlformats.org/officeDocument/2006/relationships/notesSlide" Target="/ppt/notesSlides/notesSlide28.xml" Id="R2d8022c2c40e463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9b67a95644bd5" /><Relationship Type="http://schemas.openxmlformats.org/officeDocument/2006/relationships/notesSlide" Target="/ppt/notesSlides/notesSlide29.xml" Id="R89ad5e37f9344b8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c2edd2ffd4656" /><Relationship Type="http://schemas.openxmlformats.org/officeDocument/2006/relationships/notesSlide" Target="/ppt/notesSlides/notesSlide30.xml" Id="R5d9bb566d0d0409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9b8e4aa584882" /><Relationship Type="http://schemas.openxmlformats.org/officeDocument/2006/relationships/notesSlide" Target="/ppt/notesSlides/notesSlide31.xml" Id="Reb7ec7a388fa4e0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dab9b512a4dbf" /><Relationship Type="http://schemas.openxmlformats.org/officeDocument/2006/relationships/notesSlide" Target="/ppt/notesSlides/notesSlide32.xml" Id="Raf54dffccb2641c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cb12377a144f5" /><Relationship Type="http://schemas.openxmlformats.org/officeDocument/2006/relationships/notesSlide" Target="/ppt/notesSlides/notesSlide33.xml" Id="R0bf2e17db0f6427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29784be0547c0" /><Relationship Type="http://schemas.openxmlformats.org/officeDocument/2006/relationships/notesSlide" Target="/ppt/notesSlides/notesSlide34.xml" Id="R441bee3f659c48a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62f67127248dd" /><Relationship Type="http://schemas.openxmlformats.org/officeDocument/2006/relationships/notesSlide" Target="/ppt/notesSlides/notesSlide35.xml" Id="Rd2f9e27db5d045e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5c0b44ca64958" /><Relationship Type="http://schemas.openxmlformats.org/officeDocument/2006/relationships/notesSlide" Target="/ppt/notesSlides/notesSlide36.xml" Id="R21e23a40634f42e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03030d3b7428c" /><Relationship Type="http://schemas.openxmlformats.org/officeDocument/2006/relationships/notesSlide" Target="/ppt/notesSlides/notesSlide37.xml" Id="R231f265b8e274e7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eeefceb814a39" /><Relationship Type="http://schemas.openxmlformats.org/officeDocument/2006/relationships/notesSlide" Target="/ppt/notesSlides/notesSlide38.xml" Id="Rcdb173ea340b4d0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c96af98984563" /><Relationship Type="http://schemas.openxmlformats.org/officeDocument/2006/relationships/notesSlide" Target="/ppt/notesSlides/notesSlide39.xml" Id="R8c0eda088a5e4a3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e4edfdf5f40a2" /><Relationship Type="http://schemas.openxmlformats.org/officeDocument/2006/relationships/notesSlide" Target="/ppt/notesSlides/notesSlide40.xml" Id="Rbb8531563517445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37c6e9d1e4e27" /><Relationship Type="http://schemas.openxmlformats.org/officeDocument/2006/relationships/notesSlide" Target="/ppt/notesSlides/notesSlide41.xml" Id="R0bd81b046932433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6ee4725e84df6" /><Relationship Type="http://schemas.openxmlformats.org/officeDocument/2006/relationships/notesSlide" Target="/ppt/notesSlides/notesSlide42.xml" Id="Rd8cfdef0b8524f16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6790b84eb49ec" /><Relationship Type="http://schemas.openxmlformats.org/officeDocument/2006/relationships/notesSlide" Target="/ppt/notesSlides/notesSlide43.xml" Id="Rf50b1cc9a5d14a9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dd2fffb0a4e97" /><Relationship Type="http://schemas.openxmlformats.org/officeDocument/2006/relationships/notesSlide" Target="/ppt/notesSlides/notesSlide44.xml" Id="Ra12400523402426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92ab17bae4839" /><Relationship Type="http://schemas.openxmlformats.org/officeDocument/2006/relationships/notesSlide" Target="/ppt/notesSlides/notesSlide45.xml" Id="R8469f31ba967474f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9514708404dd5" /><Relationship Type="http://schemas.openxmlformats.org/officeDocument/2006/relationships/notesSlide" Target="/ppt/notesSlides/notesSlide46.xml" Id="R323466f77247421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3c76a04c94fed" /><Relationship Type="http://schemas.openxmlformats.org/officeDocument/2006/relationships/notesSlide" Target="/ppt/notesSlides/notesSlide47.xml" Id="Rc59d82761596460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1896b06734ab8" /><Relationship Type="http://schemas.openxmlformats.org/officeDocument/2006/relationships/notesSlide" Target="/ppt/notesSlides/notesSlide48.xml" Id="R76b7503869ac41b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9dfeb3cbe4610" /><Relationship Type="http://schemas.openxmlformats.org/officeDocument/2006/relationships/notesSlide" Target="/ppt/notesSlides/notesSlide49.xml" Id="Rae85b4cca34a44ab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6a4cfa76c4e9c" /><Relationship Type="http://schemas.openxmlformats.org/officeDocument/2006/relationships/notesSlide" Target="/ppt/notesSlides/notesSlide50.xml" Id="R785abf0048134ff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c9f4122a54474" /><Relationship Type="http://schemas.openxmlformats.org/officeDocument/2006/relationships/notesSlide" Target="/ppt/notesSlides/notesSlide51.xml" Id="Rbb5a280105d44d1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30f2499379416e" /><Relationship Type="http://schemas.openxmlformats.org/officeDocument/2006/relationships/notesSlide" Target="/ppt/notesSlides/notesSlide52.xml" Id="Rd59e387d9940481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086e6e2a64741" /><Relationship Type="http://schemas.openxmlformats.org/officeDocument/2006/relationships/notesSlide" Target="/ppt/notesSlides/notesSlide53.xml" Id="Rc8e2f505814e411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adcbdc19f414d" /><Relationship Type="http://schemas.openxmlformats.org/officeDocument/2006/relationships/notesSlide" Target="/ppt/notesSlides/notesSlide54.xml" Id="R149af3f5f63b490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27d5a72a046a7" /><Relationship Type="http://schemas.openxmlformats.org/officeDocument/2006/relationships/notesSlide" Target="/ppt/notesSlides/notesSlide55.xml" Id="Racd5cb4869ed41b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51e3712244e2f" /><Relationship Type="http://schemas.openxmlformats.org/officeDocument/2006/relationships/notesSlide" Target="/ppt/notesSlides/notesSlide56.xml" Id="Ra99d95f2515944b7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5e9b2b6304b55" /><Relationship Type="http://schemas.openxmlformats.org/officeDocument/2006/relationships/notesSlide" Target="/ppt/notesSlides/notesSlide57.xml" Id="R6942c9611fca4447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ecb4708b447c4" /><Relationship Type="http://schemas.openxmlformats.org/officeDocument/2006/relationships/notesSlide" Target="/ppt/notesSlides/notesSlide58.xml" Id="R7e44c62fc5824ee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6a3a55f614927" /><Relationship Type="http://schemas.openxmlformats.org/officeDocument/2006/relationships/notesSlide" Target="/ppt/notesSlides/notesSlide59.xml" Id="R7c317ef5b87248e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a5d7a3c264d0c" /><Relationship Type="http://schemas.openxmlformats.org/officeDocument/2006/relationships/notesSlide" Target="/ppt/notesSlides/notesSlide60.xml" Id="Rf2666238152f464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0e43fd1e5497d" /><Relationship Type="http://schemas.openxmlformats.org/officeDocument/2006/relationships/notesSlide" Target="/ppt/notesSlides/notesSlide61.xml" Id="Re4808311729f491f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47a04156f4cea" /><Relationship Type="http://schemas.openxmlformats.org/officeDocument/2006/relationships/notesSlide" Target="/ppt/notesSlides/notesSlide62.xml" Id="R7f6475113ac7416f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b7cca31c2408d" /><Relationship Type="http://schemas.openxmlformats.org/officeDocument/2006/relationships/notesSlide" Target="/ppt/notesSlides/notesSlide63.xml" Id="Rafd00dc50d034d1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ea2ec26e446df" /><Relationship Type="http://schemas.openxmlformats.org/officeDocument/2006/relationships/notesSlide" Target="/ppt/notesSlides/notesSlide64.xml" Id="R33c4c0350fe9400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0132c4b44476b" /><Relationship Type="http://schemas.openxmlformats.org/officeDocument/2006/relationships/notesSlide" Target="/ppt/notesSlides/notesSlide65.xml" Id="Reb12e79ea20248e9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cea7e8cd5447f" /><Relationship Type="http://schemas.openxmlformats.org/officeDocument/2006/relationships/notesSlide" Target="/ppt/notesSlides/notesSlide66.xml" Id="R8eb9b6b1fc8948ab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3ad81a9834183" /><Relationship Type="http://schemas.openxmlformats.org/officeDocument/2006/relationships/notesSlide" Target="/ppt/notesSlides/notesSlide67.xml" Id="Ra51512cc39c64756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65d1ed0a54b7f" /><Relationship Type="http://schemas.openxmlformats.org/officeDocument/2006/relationships/notesSlide" Target="/ppt/notesSlides/notesSlide68.xml" Id="R992fe23faa5d4c1b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07d7acc534744" /><Relationship Type="http://schemas.openxmlformats.org/officeDocument/2006/relationships/notesSlide" Target="/ppt/notesSlides/notesSlide69.xml" Id="Rcfa7077633a14b9b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8f94444d64d83" /><Relationship Type="http://schemas.openxmlformats.org/officeDocument/2006/relationships/notesSlide" Target="/ppt/notesSlides/notesSlide70.xml" Id="R7a2b669ea8694c40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53f9acec242cb" /><Relationship Type="http://schemas.openxmlformats.org/officeDocument/2006/relationships/notesSlide" Target="/ppt/notesSlides/notesSlide71.xml" Id="R7b1674776fe24d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1">
            <a:extLst xmlns:a="http://schemas.openxmlformats.org/drawingml/2006/main">
              <a:ext uri="{FF2B5EF4-FFF2-40B4-BE49-F238E27FC236}">
                <a16:creationId xmlns:a16="http://schemas.microsoft.com/office/drawing/2014/main" id="{48A41433-DBFF-42CD-9140-229BB125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71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校园真实问题驱动的工程项目</a:t>
            </a:r>
          </a:p>
        </p:txBody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36EFC4C2-1D69-4F10-8C80-B285C894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620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VolunteerFlow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校园志愿活动平台</a:t>
            </a:r>
          </a:p>
        </p:txBody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A0C166F7-BF66-488A-9102-A5EA87DB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0BA07112-4718-4F48-909B-2D8ACA40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报名 · 候补 · 递补 · 签到 · 通知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完整产品与工程设计</a:t>
            </a:r>
          </a:p>
        </p:txBody>
      </p:sp>
      <p:sp>
        <p:nvSpPr>
          <p:cNvPr id="5" name="shape-5">
            <a:extLst xmlns:a="http://schemas.openxmlformats.org/drawingml/2006/main">
              <a:ext uri="{FF2B5EF4-FFF2-40B4-BE49-F238E27FC236}">
                <a16:creationId xmlns:a16="http://schemas.microsoft.com/office/drawing/2014/main" id="{6E0B9C8C-9129-4CEB-B4C1-367FD74D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062807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-6">
            <a:extLst xmlns:a="http://schemas.openxmlformats.org/drawingml/2006/main">
              <a:ext uri="{FF2B5EF4-FFF2-40B4-BE49-F238E27FC236}">
                <a16:creationId xmlns:a16="http://schemas.microsoft.com/office/drawing/2014/main" id="{8973C23D-A7DC-4CAC-9339-18249E42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2" name="shape-7">
            <a:extLst xmlns:a="http://schemas.openxmlformats.org/drawingml/2006/main">
              <a:ext uri="{FF2B5EF4-FFF2-40B4-BE49-F238E27FC236}">
                <a16:creationId xmlns:a16="http://schemas.microsoft.com/office/drawing/2014/main" id="{68EDDB67-00F9-49CC-AAD6-0125ADB6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真正的问题不是缺一张报名表</a:t>
            </a:r>
          </a:p>
        </p:txBody>
      </p:sp>
      <p:cxnSp>
        <p:nvCxnSpPr>
          <p:cNvPr id="14" name="shape-8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9">
            <a:extLst xmlns:a="http://schemas.openxmlformats.org/drawingml/2006/main">
              <a:ext uri="{FF2B5EF4-FFF2-40B4-BE49-F238E27FC236}">
                <a16:creationId xmlns:a16="http://schemas.microsoft.com/office/drawing/2014/main" id="{21D775F6-B6C1-4B71-AC7E-ED1D31C7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shape-10">
            <a:extLst xmlns:a="http://schemas.openxmlformats.org/drawingml/2006/main">
              <a:ext uri="{FF2B5EF4-FFF2-40B4-BE49-F238E27FC236}">
                <a16:creationId xmlns:a16="http://schemas.microsoft.com/office/drawing/2014/main" id="{AC497759-36A6-4F43-8D95-A20A9952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当前：QQ群 + 小程序表单</a:t>
            </a:r>
          </a:p>
        </p:txBody>
      </p:sp>
      <p:sp>
        <p:nvSpPr>
          <p:cNvPr id="6" name="shape-11">
            <a:extLst xmlns:a="http://schemas.openxmlformats.org/drawingml/2006/main">
              <a:ext uri="{FF2B5EF4-FFF2-40B4-BE49-F238E27FC236}">
                <a16:creationId xmlns:a16="http://schemas.microsoft.com/office/drawing/2014/main" id="{59E2E816-D6CC-4CBB-BC61-17D5BAAB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5143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12">
            <a:extLst xmlns:a="http://schemas.openxmlformats.org/drawingml/2006/main">
              <a:ext uri="{FF2B5EF4-FFF2-40B4-BE49-F238E27FC236}">
                <a16:creationId xmlns:a16="http://schemas.microsoft.com/office/drawing/2014/main" id="{A49EB214-5F54-40CA-A760-F819A8A4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4667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活动消息很快被聊天淹没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许多同学看不到报名信息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取消只能私聊负责人处理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空出的名额没有公开候补机制</a:t>
            </a:r>
          </a:p>
        </p:txBody>
      </p:sp>
      <p:sp>
        <p:nvSpPr>
          <p:cNvPr id="8" name="shape-13">
            <a:extLst xmlns:a="http://schemas.openxmlformats.org/drawingml/2006/main">
              <a:ext uri="{FF2B5EF4-FFF2-40B4-BE49-F238E27FC236}">
                <a16:creationId xmlns:a16="http://schemas.microsoft.com/office/drawing/2014/main" id="{378B07FA-12A9-4E90-B4D4-2AF3F9FA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目标：集中、透明、可追踪</a:t>
            </a:r>
          </a:p>
        </p:txBody>
      </p:sp>
      <p:sp>
        <p:nvSpPr>
          <p:cNvPr id="9" name="shape-14">
            <a:extLst xmlns:a="http://schemas.openxmlformats.org/drawingml/2006/main">
              <a:ext uri="{FF2B5EF4-FFF2-40B4-BE49-F238E27FC236}">
                <a16:creationId xmlns:a16="http://schemas.microsoft.com/office/drawing/2014/main" id="{E5E6433A-2586-4FC8-83FB-0BE7CEBC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5143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15">
            <a:extLst xmlns:a="http://schemas.openxmlformats.org/drawingml/2006/main">
              <a:ext uri="{FF2B5EF4-FFF2-40B4-BE49-F238E27FC236}">
                <a16:creationId xmlns:a16="http://schemas.microsoft.com/office/drawing/2014/main" id="{55562FF8-927E-4F04-B86F-67009D0A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667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活动信息集中展示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每个人都知道自己的状态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候补顺序和确认时限公开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负责人不再手工拼接名单</a:t>
            </a:r>
          </a:p>
        </p:txBody>
      </p:sp>
      <p:sp>
        <p:nvSpPr>
          <p:cNvPr id="11" name="shape-16">
            <a:extLst xmlns:a="http://schemas.openxmlformats.org/drawingml/2006/main">
              <a:ext uri="{FF2B5EF4-FFF2-40B4-BE49-F238E27FC236}">
                <a16:creationId xmlns:a16="http://schemas.microsoft.com/office/drawing/2014/main" id="{972EE7BD-282C-462F-A470-49B6740A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991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平台价值来自完整业务闭环，而不是页面数量。</a:t>
            </a:r>
          </a:p>
        </p:txBody>
      </p:sp>
    </p:spTree>
    <p:extLst>
      <p:ext uri="{BB962C8B-B14F-4D97-AF65-F5344CB8AC3E}">
        <p14:creationId xmlns:p14="http://schemas.microsoft.com/office/powerpoint/2010/main" val="10918905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-17">
            <a:extLst xmlns:a="http://schemas.openxmlformats.org/drawingml/2006/main">
              <a:ext uri="{FF2B5EF4-FFF2-40B4-BE49-F238E27FC236}">
                <a16:creationId xmlns:a16="http://schemas.microsoft.com/office/drawing/2014/main" id="{E3D96811-5198-48F3-86FE-177B44CC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2" name="shape-18">
            <a:extLst xmlns:a="http://schemas.openxmlformats.org/drawingml/2006/main">
              <a:ext uri="{FF2B5EF4-FFF2-40B4-BE49-F238E27FC236}">
                <a16:creationId xmlns:a16="http://schemas.microsoft.com/office/drawing/2014/main" id="{BCFFB10F-380F-449E-8563-281261E5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项目从真实试用开始，而不是停在 Demo</a:t>
            </a:r>
          </a:p>
        </p:txBody>
      </p:sp>
      <p:cxnSp>
        <p:nvCxnSpPr>
          <p:cNvPr id="20" name="shape-19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20">
            <a:extLst xmlns:a="http://schemas.openxmlformats.org/drawingml/2006/main">
              <a:ext uri="{FF2B5EF4-FFF2-40B4-BE49-F238E27FC236}">
                <a16:creationId xmlns:a16="http://schemas.microsoft.com/office/drawing/2014/main" id="{B614C446-FCA6-4084-A7CD-7B203CF0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shape-21">
            <a:extLst xmlns:a="http://schemas.openxmlformats.org/drawingml/2006/main">
              <a:ext uri="{FF2B5EF4-FFF2-40B4-BE49-F238E27FC236}">
                <a16:creationId xmlns:a16="http://schemas.microsoft.com/office/drawing/2014/main" id="{44B459D6-2A23-4CDD-BC76-36265E9A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主要面向班级、学生社团和校园志愿组织。</a:t>
            </a:r>
          </a:p>
        </p:txBody>
      </p:sp>
      <p:sp>
        <p:nvSpPr>
          <p:cNvPr id="6" name="shape-22">
            <a:extLst xmlns:a="http://schemas.openxmlformats.org/drawingml/2006/main">
              <a:ext uri="{FF2B5EF4-FFF2-40B4-BE49-F238E27FC236}">
                <a16:creationId xmlns:a16="http://schemas.microsoft.com/office/drawing/2014/main" id="{0EBF2452-FD2A-4FE8-8D69-903E0BBE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23">
            <a:extLst xmlns:a="http://schemas.openxmlformats.org/drawingml/2006/main">
              <a:ext uri="{FF2B5EF4-FFF2-40B4-BE49-F238E27FC236}">
                <a16:creationId xmlns:a16="http://schemas.microsoft.com/office/drawing/2014/main" id="{3A51F9B8-EA96-4E67-9F10-35F5DA6F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2876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shape-24">
            <a:extLst xmlns:a="http://schemas.openxmlformats.org/drawingml/2006/main">
              <a:ext uri="{FF2B5EF4-FFF2-40B4-BE49-F238E27FC236}">
                <a16:creationId xmlns:a16="http://schemas.microsoft.com/office/drawing/2014/main" id="{716E4A67-5E67-461E-A6F4-66E37D76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287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首位负责人</a:t>
            </a:r>
          </a:p>
        </p:txBody>
      </p:sp>
      <p:sp>
        <p:nvSpPr>
          <p:cNvPr id="9" name="shape-25">
            <a:extLst xmlns:a="http://schemas.openxmlformats.org/drawingml/2006/main">
              <a:ext uri="{FF2B5EF4-FFF2-40B4-BE49-F238E27FC236}">
                <a16:creationId xmlns:a16="http://schemas.microsoft.com/office/drawing/2014/main" id="{27E943C8-C0F5-4590-9E69-0D75ADDE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2876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由开发者本人创建组织、发布活动并负责试用。</a:t>
            </a:r>
          </a:p>
        </p:txBody>
      </p:sp>
      <p:sp>
        <p:nvSpPr>
          <p:cNvPr id="10" name="shape-26">
            <a:extLst xmlns:a="http://schemas.openxmlformats.org/drawingml/2006/main">
              <a:ext uri="{FF2B5EF4-FFF2-40B4-BE49-F238E27FC236}">
                <a16:creationId xmlns:a16="http://schemas.microsoft.com/office/drawing/2014/main" id="{5A8A2D40-68C3-4AFE-B878-565A66DD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812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-27">
            <a:extLst xmlns:a="http://schemas.openxmlformats.org/drawingml/2006/main">
              <a:ext uri="{FF2B5EF4-FFF2-40B4-BE49-F238E27FC236}">
                <a16:creationId xmlns:a16="http://schemas.microsoft.com/office/drawing/2014/main" id="{44B78882-8B53-41DA-85F3-77D58DA3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43200"/>
            <a:ext cx="2876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≥10</a:t>
            </a:r>
          </a:p>
        </p:txBody>
      </p:sp>
      <p:sp>
        <p:nvSpPr>
          <p:cNvPr id="12" name="shape-28">
            <a:extLst xmlns:a="http://schemas.openxmlformats.org/drawingml/2006/main">
              <a:ext uri="{FF2B5EF4-FFF2-40B4-BE49-F238E27FC236}">
                <a16:creationId xmlns:a16="http://schemas.microsoft.com/office/drawing/2014/main" id="{209FCFED-5B9E-4F4F-9662-E727C93D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287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首批同学</a:t>
            </a:r>
          </a:p>
        </p:txBody>
      </p:sp>
      <p:sp>
        <p:nvSpPr>
          <p:cNvPr id="13" name="shape-29">
            <a:extLst xmlns:a="http://schemas.openxmlformats.org/drawingml/2006/main">
              <a:ext uri="{FF2B5EF4-FFF2-40B4-BE49-F238E27FC236}">
                <a16:creationId xmlns:a16="http://schemas.microsoft.com/office/drawing/2014/main" id="{4F336C52-9A37-4493-9CD8-DF9D5E84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2876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参与真实或模拟活动，验证取消、递补和签到。</a:t>
            </a:r>
          </a:p>
        </p:txBody>
      </p:sp>
      <p:sp>
        <p:nvSpPr>
          <p:cNvPr id="14" name="shape-30">
            <a:extLst xmlns:a="http://schemas.openxmlformats.org/drawingml/2006/main">
              <a:ext uri="{FF2B5EF4-FFF2-40B4-BE49-F238E27FC236}">
                <a16:creationId xmlns:a16="http://schemas.microsoft.com/office/drawing/2014/main" id="{0FE7A2D5-B8D8-430F-ABA8-5D098BBC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-31">
            <a:extLst xmlns:a="http://schemas.openxmlformats.org/drawingml/2006/main">
              <a:ext uri="{FF2B5EF4-FFF2-40B4-BE49-F238E27FC236}">
                <a16:creationId xmlns:a16="http://schemas.microsoft.com/office/drawing/2014/main" id="{1A0C7A46-1C3F-4EEE-A574-6C5AC5B2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43200"/>
            <a:ext cx="2876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2阶段</a:t>
            </a:r>
          </a:p>
        </p:txBody>
      </p:sp>
      <p:sp>
        <p:nvSpPr>
          <p:cNvPr id="16" name="shape-32">
            <a:extLst xmlns:a="http://schemas.openxmlformats.org/drawingml/2006/main">
              <a:ext uri="{FF2B5EF4-FFF2-40B4-BE49-F238E27FC236}">
                <a16:creationId xmlns:a16="http://schemas.microsoft.com/office/drawing/2014/main" id="{6348ABCD-0776-4AB4-852A-72105375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71875"/>
            <a:ext cx="287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演进方式</a:t>
            </a:r>
          </a:p>
        </p:txBody>
      </p:sp>
      <p:sp>
        <p:nvSpPr>
          <p:cNvPr id="17" name="shape-33">
            <a:extLst xmlns:a="http://schemas.openxmlformats.org/drawingml/2006/main">
              <a:ext uri="{FF2B5EF4-FFF2-40B4-BE49-F238E27FC236}">
                <a16:creationId xmlns:a16="http://schemas.microsoft.com/office/drawing/2014/main" id="{5DE4447C-CB76-43AA-BE62-1EA90E87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43375"/>
            <a:ext cx="2876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8月核心版；9月补Redis、Kafka、测试与监控。</a:t>
            </a:r>
          </a:p>
        </p:txBody>
      </p:sp>
    </p:spTree>
    <p:extLst>
      <p:ext uri="{BB962C8B-B14F-4D97-AF65-F5344CB8AC3E}">
        <p14:creationId xmlns:p14="http://schemas.microsoft.com/office/powerpoint/2010/main" val="8558623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shape-34">
            <a:extLst xmlns:a="http://schemas.openxmlformats.org/drawingml/2006/main">
              <a:ext uri="{FF2B5EF4-FFF2-40B4-BE49-F238E27FC236}">
                <a16:creationId xmlns:a16="http://schemas.microsoft.com/office/drawing/2014/main" id="{AB3589C8-8C2E-4EEC-ABCC-A5984F8C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2" name="shape-35">
            <a:extLst xmlns:a="http://schemas.openxmlformats.org/drawingml/2006/main">
              <a:ext uri="{FF2B5EF4-FFF2-40B4-BE49-F238E27FC236}">
                <a16:creationId xmlns:a16="http://schemas.microsoft.com/office/drawing/2014/main" id="{5E1E8117-63BE-43F6-B657-60052E18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八个部分共同构成一份可实施设计</a:t>
            </a:r>
          </a:p>
        </p:txBody>
      </p:sp>
      <p:cxnSp>
        <p:nvCxnSpPr>
          <p:cNvPr id="43" name="shape-36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37">
            <a:extLst xmlns:a="http://schemas.openxmlformats.org/drawingml/2006/main">
              <a:ext uri="{FF2B5EF4-FFF2-40B4-BE49-F238E27FC236}">
                <a16:creationId xmlns:a16="http://schemas.microsoft.com/office/drawing/2014/main" id="{A6695CA3-61BD-443D-BA44-FC315416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shape-38">
            <a:extLst xmlns:a="http://schemas.openxmlformats.org/drawingml/2006/main">
              <a:ext uri="{FF2B5EF4-FFF2-40B4-BE49-F238E27FC236}">
                <a16:creationId xmlns:a16="http://schemas.microsoft.com/office/drawing/2014/main" id="{CB842B82-D705-4025-B377-8DFCE301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19837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shape-39">
            <a:extLst xmlns:a="http://schemas.openxmlformats.org/drawingml/2006/main">
              <a:ext uri="{FF2B5EF4-FFF2-40B4-BE49-F238E27FC236}">
                <a16:creationId xmlns:a16="http://schemas.microsoft.com/office/drawing/2014/main" id="{FEF7B040-5BCA-4E06-964B-9840F0B1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38325"/>
            <a:ext cx="2045970" cy="2815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7" name="shape-40">
            <a:extLst xmlns:a="http://schemas.openxmlformats.org/drawingml/2006/main">
              <a:ext uri="{FF2B5EF4-FFF2-40B4-BE49-F238E27FC236}">
                <a16:creationId xmlns:a16="http://schemas.microsoft.com/office/drawing/2014/main" id="{595FF357-545A-4DB3-877F-0F6D31B5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420" y="1762125"/>
            <a:ext cx="879348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shape-41">
            <a:extLst xmlns:a="http://schemas.openxmlformats.org/drawingml/2006/main">
              <a:ext uri="{FF2B5EF4-FFF2-40B4-BE49-F238E27FC236}">
                <a16:creationId xmlns:a16="http://schemas.microsoft.com/office/drawing/2014/main" id="{ADD393F6-DAA8-444C-B79C-ACD67B64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1838325"/>
            <a:ext cx="8641080" cy="2815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9" name="shape-42">
            <a:extLst xmlns:a="http://schemas.openxmlformats.org/drawingml/2006/main">
              <a:ext uri="{FF2B5EF4-FFF2-40B4-BE49-F238E27FC236}">
                <a16:creationId xmlns:a16="http://schemas.microsoft.com/office/drawing/2014/main" id="{0EF07C44-9759-4DEC-A1CF-3365CC28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6042"/>
            <a:ext cx="219837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hape-43">
            <a:extLst xmlns:a="http://schemas.openxmlformats.org/drawingml/2006/main">
              <a:ext uri="{FF2B5EF4-FFF2-40B4-BE49-F238E27FC236}">
                <a16:creationId xmlns:a16="http://schemas.microsoft.com/office/drawing/2014/main" id="{1F3B0784-93E2-420E-862A-0E8AC8DF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62717"/>
            <a:ext cx="2045970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01 范围与架构</a:t>
            </a:r>
          </a:p>
        </p:txBody>
      </p:sp>
      <p:sp>
        <p:nvSpPr>
          <p:cNvPr id="11" name="shape-44">
            <a:extLst xmlns:a="http://schemas.openxmlformats.org/drawingml/2006/main">
              <a:ext uri="{FF2B5EF4-FFF2-40B4-BE49-F238E27FC236}">
                <a16:creationId xmlns:a16="http://schemas.microsoft.com/office/drawing/2014/main" id="{FF6EB753-9583-4ABF-9407-6F809B74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420" y="2196042"/>
            <a:ext cx="879348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hape-45">
            <a:extLst xmlns:a="http://schemas.openxmlformats.org/drawingml/2006/main">
              <a:ext uri="{FF2B5EF4-FFF2-40B4-BE49-F238E27FC236}">
                <a16:creationId xmlns:a16="http://schemas.microsoft.com/office/drawing/2014/main" id="{7D6A1F09-7987-46AB-978D-B1AFB597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2262717"/>
            <a:ext cx="8641080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做什么、不做什么，模块和角色如何划分</a:t>
            </a:r>
          </a:p>
        </p:txBody>
      </p:sp>
      <p:sp>
        <p:nvSpPr>
          <p:cNvPr id="13" name="shape-46">
            <a:extLst xmlns:a="http://schemas.openxmlformats.org/drawingml/2006/main">
              <a:ext uri="{FF2B5EF4-FFF2-40B4-BE49-F238E27FC236}">
                <a16:creationId xmlns:a16="http://schemas.microsoft.com/office/drawing/2014/main" id="{8DCA8027-0B67-4CB1-B627-B78CC448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9958"/>
            <a:ext cx="219837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shape-47">
            <a:extLst xmlns:a="http://schemas.openxmlformats.org/drawingml/2006/main">
              <a:ext uri="{FF2B5EF4-FFF2-40B4-BE49-F238E27FC236}">
                <a16:creationId xmlns:a16="http://schemas.microsoft.com/office/drawing/2014/main" id="{25FCC645-F404-4A45-B6A6-B64488B9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96633"/>
            <a:ext cx="2045970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 业务闭环</a:t>
            </a:r>
          </a:p>
        </p:txBody>
      </p:sp>
      <p:sp>
        <p:nvSpPr>
          <p:cNvPr id="15" name="shape-48">
            <a:extLst xmlns:a="http://schemas.openxmlformats.org/drawingml/2006/main">
              <a:ext uri="{FF2B5EF4-FFF2-40B4-BE49-F238E27FC236}">
                <a16:creationId xmlns:a16="http://schemas.microsoft.com/office/drawing/2014/main" id="{EF273DA4-AD56-4571-846F-FECDBAEF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420" y="2629958"/>
            <a:ext cx="879348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hape-49">
            <a:extLst xmlns:a="http://schemas.openxmlformats.org/drawingml/2006/main">
              <a:ext uri="{FF2B5EF4-FFF2-40B4-BE49-F238E27FC236}">
                <a16:creationId xmlns:a16="http://schemas.microsoft.com/office/drawing/2014/main" id="{C5BA70BB-ED21-4A59-90DC-0E5A94FF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2696633"/>
            <a:ext cx="8641080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活动、报名、候补、取消、签到如何流转</a:t>
            </a:r>
          </a:p>
        </p:txBody>
      </p:sp>
      <p:sp>
        <p:nvSpPr>
          <p:cNvPr id="17" name="shape-50">
            <a:extLst xmlns:a="http://schemas.openxmlformats.org/drawingml/2006/main">
              <a:ext uri="{FF2B5EF4-FFF2-40B4-BE49-F238E27FC236}">
                <a16:creationId xmlns:a16="http://schemas.microsoft.com/office/drawing/2014/main" id="{10AD580B-720A-42CC-8C1B-84E7CEC2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3875"/>
            <a:ext cx="219837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shape-51">
            <a:extLst xmlns:a="http://schemas.openxmlformats.org/drawingml/2006/main">
              <a:ext uri="{FF2B5EF4-FFF2-40B4-BE49-F238E27FC236}">
                <a16:creationId xmlns:a16="http://schemas.microsoft.com/office/drawing/2014/main" id="{5EBBBCE4-CEB6-4EC2-B93C-1ABF3A54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30550"/>
            <a:ext cx="2045970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 数据模型</a:t>
            </a:r>
          </a:p>
        </p:txBody>
      </p:sp>
      <p:sp>
        <p:nvSpPr>
          <p:cNvPr id="19" name="shape-52">
            <a:extLst xmlns:a="http://schemas.openxmlformats.org/drawingml/2006/main">
              <a:ext uri="{FF2B5EF4-FFF2-40B4-BE49-F238E27FC236}">
                <a16:creationId xmlns:a16="http://schemas.microsoft.com/office/drawing/2014/main" id="{8990D962-67F9-48C5-BB8A-9E0C8C8E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420" y="3063875"/>
            <a:ext cx="879348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shape-53">
            <a:extLst xmlns:a="http://schemas.openxmlformats.org/drawingml/2006/main">
              <a:ext uri="{FF2B5EF4-FFF2-40B4-BE49-F238E27FC236}">
                <a16:creationId xmlns:a16="http://schemas.microsoft.com/office/drawing/2014/main" id="{BB104B98-A103-42DD-8304-BB6F029B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3130550"/>
            <a:ext cx="8641080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哪些数据必须持久化，如何约束重复和越权</a:t>
            </a:r>
          </a:p>
        </p:txBody>
      </p:sp>
      <p:sp>
        <p:nvSpPr>
          <p:cNvPr id="21" name="shape-54">
            <a:extLst xmlns:a="http://schemas.openxmlformats.org/drawingml/2006/main">
              <a:ext uri="{FF2B5EF4-FFF2-40B4-BE49-F238E27FC236}">
                <a16:creationId xmlns:a16="http://schemas.microsoft.com/office/drawing/2014/main" id="{B0F34A1B-D8FC-4547-A128-41B48C04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7792"/>
            <a:ext cx="219837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shape-55">
            <a:extLst xmlns:a="http://schemas.openxmlformats.org/drawingml/2006/main">
              <a:ext uri="{FF2B5EF4-FFF2-40B4-BE49-F238E27FC236}">
                <a16:creationId xmlns:a16="http://schemas.microsoft.com/office/drawing/2014/main" id="{A30882FF-A795-4DEE-9BC5-C9B2E972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4467"/>
            <a:ext cx="2045970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 一致性</a:t>
            </a:r>
          </a:p>
        </p:txBody>
      </p:sp>
      <p:sp>
        <p:nvSpPr>
          <p:cNvPr id="23" name="shape-56">
            <a:extLst xmlns:a="http://schemas.openxmlformats.org/drawingml/2006/main">
              <a:ext uri="{FF2B5EF4-FFF2-40B4-BE49-F238E27FC236}">
                <a16:creationId xmlns:a16="http://schemas.microsoft.com/office/drawing/2014/main" id="{A5EFC636-0767-4145-AC10-A844B0E5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420" y="3497792"/>
            <a:ext cx="879348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shape-57">
            <a:extLst xmlns:a="http://schemas.openxmlformats.org/drawingml/2006/main">
              <a:ext uri="{FF2B5EF4-FFF2-40B4-BE49-F238E27FC236}">
                <a16:creationId xmlns:a16="http://schemas.microsoft.com/office/drawing/2014/main" id="{C43797F7-FDE5-4993-BF69-2FFED2E1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3564467"/>
            <a:ext cx="8641080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Redis与Kafka如何增强，但不破坏最终数据</a:t>
            </a:r>
          </a:p>
        </p:txBody>
      </p:sp>
      <p:sp>
        <p:nvSpPr>
          <p:cNvPr id="25" name="shape-58">
            <a:extLst xmlns:a="http://schemas.openxmlformats.org/drawingml/2006/main">
              <a:ext uri="{FF2B5EF4-FFF2-40B4-BE49-F238E27FC236}">
                <a16:creationId xmlns:a16="http://schemas.microsoft.com/office/drawing/2014/main" id="{95813D76-188B-4E78-8997-AABE029C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31708"/>
            <a:ext cx="219837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shape-59">
            <a:extLst xmlns:a="http://schemas.openxmlformats.org/drawingml/2006/main">
              <a:ext uri="{FF2B5EF4-FFF2-40B4-BE49-F238E27FC236}">
                <a16:creationId xmlns:a16="http://schemas.microsoft.com/office/drawing/2014/main" id="{CEE6DEB9-6FFD-4F53-8702-72287934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8383"/>
            <a:ext cx="2045970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05 API与安全</a:t>
            </a:r>
          </a:p>
        </p:txBody>
      </p:sp>
      <p:sp>
        <p:nvSpPr>
          <p:cNvPr id="27" name="shape-60">
            <a:extLst xmlns:a="http://schemas.openxmlformats.org/drawingml/2006/main">
              <a:ext uri="{FF2B5EF4-FFF2-40B4-BE49-F238E27FC236}">
                <a16:creationId xmlns:a16="http://schemas.microsoft.com/office/drawing/2014/main" id="{D872FB19-E449-4ED8-9C8F-6DC4678B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420" y="3931708"/>
            <a:ext cx="879348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shape-61">
            <a:extLst xmlns:a="http://schemas.openxmlformats.org/drawingml/2006/main">
              <a:ext uri="{FF2B5EF4-FFF2-40B4-BE49-F238E27FC236}">
                <a16:creationId xmlns:a16="http://schemas.microsoft.com/office/drawing/2014/main" id="{E8725217-E6C5-46A8-988F-4DE23A3D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3998383"/>
            <a:ext cx="8641080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接口、认证、错误和多组织权限如何统一</a:t>
            </a:r>
          </a:p>
        </p:txBody>
      </p:sp>
      <p:sp>
        <p:nvSpPr>
          <p:cNvPr id="29" name="shape-62">
            <a:extLst xmlns:a="http://schemas.openxmlformats.org/drawingml/2006/main">
              <a:ext uri="{FF2B5EF4-FFF2-40B4-BE49-F238E27FC236}">
                <a16:creationId xmlns:a16="http://schemas.microsoft.com/office/drawing/2014/main" id="{A5B5F49B-ED5C-4FAB-AA3C-3CD9B2E9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5625"/>
            <a:ext cx="219837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shape-63">
            <a:extLst xmlns:a="http://schemas.openxmlformats.org/drawingml/2006/main">
              <a:ext uri="{FF2B5EF4-FFF2-40B4-BE49-F238E27FC236}">
                <a16:creationId xmlns:a16="http://schemas.microsoft.com/office/drawing/2014/main" id="{546D4735-3F76-426E-8483-57CBA2D2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2300"/>
            <a:ext cx="2045970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06 前端体验</a:t>
            </a:r>
          </a:p>
        </p:txBody>
      </p:sp>
      <p:sp>
        <p:nvSpPr>
          <p:cNvPr id="31" name="shape-64">
            <a:extLst xmlns:a="http://schemas.openxmlformats.org/drawingml/2006/main">
              <a:ext uri="{FF2B5EF4-FFF2-40B4-BE49-F238E27FC236}">
                <a16:creationId xmlns:a16="http://schemas.microsoft.com/office/drawing/2014/main" id="{1973FD9E-0FAA-4FC7-85BA-0B2E81FF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420" y="4365625"/>
            <a:ext cx="879348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shape-65">
            <a:extLst xmlns:a="http://schemas.openxmlformats.org/drawingml/2006/main">
              <a:ext uri="{FF2B5EF4-FFF2-40B4-BE49-F238E27FC236}">
                <a16:creationId xmlns:a16="http://schemas.microsoft.com/office/drawing/2014/main" id="{250AACFA-1150-49EF-89A6-F7E32AE2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4432300"/>
            <a:ext cx="8641080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成员和负责人如何低成本完成任务</a:t>
            </a:r>
          </a:p>
        </p:txBody>
      </p:sp>
      <p:sp>
        <p:nvSpPr>
          <p:cNvPr id="33" name="shape-66">
            <a:extLst xmlns:a="http://schemas.openxmlformats.org/drawingml/2006/main">
              <a:ext uri="{FF2B5EF4-FFF2-40B4-BE49-F238E27FC236}">
                <a16:creationId xmlns:a16="http://schemas.microsoft.com/office/drawing/2014/main" id="{47B8BF24-6174-49DD-B906-395A6D0F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99542"/>
            <a:ext cx="219837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shape-67">
            <a:extLst xmlns:a="http://schemas.openxmlformats.org/drawingml/2006/main">
              <a:ext uri="{FF2B5EF4-FFF2-40B4-BE49-F238E27FC236}">
                <a16:creationId xmlns:a16="http://schemas.microsoft.com/office/drawing/2014/main" id="{A2043278-752B-405D-8FFB-CE1EFB7A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66217"/>
            <a:ext cx="2045970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07 验证上线</a:t>
            </a:r>
          </a:p>
        </p:txBody>
      </p:sp>
      <p:sp>
        <p:nvSpPr>
          <p:cNvPr id="35" name="shape-68">
            <a:extLst xmlns:a="http://schemas.openxmlformats.org/drawingml/2006/main">
              <a:ext uri="{FF2B5EF4-FFF2-40B4-BE49-F238E27FC236}">
                <a16:creationId xmlns:a16="http://schemas.microsoft.com/office/drawing/2014/main" id="{1DDC5AA2-47D5-4DFB-A45E-E903AF92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420" y="4799542"/>
            <a:ext cx="879348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shape-69">
            <a:extLst xmlns:a="http://schemas.openxmlformats.org/drawingml/2006/main">
              <a:ext uri="{FF2B5EF4-FFF2-40B4-BE49-F238E27FC236}">
                <a16:creationId xmlns:a16="http://schemas.microsoft.com/office/drawing/2014/main" id="{FE9B63BE-22D2-4FA1-A03E-3CF5B74A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4866217"/>
            <a:ext cx="8641080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如何测试、监控、部署和真实试用</a:t>
            </a:r>
          </a:p>
        </p:txBody>
      </p:sp>
      <p:sp>
        <p:nvSpPr>
          <p:cNvPr id="37" name="shape-70">
            <a:extLst xmlns:a="http://schemas.openxmlformats.org/drawingml/2006/main">
              <a:ext uri="{FF2B5EF4-FFF2-40B4-BE49-F238E27FC236}">
                <a16:creationId xmlns:a16="http://schemas.microsoft.com/office/drawing/2014/main" id="{58FBB4A8-3651-4845-8FBF-A78F569B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3458"/>
            <a:ext cx="219837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shape-71">
            <a:extLst xmlns:a="http://schemas.openxmlformats.org/drawingml/2006/main">
              <a:ext uri="{FF2B5EF4-FFF2-40B4-BE49-F238E27FC236}">
                <a16:creationId xmlns:a16="http://schemas.microsoft.com/office/drawing/2014/main" id="{D34B0750-6B20-47C5-8DEC-9D3151BB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00133"/>
            <a:ext cx="2045970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08 开发路线</a:t>
            </a:r>
          </a:p>
        </p:txBody>
      </p:sp>
      <p:sp>
        <p:nvSpPr>
          <p:cNvPr id="39" name="shape-72">
            <a:extLst xmlns:a="http://schemas.openxmlformats.org/drawingml/2006/main">
              <a:ext uri="{FF2B5EF4-FFF2-40B4-BE49-F238E27FC236}">
                <a16:creationId xmlns:a16="http://schemas.microsoft.com/office/drawing/2014/main" id="{A3759CC1-2878-4FE4-A1AB-37B937FD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420" y="5233458"/>
            <a:ext cx="8793480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shape-73">
            <a:extLst xmlns:a="http://schemas.openxmlformats.org/drawingml/2006/main">
              <a:ext uri="{FF2B5EF4-FFF2-40B4-BE49-F238E27FC236}">
                <a16:creationId xmlns:a16="http://schemas.microsoft.com/office/drawing/2014/main" id="{8232C4E6-572D-4630-9018-8FCAF117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5300133"/>
            <a:ext cx="8641080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如何按学习进度落地并形成简历证据</a:t>
            </a:r>
          </a:p>
        </p:txBody>
      </p:sp>
    </p:spTree>
    <p:extLst>
      <p:ext uri="{BB962C8B-B14F-4D97-AF65-F5344CB8AC3E}">
        <p14:creationId xmlns:p14="http://schemas.microsoft.com/office/powerpoint/2010/main" val="13544712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74">
            <a:extLst xmlns:a="http://schemas.openxmlformats.org/drawingml/2006/main">
              <a:ext uri="{FF2B5EF4-FFF2-40B4-BE49-F238E27FC236}">
                <a16:creationId xmlns:a16="http://schemas.microsoft.com/office/drawing/2014/main" id="{4D4D8D6C-2008-472E-9994-2C6C5539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2" name="shape-75">
            <a:extLst xmlns:a="http://schemas.openxmlformats.org/drawingml/2006/main">
              <a:ext uri="{FF2B5EF4-FFF2-40B4-BE49-F238E27FC236}">
                <a16:creationId xmlns:a16="http://schemas.microsoft.com/office/drawing/2014/main" id="{5865B563-CE82-4FA9-B7BE-A5F8CBC4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52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产品范围与总体架构</a:t>
            </a:r>
          </a:p>
        </p:txBody>
      </p:sp>
      <p:sp>
        <p:nvSpPr>
          <p:cNvPr id="3" name="shape-76">
            <a:extLst xmlns:a="http://schemas.openxmlformats.org/drawingml/2006/main">
              <a:ext uri="{FF2B5EF4-FFF2-40B4-BE49-F238E27FC236}">
                <a16:creationId xmlns:a16="http://schemas.microsoft.com/office/drawing/2014/main" id="{30FC31C8-92EC-4982-A09A-6A03D1D1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先守住真实问题，再选择足够而不过度的技术。</a:t>
            </a:r>
          </a:p>
        </p:txBody>
      </p:sp>
      <p:cxnSp>
        <p:nvCxnSpPr>
          <p:cNvPr id="9" name="shape-77"/>
          <p:cNvCxnSpPr/>
          <p:nvPr/>
        </p:nvCxnSpPr>
        <p:spPr>
          <a:xfrm xmlns:a="http://schemas.openxmlformats.org/drawingml/2006/main">
            <a:off x="400050" y="57150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5" name="shape-78">
            <a:extLst xmlns:a="http://schemas.openxmlformats.org/drawingml/2006/main">
              <a:ext uri="{FF2B5EF4-FFF2-40B4-BE49-F238E27FC236}">
                <a16:creationId xmlns:a16="http://schemas.microsoft.com/office/drawing/2014/main" id="{43B34113-6485-4ABD-8CFB-1C25777BF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9626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642687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-79">
            <a:extLst xmlns:a="http://schemas.openxmlformats.org/drawingml/2006/main">
              <a:ext uri="{FF2B5EF4-FFF2-40B4-BE49-F238E27FC236}">
                <a16:creationId xmlns:a16="http://schemas.microsoft.com/office/drawing/2014/main" id="{6726AD08-6235-49CB-93F4-81BEDF27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范围与架构</a:t>
            </a:r>
          </a:p>
        </p:txBody>
      </p:sp>
      <p:sp>
        <p:nvSpPr>
          <p:cNvPr id="2" name="shape-80">
            <a:extLst xmlns:a="http://schemas.openxmlformats.org/drawingml/2006/main">
              <a:ext uri="{FF2B5EF4-FFF2-40B4-BE49-F238E27FC236}">
                <a16:creationId xmlns:a16="http://schemas.microsoft.com/office/drawing/2014/main" id="{32F41490-97EB-4B00-B35C-FA3A0690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第一版要闭环，也要明确边界</a:t>
            </a:r>
          </a:p>
        </p:txBody>
      </p:sp>
      <p:cxnSp>
        <p:nvCxnSpPr>
          <p:cNvPr id="13" name="shape-81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82">
            <a:extLst xmlns:a="http://schemas.openxmlformats.org/drawingml/2006/main">
              <a:ext uri="{FF2B5EF4-FFF2-40B4-BE49-F238E27FC236}">
                <a16:creationId xmlns:a16="http://schemas.microsoft.com/office/drawing/2014/main" id="{33CCAC00-7492-4E22-98F7-D274F51D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shape-83">
            <a:extLst xmlns:a="http://schemas.openxmlformats.org/drawingml/2006/main">
              <a:ext uri="{FF2B5EF4-FFF2-40B4-BE49-F238E27FC236}">
                <a16:creationId xmlns:a16="http://schemas.microsoft.com/office/drawing/2014/main" id="{43EDC646-6CA7-4287-8E55-B69D7535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必须完成</a:t>
            </a:r>
          </a:p>
        </p:txBody>
      </p:sp>
      <p:sp>
        <p:nvSpPr>
          <p:cNvPr id="6" name="shape-84">
            <a:extLst xmlns:a="http://schemas.openxmlformats.org/drawingml/2006/main">
              <a:ext uri="{FF2B5EF4-FFF2-40B4-BE49-F238E27FC236}">
                <a16:creationId xmlns:a16="http://schemas.microsoft.com/office/drawing/2014/main" id="{6ACA8876-7D9C-4FC7-86D9-65A146C6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组织、邀请和角色管理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活动草稿、发布、变更、取消、结束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先到先得与人工审核报名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候补、取消、限时递补和通知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动态签到、人工补签和统计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多组织隔离、审计、部署和测试</a:t>
            </a:r>
          </a:p>
        </p:txBody>
      </p:sp>
      <p:sp>
        <p:nvSpPr>
          <p:cNvPr id="7" name="shape-85">
            <a:extLst xmlns:a="http://schemas.openxmlformats.org/drawingml/2006/main">
              <a:ext uri="{FF2B5EF4-FFF2-40B4-BE49-F238E27FC236}">
                <a16:creationId xmlns:a16="http://schemas.microsoft.com/office/drawing/2014/main" id="{934F701A-68F4-41E3-9A4A-1ED1D17F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4288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86">
            <a:extLst xmlns:a="http://schemas.openxmlformats.org/drawingml/2006/main">
              <a:ext uri="{FF2B5EF4-FFF2-40B4-BE49-F238E27FC236}">
                <a16:creationId xmlns:a16="http://schemas.microsoft.com/office/drawing/2014/main" id="{BE79AF03-BFE9-487D-A776-6ECBD692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暂不进入第一版</a:t>
            </a:r>
          </a:p>
        </p:txBody>
      </p:sp>
      <p:sp>
        <p:nvSpPr>
          <p:cNvPr id="9" name="shape-87">
            <a:extLst xmlns:a="http://schemas.openxmlformats.org/drawingml/2006/main">
              <a:ext uri="{FF2B5EF4-FFF2-40B4-BE49-F238E27FC236}">
                <a16:creationId xmlns:a16="http://schemas.microsoft.com/office/drawing/2014/main" id="{913E1C95-B6BB-4029-A162-CBD5B835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支付、退款和收费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全校公开社交广场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通用聊天室和推荐算法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基于定位的签到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自动信用处罚或封禁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任意审批流与微服务拆分</a:t>
            </a:r>
          </a:p>
        </p:txBody>
      </p:sp>
      <p:sp>
        <p:nvSpPr>
          <p:cNvPr id="10" name="shape-88">
            <a:extLst xmlns:a="http://schemas.openxmlformats.org/drawingml/2006/main">
              <a:ext uri="{FF2B5EF4-FFF2-40B4-BE49-F238E27FC236}">
                <a16:creationId xmlns:a16="http://schemas.microsoft.com/office/drawing/2014/main" id="{DD1363B2-CFFE-480E-80F0-73ECA896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第二版聊天室与AI单独立项，避免核心版本失控。</a:t>
            </a:r>
          </a:p>
        </p:txBody>
      </p:sp>
    </p:spTree>
    <p:extLst>
      <p:ext uri="{BB962C8B-B14F-4D97-AF65-F5344CB8AC3E}">
        <p14:creationId xmlns:p14="http://schemas.microsoft.com/office/powerpoint/2010/main" val="11624509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-89">
            <a:extLst xmlns:a="http://schemas.openxmlformats.org/drawingml/2006/main">
              <a:ext uri="{FF2B5EF4-FFF2-40B4-BE49-F238E27FC236}">
                <a16:creationId xmlns:a16="http://schemas.microsoft.com/office/drawing/2014/main" id="{F01C86F2-52D6-410E-BA0D-9069644F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范围与架构</a:t>
            </a:r>
          </a:p>
        </p:txBody>
      </p:sp>
      <p:sp>
        <p:nvSpPr>
          <p:cNvPr id="2" name="shape-90">
            <a:extLst xmlns:a="http://schemas.openxmlformats.org/drawingml/2006/main">
              <a:ext uri="{FF2B5EF4-FFF2-40B4-BE49-F238E27FC236}">
                <a16:creationId xmlns:a16="http://schemas.microsoft.com/office/drawing/2014/main" id="{556B9249-064F-4A20-A667-1A3DFFD3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模块化单体最适合当前学习阶段</a:t>
            </a:r>
          </a:p>
        </p:txBody>
      </p:sp>
      <p:cxnSp>
        <p:nvCxnSpPr>
          <p:cNvPr id="14" name="shape-91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92">
            <a:extLst xmlns:a="http://schemas.openxmlformats.org/drawingml/2006/main">
              <a:ext uri="{FF2B5EF4-FFF2-40B4-BE49-F238E27FC236}">
                <a16:creationId xmlns:a16="http://schemas.microsoft.com/office/drawing/2014/main" id="{6142A37B-13C1-4A52-A47A-3455664A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shape-93">
            <a:extLst xmlns:a="http://schemas.openxmlformats.org/drawingml/2006/main">
              <a:ext uri="{FF2B5EF4-FFF2-40B4-BE49-F238E27FC236}">
                <a16:creationId xmlns:a16="http://schemas.microsoft.com/office/drawing/2014/main" id="{CBE70B67-C41A-42BB-83DE-F0078174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为什么不直接做微服务</a:t>
            </a:r>
          </a:p>
        </p:txBody>
      </p:sp>
      <p:sp>
        <p:nvSpPr>
          <p:cNvPr id="6" name="shape-94">
            <a:extLst xmlns:a="http://schemas.openxmlformats.org/drawingml/2006/main">
              <a:ext uri="{FF2B5EF4-FFF2-40B4-BE49-F238E27FC236}">
                <a16:creationId xmlns:a16="http://schemas.microsoft.com/office/drawing/2014/main" id="{00D1D073-1DB9-48BE-8D7D-3028FB1B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5143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95">
            <a:extLst xmlns:a="http://schemas.openxmlformats.org/drawingml/2006/main">
              <a:ext uri="{FF2B5EF4-FFF2-40B4-BE49-F238E27FC236}">
                <a16:creationId xmlns:a16="http://schemas.microsoft.com/office/drawing/2014/main" id="{0D6C67F2-524A-4061-A1CF-AEE76A909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4667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模块尚在快速变化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部署和排障成本过高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分布式事务会掩盖业务学习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单人开发难以获得真实收益</a:t>
            </a:r>
          </a:p>
        </p:txBody>
      </p:sp>
      <p:sp>
        <p:nvSpPr>
          <p:cNvPr id="8" name="shape-96">
            <a:extLst xmlns:a="http://schemas.openxmlformats.org/drawingml/2006/main">
              <a:ext uri="{FF2B5EF4-FFF2-40B4-BE49-F238E27FC236}">
                <a16:creationId xmlns:a16="http://schemas.microsoft.com/office/drawing/2014/main" id="{FBB787D2-6863-46E4-96B0-42CF87AD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模块化单体的收益</a:t>
            </a:r>
          </a:p>
        </p:txBody>
      </p:sp>
      <p:sp>
        <p:nvSpPr>
          <p:cNvPr id="9" name="shape-97">
            <a:extLst xmlns:a="http://schemas.openxmlformats.org/drawingml/2006/main">
              <a:ext uri="{FF2B5EF4-FFF2-40B4-BE49-F238E27FC236}">
                <a16:creationId xmlns:a16="http://schemas.microsoft.com/office/drawing/2014/main" id="{D3AB55C4-D3AE-451C-BF2A-BB31ED72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5143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98">
            <a:extLst xmlns:a="http://schemas.openxmlformats.org/drawingml/2006/main">
              <a:ext uri="{FF2B5EF4-FFF2-40B4-BE49-F238E27FC236}">
                <a16:creationId xmlns:a16="http://schemas.microsoft.com/office/drawing/2014/main" id="{E655FDDA-F9C9-481F-B8C8-A721010A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667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一个Spring Boot应用即可运行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模块边界仍然清晰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事务保证关键业务正确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未来可按事件边界拆分</a:t>
            </a:r>
          </a:p>
        </p:txBody>
      </p:sp>
      <p:sp>
        <p:nvSpPr>
          <p:cNvPr id="11" name="shape-99">
            <a:extLst xmlns:a="http://schemas.openxmlformats.org/drawingml/2006/main">
              <a:ext uri="{FF2B5EF4-FFF2-40B4-BE49-F238E27FC236}">
                <a16:creationId xmlns:a16="http://schemas.microsoft.com/office/drawing/2014/main" id="{52805B85-9876-459A-9443-5FDB9A3C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991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结论：模块化单体 + 事件驱动扩展，而不是“假微服务”。</a:t>
            </a:r>
          </a:p>
        </p:txBody>
      </p:sp>
    </p:spTree>
    <p:extLst>
      <p:ext uri="{BB962C8B-B14F-4D97-AF65-F5344CB8AC3E}">
        <p14:creationId xmlns:p14="http://schemas.microsoft.com/office/powerpoint/2010/main" val="108732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hape-100">
            <a:extLst xmlns:a="http://schemas.openxmlformats.org/drawingml/2006/main">
              <a:ext uri="{FF2B5EF4-FFF2-40B4-BE49-F238E27FC236}">
                <a16:creationId xmlns:a16="http://schemas.microsoft.com/office/drawing/2014/main" id="{8C334FB3-3C1C-475A-8C1C-76599707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范围与架构</a:t>
            </a:r>
          </a:p>
        </p:txBody>
      </p:sp>
      <p:sp>
        <p:nvSpPr>
          <p:cNvPr id="2" name="shape-101">
            <a:extLst xmlns:a="http://schemas.openxmlformats.org/drawingml/2006/main">
              <a:ext uri="{FF2B5EF4-FFF2-40B4-BE49-F238E27FC236}">
                <a16:creationId xmlns:a16="http://schemas.microsoft.com/office/drawing/2014/main" id="{8D3972AD-E719-4FC5-B6E5-105B5BD3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技术栈各自承担清晰责任</a:t>
            </a:r>
          </a:p>
        </p:txBody>
      </p:sp>
      <p:cxnSp>
        <p:nvCxnSpPr>
          <p:cNvPr id="30" name="shape-102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03">
            <a:extLst xmlns:a="http://schemas.openxmlformats.org/drawingml/2006/main">
              <a:ext uri="{FF2B5EF4-FFF2-40B4-BE49-F238E27FC236}">
                <a16:creationId xmlns:a16="http://schemas.microsoft.com/office/drawing/2014/main" id="{90CBD466-763A-4CD7-9BD8-86F94D37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cxnSp>
        <p:nvCxnSpPr>
          <p:cNvPr id="32" name="shape-104"/>
          <p:cNvCxnSpPr/>
          <p:nvPr/>
        </p:nvCxnSpPr>
        <p:spPr>
          <a:xfrm xmlns:a="http://schemas.openxmlformats.org/drawingml/2006/main">
            <a:off x="2381250" y="3333750"/>
            <a:ext cx="7620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3" name="shape-105"/>
          <p:cNvCxnSpPr/>
          <p:nvPr/>
        </p:nvCxnSpPr>
        <p:spPr>
          <a:xfrm xmlns:a="http://schemas.openxmlformats.org/drawingml/2006/main">
            <a:off x="4667250" y="3333750"/>
            <a:ext cx="7620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4" name="shape-106"/>
          <p:cNvCxnSpPr/>
          <p:nvPr/>
        </p:nvCxnSpPr>
        <p:spPr>
          <a:xfrm xmlns:a="http://schemas.openxmlformats.org/drawingml/2006/main">
            <a:off x="6953250" y="3333750"/>
            <a:ext cx="8572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5" name="shape-107"/>
          <p:cNvCxnSpPr/>
          <p:nvPr/>
        </p:nvCxnSpPr>
        <p:spPr>
          <a:xfrm xmlns:a="http://schemas.openxmlformats.org/drawingml/2006/main">
            <a:off x="9334500" y="3333750"/>
            <a:ext cx="5715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9" name="shape-108">
            <a:extLst xmlns:a="http://schemas.openxmlformats.org/drawingml/2006/main">
              <a:ext uri="{FF2B5EF4-FFF2-40B4-BE49-F238E27FC236}">
                <a16:creationId xmlns:a16="http://schemas.microsoft.com/office/drawing/2014/main" id="{BB66245C-B263-4E30-A116-C26C240A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52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109">
            <a:extLst xmlns:a="http://schemas.openxmlformats.org/drawingml/2006/main">
              <a:ext uri="{FF2B5EF4-FFF2-40B4-BE49-F238E27FC236}">
                <a16:creationId xmlns:a16="http://schemas.microsoft.com/office/drawing/2014/main" id="{4A0FB782-6555-4A4F-B562-D39A79EB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Vue 3</a:t>
            </a:r>
          </a:p>
        </p:txBody>
      </p:sp>
      <p:sp>
        <p:nvSpPr>
          <p:cNvPr id="11" name="shape-110">
            <a:extLst xmlns:a="http://schemas.openxmlformats.org/drawingml/2006/main">
              <a:ext uri="{FF2B5EF4-FFF2-40B4-BE49-F238E27FC236}">
                <a16:creationId xmlns:a16="http://schemas.microsoft.com/office/drawing/2014/main" id="{B6A115FD-FBB8-49F9-A021-92D3F1C4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移动端成员 + 管理端</a:t>
            </a:r>
          </a:p>
        </p:txBody>
      </p:sp>
      <p:sp>
        <p:nvSpPr>
          <p:cNvPr id="12" name="shape-111">
            <a:extLst xmlns:a="http://schemas.openxmlformats.org/drawingml/2006/main">
              <a:ext uri="{FF2B5EF4-FFF2-40B4-BE49-F238E27FC236}">
                <a16:creationId xmlns:a16="http://schemas.microsoft.com/office/drawing/2014/main" id="{299351BB-9DF2-488F-9F2D-9FBD71FC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152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-112">
            <a:extLst xmlns:a="http://schemas.openxmlformats.org/drawingml/2006/main">
              <a:ext uri="{FF2B5EF4-FFF2-40B4-BE49-F238E27FC236}">
                <a16:creationId xmlns:a16="http://schemas.microsoft.com/office/drawing/2014/main" id="{EFB33C98-237B-4464-93C4-F4C025A0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527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Nginx</a:t>
            </a:r>
          </a:p>
        </p:txBody>
      </p:sp>
      <p:sp>
        <p:nvSpPr>
          <p:cNvPr id="14" name="shape-113">
            <a:extLst xmlns:a="http://schemas.openxmlformats.org/drawingml/2006/main">
              <a:ext uri="{FF2B5EF4-FFF2-40B4-BE49-F238E27FC236}">
                <a16:creationId xmlns:a16="http://schemas.microsoft.com/office/drawing/2014/main" id="{3ED37A56-3A38-4849-8E90-9E6A0585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静态资源 + /api</a:t>
            </a:r>
          </a:p>
        </p:txBody>
      </p:sp>
      <p:sp>
        <p:nvSpPr>
          <p:cNvPr id="15" name="shape-114">
            <a:extLst xmlns:a="http://schemas.openxmlformats.org/drawingml/2006/main">
              <a:ext uri="{FF2B5EF4-FFF2-40B4-BE49-F238E27FC236}">
                <a16:creationId xmlns:a16="http://schemas.microsoft.com/office/drawing/2014/main" id="{80718EE3-730E-4902-B9D3-687AFC76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1714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-115">
            <a:extLst xmlns:a="http://schemas.openxmlformats.org/drawingml/2006/main">
              <a:ext uri="{FF2B5EF4-FFF2-40B4-BE49-F238E27FC236}">
                <a16:creationId xmlns:a16="http://schemas.microsoft.com/office/drawing/2014/main" id="{023D3A12-31B0-4645-A618-96E0DCE8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6225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Spring Boot</a:t>
            </a:r>
          </a:p>
        </p:txBody>
      </p:sp>
      <p:sp>
        <p:nvSpPr>
          <p:cNvPr id="17" name="shape-116">
            <a:extLst xmlns:a="http://schemas.openxmlformats.org/drawingml/2006/main">
              <a:ext uri="{FF2B5EF4-FFF2-40B4-BE49-F238E27FC236}">
                <a16:creationId xmlns:a16="http://schemas.microsoft.com/office/drawing/2014/main" id="{EEB9F43E-CA8B-4A58-95B4-4796E9E5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62300"/>
            <a:ext cx="1485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模块化单体</a:t>
            </a:r>
          </a:p>
        </p:txBody>
      </p:sp>
      <p:sp>
        <p:nvSpPr>
          <p:cNvPr id="18" name="shape-117">
            <a:extLst xmlns:a="http://schemas.openxmlformats.org/drawingml/2006/main">
              <a:ext uri="{FF2B5EF4-FFF2-40B4-BE49-F238E27FC236}">
                <a16:creationId xmlns:a16="http://schemas.microsoft.com/office/drawing/2014/main" id="{5BA6A4E8-2B21-49DB-A833-E44DD080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-118">
            <a:extLst xmlns:a="http://schemas.openxmlformats.org/drawingml/2006/main">
              <a:ext uri="{FF2B5EF4-FFF2-40B4-BE49-F238E27FC236}">
                <a16:creationId xmlns:a16="http://schemas.microsoft.com/office/drawing/2014/main" id="{5B363426-194B-4D8B-B1F5-D00A18C4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20" name="shape-119">
            <a:extLst xmlns:a="http://schemas.openxmlformats.org/drawingml/2006/main">
              <a:ext uri="{FF2B5EF4-FFF2-40B4-BE49-F238E27FC236}">
                <a16:creationId xmlns:a16="http://schemas.microsoft.com/office/drawing/2014/main" id="{0B45DC87-9B58-4903-A0CD-BA388469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最终事实来源</a:t>
            </a:r>
          </a:p>
        </p:txBody>
      </p:sp>
      <p:sp>
        <p:nvSpPr>
          <p:cNvPr id="21" name="shape-120">
            <a:extLst xmlns:a="http://schemas.openxmlformats.org/drawingml/2006/main">
              <a:ext uri="{FF2B5EF4-FFF2-40B4-BE49-F238E27FC236}">
                <a16:creationId xmlns:a16="http://schemas.microsoft.com/office/drawing/2014/main" id="{114C5E2D-BAA5-4E97-95B6-9EC0D325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90875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-121">
            <a:extLst xmlns:a="http://schemas.openxmlformats.org/drawingml/2006/main">
              <a:ext uri="{FF2B5EF4-FFF2-40B4-BE49-F238E27FC236}">
                <a16:creationId xmlns:a16="http://schemas.microsoft.com/office/drawing/2014/main" id="{9CB94B13-9D2D-45B2-805F-18BDE62D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23" name="shape-122">
            <a:extLst xmlns:a="http://schemas.openxmlformats.org/drawingml/2006/main">
              <a:ext uri="{FF2B5EF4-FFF2-40B4-BE49-F238E27FC236}">
                <a16:creationId xmlns:a16="http://schemas.microsoft.com/office/drawing/2014/main" id="{8FCB3CA0-B409-490E-8832-899F7430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814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缓存与并发增强</a:t>
            </a:r>
          </a:p>
        </p:txBody>
      </p:sp>
      <p:sp>
        <p:nvSpPr>
          <p:cNvPr id="24" name="shape-123">
            <a:extLst xmlns:a="http://schemas.openxmlformats.org/drawingml/2006/main">
              <a:ext uri="{FF2B5EF4-FFF2-40B4-BE49-F238E27FC236}">
                <a16:creationId xmlns:a16="http://schemas.microsoft.com/office/drawing/2014/main" id="{FD69BF53-A749-49BC-A020-A0296AFA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47950"/>
            <a:ext cx="1524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-124">
            <a:extLst xmlns:a="http://schemas.openxmlformats.org/drawingml/2006/main">
              <a:ext uri="{FF2B5EF4-FFF2-40B4-BE49-F238E27FC236}">
                <a16:creationId xmlns:a16="http://schemas.microsoft.com/office/drawing/2014/main" id="{2FD810E8-9946-439E-8312-281FA53B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384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Kafka</a:t>
            </a:r>
          </a:p>
        </p:txBody>
      </p:sp>
      <p:sp>
        <p:nvSpPr>
          <p:cNvPr id="26" name="shape-125">
            <a:extLst xmlns:a="http://schemas.openxmlformats.org/drawingml/2006/main">
              <a:ext uri="{FF2B5EF4-FFF2-40B4-BE49-F238E27FC236}">
                <a16:creationId xmlns:a16="http://schemas.microsoft.com/office/drawing/2014/main" id="{608282D3-700B-45DF-B090-6EE60155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38500"/>
            <a:ext cx="1295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异步事件扩展</a:t>
            </a:r>
          </a:p>
        </p:txBody>
      </p:sp>
      <p:sp>
        <p:nvSpPr>
          <p:cNvPr id="27" name="shape-126">
            <a:extLst xmlns:a="http://schemas.openxmlformats.org/drawingml/2006/main">
              <a:ext uri="{FF2B5EF4-FFF2-40B4-BE49-F238E27FC236}">
                <a16:creationId xmlns:a16="http://schemas.microsoft.com/office/drawing/2014/main" id="{B98C0ADB-57D7-47B3-AE0B-B036A1B9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核心原则：MySQL 保正确，Redis 提性能，Kafka 做异步；任何中间件故障都不能破坏报名最终数据。</a:t>
            </a:r>
          </a:p>
        </p:txBody>
      </p:sp>
    </p:spTree>
    <p:extLst>
      <p:ext uri="{BB962C8B-B14F-4D97-AF65-F5344CB8AC3E}">
        <p14:creationId xmlns:p14="http://schemas.microsoft.com/office/powerpoint/2010/main" val="19125241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hape-127">
            <a:extLst xmlns:a="http://schemas.openxmlformats.org/drawingml/2006/main">
              <a:ext uri="{FF2B5EF4-FFF2-40B4-BE49-F238E27FC236}">
                <a16:creationId xmlns:a16="http://schemas.microsoft.com/office/drawing/2014/main" id="{8D895AC5-32EB-4919-BC2E-8DC74992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范围与架构</a:t>
            </a:r>
          </a:p>
        </p:txBody>
      </p:sp>
      <p:sp>
        <p:nvSpPr>
          <p:cNvPr id="2" name="shape-128">
            <a:extLst xmlns:a="http://schemas.openxmlformats.org/drawingml/2006/main">
              <a:ext uri="{FF2B5EF4-FFF2-40B4-BE49-F238E27FC236}">
                <a16:creationId xmlns:a16="http://schemas.microsoft.com/office/drawing/2014/main" id="{5168686A-06C4-4C6D-8228-7FB4204C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七个业务模块围绕活动闭环协作</a:t>
            </a:r>
          </a:p>
        </p:txBody>
      </p:sp>
      <p:cxnSp>
        <p:nvCxnSpPr>
          <p:cNvPr id="15" name="shape-129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30">
            <a:extLst xmlns:a="http://schemas.openxmlformats.org/drawingml/2006/main">
              <a:ext uri="{FF2B5EF4-FFF2-40B4-BE49-F238E27FC236}">
                <a16:creationId xmlns:a16="http://schemas.microsoft.com/office/drawing/2014/main" id="{483EFE5A-3B8B-4432-8CF7-38FCEAA1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shape-131">
            <a:extLst xmlns:a="http://schemas.openxmlformats.org/drawingml/2006/main">
              <a:ext uri="{FF2B5EF4-FFF2-40B4-BE49-F238E27FC236}">
                <a16:creationId xmlns:a16="http://schemas.microsoft.com/office/drawing/2014/main" id="{850F1E18-D8A2-4E8E-82C5-0389C637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身份与组织</a:t>
            </a:r>
          </a:p>
        </p:txBody>
      </p:sp>
      <p:sp>
        <p:nvSpPr>
          <p:cNvPr id="6" name="shape-132">
            <a:extLst xmlns:a="http://schemas.openxmlformats.org/drawingml/2006/main">
              <a:ext uri="{FF2B5EF4-FFF2-40B4-BE49-F238E27FC236}">
                <a16:creationId xmlns:a16="http://schemas.microsoft.com/office/drawing/2014/main" id="{74958482-E410-4BBE-BD84-098A3F97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auth：登录、刷新、退出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organization：成员、邀请、角色</a:t>
            </a:r>
          </a:p>
        </p:txBody>
      </p:sp>
      <p:sp>
        <p:nvSpPr>
          <p:cNvPr id="7" name="shape-133">
            <a:extLst xmlns:a="http://schemas.openxmlformats.org/drawingml/2006/main">
              <a:ext uri="{FF2B5EF4-FFF2-40B4-BE49-F238E27FC236}">
                <a16:creationId xmlns:a16="http://schemas.microsoft.com/office/drawing/2014/main" id="{260D7CE0-AC75-4F7E-A1DD-BB29637E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134">
            <a:extLst xmlns:a="http://schemas.openxmlformats.org/drawingml/2006/main">
              <a:ext uri="{FF2B5EF4-FFF2-40B4-BE49-F238E27FC236}">
                <a16:creationId xmlns:a16="http://schemas.microsoft.com/office/drawing/2014/main" id="{CF3DBF3E-8E1A-4AB5-9F29-81C63DCC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核心活动</a:t>
            </a:r>
          </a:p>
        </p:txBody>
      </p:sp>
      <p:sp>
        <p:nvSpPr>
          <p:cNvPr id="9" name="shape-135">
            <a:extLst xmlns:a="http://schemas.openxmlformats.org/drawingml/2006/main">
              <a:ext uri="{FF2B5EF4-FFF2-40B4-BE49-F238E27FC236}">
                <a16:creationId xmlns:a16="http://schemas.microsoft.com/office/drawing/2014/main" id="{D0396E7A-1196-453D-95E0-9B5B4E32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activity：发布与变更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registration：报名、审核、候补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checkin：签到与补签</a:t>
            </a:r>
          </a:p>
        </p:txBody>
      </p:sp>
      <p:sp>
        <p:nvSpPr>
          <p:cNvPr id="10" name="shape-136">
            <a:extLst xmlns:a="http://schemas.openxmlformats.org/drawingml/2006/main">
              <a:ext uri="{FF2B5EF4-FFF2-40B4-BE49-F238E27FC236}">
                <a16:creationId xmlns:a16="http://schemas.microsoft.com/office/drawing/2014/main" id="{08AE72C6-04BA-4CC2-A3A0-96EBAEF3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-137">
            <a:extLst xmlns:a="http://schemas.openxmlformats.org/drawingml/2006/main">
              <a:ext uri="{FF2B5EF4-FFF2-40B4-BE49-F238E27FC236}">
                <a16:creationId xmlns:a16="http://schemas.microsoft.com/office/drawing/2014/main" id="{619993E4-5E8A-4F95-849F-DFE9109A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支撑能力</a:t>
            </a:r>
          </a:p>
        </p:txBody>
      </p:sp>
      <p:sp>
        <p:nvSpPr>
          <p:cNvPr id="12" name="shape-138">
            <a:extLst xmlns:a="http://schemas.openxmlformats.org/drawingml/2006/main">
              <a:ext uri="{FF2B5EF4-FFF2-40B4-BE49-F238E27FC236}">
                <a16:creationId xmlns:a16="http://schemas.microsoft.com/office/drawing/2014/main" id="{908FFCA0-EBED-4694-ADD4-0AB35D61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notification：站内通知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audit：关键操作留痕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infrastructure：DB、Redis、Kafka</a:t>
            </a:r>
          </a:p>
        </p:txBody>
      </p:sp>
    </p:spTree>
    <p:extLst>
      <p:ext uri="{BB962C8B-B14F-4D97-AF65-F5344CB8AC3E}">
        <p14:creationId xmlns:p14="http://schemas.microsoft.com/office/powerpoint/2010/main" val="14347889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hape-139">
            <a:extLst xmlns:a="http://schemas.openxmlformats.org/drawingml/2006/main">
              <a:ext uri="{FF2B5EF4-FFF2-40B4-BE49-F238E27FC236}">
                <a16:creationId xmlns:a16="http://schemas.microsoft.com/office/drawing/2014/main" id="{96B8A3E2-1074-49FE-9D25-7C35D1A9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范围与架构</a:t>
            </a:r>
          </a:p>
        </p:txBody>
      </p:sp>
      <p:sp>
        <p:nvSpPr>
          <p:cNvPr id="2" name="shape-140">
            <a:extLst xmlns:a="http://schemas.openxmlformats.org/drawingml/2006/main">
              <a:ext uri="{FF2B5EF4-FFF2-40B4-BE49-F238E27FC236}">
                <a16:creationId xmlns:a16="http://schemas.microsoft.com/office/drawing/2014/main" id="{38575279-49A2-4983-BA28-BF655746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四种角色形成清晰的责任链</a:t>
            </a:r>
          </a:p>
        </p:txBody>
      </p:sp>
      <p:cxnSp>
        <p:nvCxnSpPr>
          <p:cNvPr id="17" name="shape-141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42">
            <a:extLst xmlns:a="http://schemas.openxmlformats.org/drawingml/2006/main">
              <a:ext uri="{FF2B5EF4-FFF2-40B4-BE49-F238E27FC236}">
                <a16:creationId xmlns:a16="http://schemas.microsoft.com/office/drawing/2014/main" id="{873FD3B0-7F27-4902-9D31-0E38AB8E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shape-143">
            <a:extLst xmlns:a="http://schemas.openxmlformats.org/drawingml/2006/main">
              <a:ext uri="{FF2B5EF4-FFF2-40B4-BE49-F238E27FC236}">
                <a16:creationId xmlns:a16="http://schemas.microsoft.com/office/drawing/2014/main" id="{37897221-E8C8-470A-834E-1AF8F142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平台管理员</a:t>
            </a:r>
          </a:p>
        </p:txBody>
      </p:sp>
      <p:sp>
        <p:nvSpPr>
          <p:cNvPr id="6" name="shape-144">
            <a:extLst xmlns:a="http://schemas.openxmlformats.org/drawingml/2006/main">
              <a:ext uri="{FF2B5EF4-FFF2-40B4-BE49-F238E27FC236}">
                <a16:creationId xmlns:a16="http://schemas.microsoft.com/office/drawing/2014/main" id="{D336F86A-4042-4DC3-9F38-1E1F7B9E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创建组织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指定组织负责人</a:t>
            </a:r>
          </a:p>
        </p:txBody>
      </p:sp>
      <p:sp>
        <p:nvSpPr>
          <p:cNvPr id="7" name="shape-145">
            <a:extLst xmlns:a="http://schemas.openxmlformats.org/drawingml/2006/main">
              <a:ext uri="{FF2B5EF4-FFF2-40B4-BE49-F238E27FC236}">
                <a16:creationId xmlns:a16="http://schemas.microsoft.com/office/drawing/2014/main" id="{08087FA6-6623-4731-ABA6-1FA07C49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组织负责人</a:t>
            </a:r>
          </a:p>
        </p:txBody>
      </p:sp>
      <p:sp>
        <p:nvSpPr>
          <p:cNvPr id="8" name="shape-146">
            <a:extLst xmlns:a="http://schemas.openxmlformats.org/drawingml/2006/main">
              <a:ext uri="{FF2B5EF4-FFF2-40B4-BE49-F238E27FC236}">
                <a16:creationId xmlns:a16="http://schemas.microsoft.com/office/drawing/2014/main" id="{650EF38A-680F-4050-8862-6334F7BD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管理成员和角色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管理本组织全部活动</a:t>
            </a:r>
          </a:p>
        </p:txBody>
      </p:sp>
      <p:sp>
        <p:nvSpPr>
          <p:cNvPr id="9" name="shape-147">
            <a:extLst xmlns:a="http://schemas.openxmlformats.org/drawingml/2006/main">
              <a:ext uri="{FF2B5EF4-FFF2-40B4-BE49-F238E27FC236}">
                <a16:creationId xmlns:a16="http://schemas.microsoft.com/office/drawing/2014/main" id="{805F3349-BED6-427D-ABE8-4E39BD9C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活动管理员</a:t>
            </a:r>
          </a:p>
        </p:txBody>
      </p:sp>
      <p:sp>
        <p:nvSpPr>
          <p:cNvPr id="10" name="shape-148">
            <a:extLst xmlns:a="http://schemas.openxmlformats.org/drawingml/2006/main">
              <a:ext uri="{FF2B5EF4-FFF2-40B4-BE49-F238E27FC236}">
                <a16:creationId xmlns:a16="http://schemas.microsoft.com/office/drawing/2014/main" id="{07F5CBA8-16EA-438D-AE77-F948E54F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发布、审核、候补、签到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第一版可管理组织内全部活动</a:t>
            </a:r>
          </a:p>
        </p:txBody>
      </p:sp>
      <p:sp>
        <p:nvSpPr>
          <p:cNvPr id="11" name="shape-149">
            <a:extLst xmlns:a="http://schemas.openxmlformats.org/drawingml/2006/main">
              <a:ext uri="{FF2B5EF4-FFF2-40B4-BE49-F238E27FC236}">
                <a16:creationId xmlns:a16="http://schemas.microsoft.com/office/drawing/2014/main" id="{A3C8B87F-D522-4172-8D60-EC2A7191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普通成员</a:t>
            </a:r>
          </a:p>
        </p:txBody>
      </p:sp>
      <p:sp>
        <p:nvSpPr>
          <p:cNvPr id="12" name="shape-150">
            <a:extLst xmlns:a="http://schemas.openxmlformats.org/drawingml/2006/main">
              <a:ext uri="{FF2B5EF4-FFF2-40B4-BE49-F238E27FC236}">
                <a16:creationId xmlns:a16="http://schemas.microsoft.com/office/drawing/2014/main" id="{4BBF4A91-1B0E-40D1-92E0-7EF14B2F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浏览与报名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操作自己的候补、签到、通知</a:t>
            </a:r>
          </a:p>
        </p:txBody>
      </p:sp>
      <p:sp>
        <p:nvSpPr>
          <p:cNvPr id="13" name="shape-151">
            <a:extLst xmlns:a="http://schemas.openxmlformats.org/drawingml/2006/main">
              <a:ext uri="{FF2B5EF4-FFF2-40B4-BE49-F238E27FC236}">
                <a16:creationId xmlns:a16="http://schemas.microsoft.com/office/drawing/2014/main" id="{B7520713-E067-4182-B6D5-C89404A1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76400"/>
            <a:ext cx="1143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-152">
            <a:extLst xmlns:a="http://schemas.openxmlformats.org/drawingml/2006/main">
              <a:ext uri="{FF2B5EF4-FFF2-40B4-BE49-F238E27FC236}">
                <a16:creationId xmlns:a16="http://schemas.microsoft.com/office/drawing/2014/main" id="{C55859FD-DBEA-4321-A5B8-899E4D62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110013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54646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hape-153">
            <a:extLst xmlns:a="http://schemas.openxmlformats.org/drawingml/2006/main">
              <a:ext uri="{FF2B5EF4-FFF2-40B4-BE49-F238E27FC236}">
                <a16:creationId xmlns:a16="http://schemas.microsoft.com/office/drawing/2014/main" id="{1D0A4D7A-12BB-4D4B-A7EF-8ABD7427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范围与架构</a:t>
            </a:r>
          </a:p>
        </p:txBody>
      </p:sp>
      <p:sp>
        <p:nvSpPr>
          <p:cNvPr id="2" name="shape-154">
            <a:extLst xmlns:a="http://schemas.openxmlformats.org/drawingml/2006/main">
              <a:ext uri="{FF2B5EF4-FFF2-40B4-BE49-F238E27FC236}">
                <a16:creationId xmlns:a16="http://schemas.microsoft.com/office/drawing/2014/main" id="{8821E0A7-A0F7-402E-83A9-0ECC9BA9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组织从创建到投入使用经过五步</a:t>
            </a:r>
          </a:p>
        </p:txBody>
      </p:sp>
      <p:cxnSp>
        <p:nvCxnSpPr>
          <p:cNvPr id="24" name="shape-155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56">
            <a:extLst xmlns:a="http://schemas.openxmlformats.org/drawingml/2006/main">
              <a:ext uri="{FF2B5EF4-FFF2-40B4-BE49-F238E27FC236}">
                <a16:creationId xmlns:a16="http://schemas.microsoft.com/office/drawing/2014/main" id="{FF45B7A8-C4CA-48BC-B98F-4F92540E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cxnSp>
        <p:nvCxnSpPr>
          <p:cNvPr id="26" name="shape-157"/>
          <p:cNvCxnSpPr/>
          <p:nvPr/>
        </p:nvCxnSpPr>
        <p:spPr>
          <a:xfrm xmlns:a="http://schemas.openxmlformats.org/drawingml/2006/main">
            <a:off x="514350" y="3571875"/>
            <a:ext cx="111633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shape-158">
            <a:extLst xmlns:a="http://schemas.openxmlformats.org/drawingml/2006/main">
              <a:ext uri="{FF2B5EF4-FFF2-40B4-BE49-F238E27FC236}">
                <a16:creationId xmlns:a16="http://schemas.microsoft.com/office/drawing/2014/main" id="{A834CEF0-0F78-4892-B000-5FC75D14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159">
            <a:extLst xmlns:a="http://schemas.openxmlformats.org/drawingml/2006/main">
              <a:ext uri="{FF2B5EF4-FFF2-40B4-BE49-F238E27FC236}">
                <a16:creationId xmlns:a16="http://schemas.microsoft.com/office/drawing/2014/main" id="{FE5D3849-606C-4A83-B07F-998D3B6A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创建组织</a:t>
            </a:r>
          </a:p>
        </p:txBody>
      </p:sp>
      <p:sp>
        <p:nvSpPr>
          <p:cNvPr id="8" name="shape-160">
            <a:extLst xmlns:a="http://schemas.openxmlformats.org/drawingml/2006/main">
              <a:ext uri="{FF2B5EF4-FFF2-40B4-BE49-F238E27FC236}">
                <a16:creationId xmlns:a16="http://schemas.microsoft.com/office/drawing/2014/main" id="{59B50AFE-7ABF-4D81-957E-458DBC07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平台管理员</a:t>
            </a:r>
          </a:p>
        </p:txBody>
      </p:sp>
      <p:sp>
        <p:nvSpPr>
          <p:cNvPr id="9" name="shape-161">
            <a:extLst xmlns:a="http://schemas.openxmlformats.org/drawingml/2006/main">
              <a:ext uri="{FF2B5EF4-FFF2-40B4-BE49-F238E27FC236}">
                <a16:creationId xmlns:a16="http://schemas.microsoft.com/office/drawing/2014/main" id="{4F7FB991-E409-4D64-BC00-D8F46B0E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162">
            <a:extLst xmlns:a="http://schemas.openxmlformats.org/drawingml/2006/main">
              <a:ext uri="{FF2B5EF4-FFF2-40B4-BE49-F238E27FC236}">
                <a16:creationId xmlns:a16="http://schemas.microsoft.com/office/drawing/2014/main" id="{6BF46895-7A97-4245-990F-E8EF365D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指定负责人</a:t>
            </a:r>
          </a:p>
        </p:txBody>
      </p:sp>
      <p:sp>
        <p:nvSpPr>
          <p:cNvPr id="11" name="shape-163">
            <a:extLst xmlns:a="http://schemas.openxmlformats.org/drawingml/2006/main">
              <a:ext uri="{FF2B5EF4-FFF2-40B4-BE49-F238E27FC236}">
                <a16:creationId xmlns:a16="http://schemas.microsoft.com/office/drawing/2014/main" id="{139E5D68-FED6-4AE1-97C7-7796F3E5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建立责任人</a:t>
            </a:r>
          </a:p>
        </p:txBody>
      </p:sp>
      <p:sp>
        <p:nvSpPr>
          <p:cNvPr id="12" name="shape-164">
            <a:extLst xmlns:a="http://schemas.openxmlformats.org/drawingml/2006/main">
              <a:ext uri="{FF2B5EF4-FFF2-40B4-BE49-F238E27FC236}">
                <a16:creationId xmlns:a16="http://schemas.microsoft.com/office/drawing/2014/main" id="{2FC83967-FBF8-417E-9F42-D118A5D1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-165">
            <a:extLst xmlns:a="http://schemas.openxmlformats.org/drawingml/2006/main">
              <a:ext uri="{FF2B5EF4-FFF2-40B4-BE49-F238E27FC236}">
                <a16:creationId xmlns:a16="http://schemas.microsoft.com/office/drawing/2014/main" id="{CF42CA49-590B-4F4E-92ED-58F4D180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生成邀请</a:t>
            </a:r>
          </a:p>
        </p:txBody>
      </p:sp>
      <p:sp>
        <p:nvSpPr>
          <p:cNvPr id="14" name="shape-166">
            <a:extLst xmlns:a="http://schemas.openxmlformats.org/drawingml/2006/main">
              <a:ext uri="{FF2B5EF4-FFF2-40B4-BE49-F238E27FC236}">
                <a16:creationId xmlns:a16="http://schemas.microsoft.com/office/drawing/2014/main" id="{DE6033E4-C79F-4CB7-A45A-8C768D49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邀请码或链接</a:t>
            </a:r>
          </a:p>
        </p:txBody>
      </p:sp>
      <p:sp>
        <p:nvSpPr>
          <p:cNvPr id="15" name="shape-167">
            <a:extLst xmlns:a="http://schemas.openxmlformats.org/drawingml/2006/main">
              <a:ext uri="{FF2B5EF4-FFF2-40B4-BE49-F238E27FC236}">
                <a16:creationId xmlns:a16="http://schemas.microsoft.com/office/drawing/2014/main" id="{25C85EA8-16C7-4F2A-A215-731AA38C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-168">
            <a:extLst xmlns:a="http://schemas.openxmlformats.org/drawingml/2006/main">
              <a:ext uri="{FF2B5EF4-FFF2-40B4-BE49-F238E27FC236}">
                <a16:creationId xmlns:a16="http://schemas.microsoft.com/office/drawing/2014/main" id="{D83F013D-3090-43B0-AC66-8A527E1E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成员加入</a:t>
            </a:r>
          </a:p>
        </p:txBody>
      </p:sp>
      <p:sp>
        <p:nvSpPr>
          <p:cNvPr id="17" name="shape-169">
            <a:extLst xmlns:a="http://schemas.openxmlformats.org/drawingml/2006/main">
              <a:ext uri="{FF2B5EF4-FFF2-40B4-BE49-F238E27FC236}">
                <a16:creationId xmlns:a16="http://schemas.microsoft.com/office/drawing/2014/main" id="{C683949F-18E7-478A-949F-8B5269BF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建立组织关系</a:t>
            </a:r>
          </a:p>
        </p:txBody>
      </p:sp>
      <p:sp>
        <p:nvSpPr>
          <p:cNvPr id="18" name="shape-170">
            <a:extLst xmlns:a="http://schemas.openxmlformats.org/drawingml/2006/main">
              <a:ext uri="{FF2B5EF4-FFF2-40B4-BE49-F238E27FC236}">
                <a16:creationId xmlns:a16="http://schemas.microsoft.com/office/drawing/2014/main" id="{F06868D3-2EDB-462A-8386-0F8CEC44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-171">
            <a:extLst xmlns:a="http://schemas.openxmlformats.org/drawingml/2006/main">
              <a:ext uri="{FF2B5EF4-FFF2-40B4-BE49-F238E27FC236}">
                <a16:creationId xmlns:a16="http://schemas.microsoft.com/office/drawing/2014/main" id="{D6F175CC-951A-45C1-9857-E9C55FB9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授予角色</a:t>
            </a:r>
          </a:p>
        </p:txBody>
      </p:sp>
      <p:sp>
        <p:nvSpPr>
          <p:cNvPr id="20" name="shape-172">
            <a:extLst xmlns:a="http://schemas.openxmlformats.org/drawingml/2006/main">
              <a:ext uri="{FF2B5EF4-FFF2-40B4-BE49-F238E27FC236}">
                <a16:creationId xmlns:a16="http://schemas.microsoft.com/office/drawing/2014/main" id="{DB3BD4B8-0033-41A6-8A21-EF1B239F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负责人授权</a:t>
            </a:r>
          </a:p>
        </p:txBody>
      </p:sp>
      <p:sp>
        <p:nvSpPr>
          <p:cNvPr id="21" name="shape-173">
            <a:extLst xmlns:a="http://schemas.openxmlformats.org/drawingml/2006/main">
              <a:ext uri="{FF2B5EF4-FFF2-40B4-BE49-F238E27FC236}">
                <a16:creationId xmlns:a16="http://schemas.microsoft.com/office/drawing/2014/main" id="{29AA19C3-0C30-4244-9BE6-45FDA1F8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系统按多组织架构设计，首轮只运营一个组织；前端隐藏按钮不等于后端权限。</a:t>
            </a:r>
          </a:p>
        </p:txBody>
      </p:sp>
    </p:spTree>
    <p:extLst>
      <p:ext uri="{BB962C8B-B14F-4D97-AF65-F5344CB8AC3E}">
        <p14:creationId xmlns:p14="http://schemas.microsoft.com/office/powerpoint/2010/main" val="19298244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174">
            <a:extLst xmlns:a="http://schemas.openxmlformats.org/drawingml/2006/main">
              <a:ext uri="{FF2B5EF4-FFF2-40B4-BE49-F238E27FC236}">
                <a16:creationId xmlns:a16="http://schemas.microsoft.com/office/drawing/2014/main" id="{99B9CB9D-DE22-4CE3-92AA-D742726B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2" name="shape-175">
            <a:extLst xmlns:a="http://schemas.openxmlformats.org/drawingml/2006/main">
              <a:ext uri="{FF2B5EF4-FFF2-40B4-BE49-F238E27FC236}">
                <a16:creationId xmlns:a16="http://schemas.microsoft.com/office/drawing/2014/main" id="{E83BBB03-6B3A-466E-9D81-FD79761F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52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核心业务流程与状态</a:t>
            </a:r>
          </a:p>
        </p:txBody>
      </p:sp>
      <p:sp>
        <p:nvSpPr>
          <p:cNvPr id="3" name="shape-176">
            <a:extLst xmlns:a="http://schemas.openxmlformats.org/drawingml/2006/main">
              <a:ext uri="{FF2B5EF4-FFF2-40B4-BE49-F238E27FC236}">
                <a16:creationId xmlns:a16="http://schemas.microsoft.com/office/drawing/2014/main" id="{71403800-6C58-402A-AB3E-FE8198FB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让取消后的名额真正流动起来，是项目区别于普通报名表的关键。</a:t>
            </a:r>
          </a:p>
        </p:txBody>
      </p:sp>
      <p:cxnSp>
        <p:nvCxnSpPr>
          <p:cNvPr id="9" name="shape-177"/>
          <p:cNvCxnSpPr/>
          <p:nvPr/>
        </p:nvCxnSpPr>
        <p:spPr>
          <a:xfrm xmlns:a="http://schemas.openxmlformats.org/drawingml/2006/main">
            <a:off x="400050" y="57150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5" name="shape-178">
            <a:extLst xmlns:a="http://schemas.openxmlformats.org/drawingml/2006/main">
              <a:ext uri="{FF2B5EF4-FFF2-40B4-BE49-F238E27FC236}">
                <a16:creationId xmlns:a16="http://schemas.microsoft.com/office/drawing/2014/main" id="{90F5A78A-C164-4870-99A3-A2ED4939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9626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004194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hape-179">
            <a:extLst xmlns:a="http://schemas.openxmlformats.org/drawingml/2006/main">
              <a:ext uri="{FF2B5EF4-FFF2-40B4-BE49-F238E27FC236}">
                <a16:creationId xmlns:a16="http://schemas.microsoft.com/office/drawing/2014/main" id="{C7A7DEA8-78D5-4B93-9218-683CD604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业务闭环</a:t>
            </a:r>
          </a:p>
        </p:txBody>
      </p:sp>
      <p:sp>
        <p:nvSpPr>
          <p:cNvPr id="2" name="shape-180">
            <a:extLst xmlns:a="http://schemas.openxmlformats.org/drawingml/2006/main">
              <a:ext uri="{FF2B5EF4-FFF2-40B4-BE49-F238E27FC236}">
                <a16:creationId xmlns:a16="http://schemas.microsoft.com/office/drawing/2014/main" id="{EC89CC06-4C07-4EB9-BFAD-D43A1CA1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活动生命周期保持简单且可审计</a:t>
            </a:r>
          </a:p>
        </p:txBody>
      </p:sp>
      <p:cxnSp>
        <p:nvCxnSpPr>
          <p:cNvPr id="21" name="shape-181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82">
            <a:extLst xmlns:a="http://schemas.openxmlformats.org/drawingml/2006/main">
              <a:ext uri="{FF2B5EF4-FFF2-40B4-BE49-F238E27FC236}">
                <a16:creationId xmlns:a16="http://schemas.microsoft.com/office/drawing/2014/main" id="{217DFC37-5848-409B-9CC9-F98EF1C7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cxnSp>
        <p:nvCxnSpPr>
          <p:cNvPr id="23" name="shape-183"/>
          <p:cNvCxnSpPr/>
          <p:nvPr/>
        </p:nvCxnSpPr>
        <p:spPr>
          <a:xfrm xmlns:a="http://schemas.openxmlformats.org/drawingml/2006/main">
            <a:off x="514350" y="3571875"/>
            <a:ext cx="111633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shape-184">
            <a:extLst xmlns:a="http://schemas.openxmlformats.org/drawingml/2006/main">
              <a:ext uri="{FF2B5EF4-FFF2-40B4-BE49-F238E27FC236}">
                <a16:creationId xmlns:a16="http://schemas.microsoft.com/office/drawing/2014/main" id="{770CF794-4F18-4998-8C5C-E3F13CC4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185">
            <a:extLst xmlns:a="http://schemas.openxmlformats.org/drawingml/2006/main">
              <a:ext uri="{FF2B5EF4-FFF2-40B4-BE49-F238E27FC236}">
                <a16:creationId xmlns:a16="http://schemas.microsoft.com/office/drawing/2014/main" id="{80570B75-B4D2-40AE-A8C5-67332F23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DRAFT</a:t>
            </a:r>
          </a:p>
        </p:txBody>
      </p:sp>
      <p:sp>
        <p:nvSpPr>
          <p:cNvPr id="8" name="shape-186">
            <a:extLst xmlns:a="http://schemas.openxmlformats.org/drawingml/2006/main">
              <a:ext uri="{FF2B5EF4-FFF2-40B4-BE49-F238E27FC236}">
                <a16:creationId xmlns:a16="http://schemas.microsoft.com/office/drawing/2014/main" id="{8399BD2C-7263-4B61-A022-D4E68CBA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全部字段可编辑</a:t>
            </a:r>
          </a:p>
        </p:txBody>
      </p:sp>
      <p:sp>
        <p:nvSpPr>
          <p:cNvPr id="9" name="shape-187">
            <a:extLst xmlns:a="http://schemas.openxmlformats.org/drawingml/2006/main">
              <a:ext uri="{FF2B5EF4-FFF2-40B4-BE49-F238E27FC236}">
                <a16:creationId xmlns:a16="http://schemas.microsoft.com/office/drawing/2014/main" id="{C74B188F-63E2-4878-A490-850A1780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4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188">
            <a:extLst xmlns:a="http://schemas.openxmlformats.org/drawingml/2006/main">
              <a:ext uri="{FF2B5EF4-FFF2-40B4-BE49-F238E27FC236}">
                <a16:creationId xmlns:a16="http://schemas.microsoft.com/office/drawing/2014/main" id="{453F85B7-B1CC-4BB6-A8D2-9C0C365B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8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PUBLISHED</a:t>
            </a:r>
          </a:p>
        </p:txBody>
      </p:sp>
      <p:sp>
        <p:nvSpPr>
          <p:cNvPr id="11" name="shape-189">
            <a:extLst xmlns:a="http://schemas.openxmlformats.org/drawingml/2006/main">
              <a:ext uri="{FF2B5EF4-FFF2-40B4-BE49-F238E27FC236}">
                <a16:creationId xmlns:a16="http://schemas.microsoft.com/office/drawing/2014/main" id="{47F926DD-C8F8-483B-AE44-45DFFA93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8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成员可见与报名</a:t>
            </a:r>
          </a:p>
        </p:txBody>
      </p:sp>
      <p:sp>
        <p:nvSpPr>
          <p:cNvPr id="12" name="shape-190">
            <a:extLst xmlns:a="http://schemas.openxmlformats.org/drawingml/2006/main">
              <a:ext uri="{FF2B5EF4-FFF2-40B4-BE49-F238E27FC236}">
                <a16:creationId xmlns:a16="http://schemas.microsoft.com/office/drawing/2014/main" id="{C9BA2B4C-FA0F-4537-80BE-840C1E03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5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-191">
            <a:extLst xmlns:a="http://schemas.openxmlformats.org/drawingml/2006/main">
              <a:ext uri="{FF2B5EF4-FFF2-40B4-BE49-F238E27FC236}">
                <a16:creationId xmlns:a16="http://schemas.microsoft.com/office/drawing/2014/main" id="{CC8C521B-88E7-4AB4-B0EC-530F5B15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39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FINISHED</a:t>
            </a:r>
          </a:p>
        </p:txBody>
      </p:sp>
      <p:sp>
        <p:nvSpPr>
          <p:cNvPr id="14" name="shape-192">
            <a:extLst xmlns:a="http://schemas.openxmlformats.org/drawingml/2006/main">
              <a:ext uri="{FF2B5EF4-FFF2-40B4-BE49-F238E27FC236}">
                <a16:creationId xmlns:a16="http://schemas.microsoft.com/office/drawing/2014/main" id="{C50A11F1-E25B-4E3D-A607-3A601C21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39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结束、统计、只读</a:t>
            </a:r>
          </a:p>
        </p:txBody>
      </p:sp>
      <p:sp>
        <p:nvSpPr>
          <p:cNvPr id="15" name="shape-193">
            <a:extLst xmlns:a="http://schemas.openxmlformats.org/drawingml/2006/main">
              <a:ext uri="{FF2B5EF4-FFF2-40B4-BE49-F238E27FC236}">
                <a16:creationId xmlns:a16="http://schemas.microsoft.com/office/drawing/2014/main" id="{98D2D70C-1431-4842-B364-5F50BFEE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-194">
            <a:extLst xmlns:a="http://schemas.openxmlformats.org/drawingml/2006/main">
              <a:ext uri="{FF2B5EF4-FFF2-40B4-BE49-F238E27FC236}">
                <a16:creationId xmlns:a16="http://schemas.microsoft.com/office/drawing/2014/main" id="{49C22DD0-679B-4DCB-A354-5072ACB7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CANCELED</a:t>
            </a:r>
          </a:p>
        </p:txBody>
      </p:sp>
      <p:sp>
        <p:nvSpPr>
          <p:cNvPr id="17" name="shape-195">
            <a:extLst xmlns:a="http://schemas.openxmlformats.org/drawingml/2006/main">
              <a:ext uri="{FF2B5EF4-FFF2-40B4-BE49-F238E27FC236}">
                <a16:creationId xmlns:a16="http://schemas.microsoft.com/office/drawing/2014/main" id="{61CD4189-4CE3-4CF4-9619-BA26E279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终止报名与签到</a:t>
            </a:r>
          </a:p>
        </p:txBody>
      </p:sp>
      <p:sp>
        <p:nvSpPr>
          <p:cNvPr id="18" name="shape-196">
            <a:extLst xmlns:a="http://schemas.openxmlformats.org/drawingml/2006/main">
              <a:ext uri="{FF2B5EF4-FFF2-40B4-BE49-F238E27FC236}">
                <a16:creationId xmlns:a16="http://schemas.microsoft.com/office/drawing/2014/main" id="{A5944503-4112-43DD-A6BA-3AA9925E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“报名中”由活动状态和报名起止时间计算，不保存容易失真的冗余状态。</a:t>
            </a:r>
          </a:p>
        </p:txBody>
      </p:sp>
    </p:spTree>
    <p:extLst>
      <p:ext uri="{BB962C8B-B14F-4D97-AF65-F5344CB8AC3E}">
        <p14:creationId xmlns:p14="http://schemas.microsoft.com/office/powerpoint/2010/main" val="9491370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-197">
            <a:extLst xmlns:a="http://schemas.openxmlformats.org/drawingml/2006/main">
              <a:ext uri="{FF2B5EF4-FFF2-40B4-BE49-F238E27FC236}">
                <a16:creationId xmlns:a16="http://schemas.microsoft.com/office/drawing/2014/main" id="{36DFEE99-F79B-4150-8BE2-E06E280A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业务闭环</a:t>
            </a:r>
          </a:p>
        </p:txBody>
      </p:sp>
      <p:sp>
        <p:nvSpPr>
          <p:cNvPr id="2" name="shape-198">
            <a:extLst xmlns:a="http://schemas.openxmlformats.org/drawingml/2006/main">
              <a:ext uri="{FF2B5EF4-FFF2-40B4-BE49-F238E27FC236}">
                <a16:creationId xmlns:a16="http://schemas.microsoft.com/office/drawing/2014/main" id="{65C928B1-6620-43E8-A54E-965AF8B5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两种报名模式覆盖大多数校园活动</a:t>
            </a:r>
          </a:p>
        </p:txBody>
      </p:sp>
      <p:cxnSp>
        <p:nvCxnSpPr>
          <p:cNvPr id="14" name="shape-199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200">
            <a:extLst xmlns:a="http://schemas.openxmlformats.org/drawingml/2006/main">
              <a:ext uri="{FF2B5EF4-FFF2-40B4-BE49-F238E27FC236}">
                <a16:creationId xmlns:a16="http://schemas.microsoft.com/office/drawing/2014/main" id="{9B5AB8FE-04AE-4ED0-878A-24CF8190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shape-201">
            <a:extLst xmlns:a="http://schemas.openxmlformats.org/drawingml/2006/main">
              <a:ext uri="{FF2B5EF4-FFF2-40B4-BE49-F238E27FC236}">
                <a16:creationId xmlns:a16="http://schemas.microsoft.com/office/drawing/2014/main" id="{30E4D75E-67CC-421B-BF7C-FB8BBCD8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FIRST_COME 先到先得</a:t>
            </a:r>
          </a:p>
        </p:txBody>
      </p:sp>
      <p:sp>
        <p:nvSpPr>
          <p:cNvPr id="6" name="shape-202">
            <a:extLst xmlns:a="http://schemas.openxmlformats.org/drawingml/2006/main">
              <a:ext uri="{FF2B5EF4-FFF2-40B4-BE49-F238E27FC236}">
                <a16:creationId xmlns:a16="http://schemas.microsoft.com/office/drawing/2014/main" id="{D7B208B1-EC42-4081-BB86-9DF49547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5143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203">
            <a:extLst xmlns:a="http://schemas.openxmlformats.org/drawingml/2006/main">
              <a:ext uri="{FF2B5EF4-FFF2-40B4-BE49-F238E27FC236}">
                <a16:creationId xmlns:a16="http://schemas.microsoft.com/office/drawing/2014/main" id="{C1A4EC25-C388-40F0-94FE-81396461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4667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有名额时直接确认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满员后按queueNumber候补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负责人不能调整候补顺序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适合普通志愿活动</a:t>
            </a:r>
          </a:p>
        </p:txBody>
      </p:sp>
      <p:sp>
        <p:nvSpPr>
          <p:cNvPr id="8" name="shape-204">
            <a:extLst xmlns:a="http://schemas.openxmlformats.org/drawingml/2006/main">
              <a:ext uri="{FF2B5EF4-FFF2-40B4-BE49-F238E27FC236}">
                <a16:creationId xmlns:a16="http://schemas.microsoft.com/office/drawing/2014/main" id="{44BF64D1-F79C-4FBB-BD3C-AC20E34D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REVIEW 人工审核</a:t>
            </a:r>
          </a:p>
        </p:txBody>
      </p:sp>
      <p:sp>
        <p:nvSpPr>
          <p:cNvPr id="9" name="shape-205">
            <a:extLst xmlns:a="http://schemas.openxmlformats.org/drawingml/2006/main">
              <a:ext uri="{FF2B5EF4-FFF2-40B4-BE49-F238E27FC236}">
                <a16:creationId xmlns:a16="http://schemas.microsoft.com/office/drawing/2014/main" id="{5E689892-7803-400C-B7B0-50FEE416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5143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206">
            <a:extLst xmlns:a="http://schemas.openxmlformats.org/drawingml/2006/main">
              <a:ext uri="{FF2B5EF4-FFF2-40B4-BE49-F238E27FC236}">
                <a16:creationId xmlns:a16="http://schemas.microsoft.com/office/drawing/2014/main" id="{A8699408-2B26-4824-BE5E-9B55ECC3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667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先进入待审核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通过、候选池或拒绝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空位时负责人选择候选人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适合有技能或条件要求的活动</a:t>
            </a:r>
          </a:p>
        </p:txBody>
      </p:sp>
      <p:sp>
        <p:nvSpPr>
          <p:cNvPr id="11" name="shape-207">
            <a:extLst xmlns:a="http://schemas.openxmlformats.org/drawingml/2006/main">
              <a:ext uri="{FF2B5EF4-FFF2-40B4-BE49-F238E27FC236}">
                <a16:creationId xmlns:a16="http://schemas.microsoft.com/office/drawing/2014/main" id="{CF8BF7BC-EB5D-40B6-9AC0-3D32DA18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991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审核通过仍必须遵守容量约束；无法直接确认时可进入候选池。</a:t>
            </a:r>
          </a:p>
        </p:txBody>
      </p:sp>
    </p:spTree>
    <p:extLst>
      <p:ext uri="{BB962C8B-B14F-4D97-AF65-F5344CB8AC3E}">
        <p14:creationId xmlns:p14="http://schemas.microsoft.com/office/powerpoint/2010/main" val="15440483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hape-208">
            <a:extLst xmlns:a="http://schemas.openxmlformats.org/drawingml/2006/main">
              <a:ext uri="{FF2B5EF4-FFF2-40B4-BE49-F238E27FC236}">
                <a16:creationId xmlns:a16="http://schemas.microsoft.com/office/drawing/2014/main" id="{9990BFA7-2963-4716-A6FE-DF546C7F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业务闭环</a:t>
            </a:r>
          </a:p>
        </p:txBody>
      </p:sp>
      <p:sp>
        <p:nvSpPr>
          <p:cNvPr id="2" name="shape-209">
            <a:extLst xmlns:a="http://schemas.openxmlformats.org/drawingml/2006/main">
              <a:ext uri="{FF2B5EF4-FFF2-40B4-BE49-F238E27FC236}">
                <a16:creationId xmlns:a16="http://schemas.microsoft.com/office/drawing/2014/main" id="{2CBC1184-9EAD-4DD0-8BC9-D7C61F5A4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报名状态直接决定页面提示与可执行操作</a:t>
            </a:r>
          </a:p>
        </p:txBody>
      </p:sp>
      <p:cxnSp>
        <p:nvCxnSpPr>
          <p:cNvPr id="50" name="shape-210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211">
            <a:extLst xmlns:a="http://schemas.openxmlformats.org/drawingml/2006/main">
              <a:ext uri="{FF2B5EF4-FFF2-40B4-BE49-F238E27FC236}">
                <a16:creationId xmlns:a16="http://schemas.microsoft.com/office/drawing/2014/main" id="{D66F5EE2-76AD-437D-A19E-6CA0C38C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shape-212">
            <a:extLst xmlns:a="http://schemas.openxmlformats.org/drawingml/2006/main">
              <a:ext uri="{FF2B5EF4-FFF2-40B4-BE49-F238E27FC236}">
                <a16:creationId xmlns:a16="http://schemas.microsoft.com/office/drawing/2014/main" id="{4E0A69E2-C940-4038-BD3C-47AC59FE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95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同一用户在同一活动只有一条报名主记录。</a:t>
            </a:r>
          </a:p>
        </p:txBody>
      </p:sp>
      <p:sp>
        <p:nvSpPr>
          <p:cNvPr id="6" name="shape-213">
            <a:extLst xmlns:a="http://schemas.openxmlformats.org/drawingml/2006/main">
              <a:ext uri="{FF2B5EF4-FFF2-40B4-BE49-F238E27FC236}">
                <a16:creationId xmlns:a16="http://schemas.microsoft.com/office/drawing/2014/main" id="{FDCFE2C4-37E8-4E59-9838-A5C45CD0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56476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shape-214">
            <a:extLst xmlns:a="http://schemas.openxmlformats.org/drawingml/2006/main">
              <a:ext uri="{FF2B5EF4-FFF2-40B4-BE49-F238E27FC236}">
                <a16:creationId xmlns:a16="http://schemas.microsoft.com/office/drawing/2014/main" id="{7A2E2474-B146-4A44-AD53-F1EED53C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71700"/>
            <a:ext cx="241236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8" name="shape-215">
            <a:extLst xmlns:a="http://schemas.openxmlformats.org/drawingml/2006/main">
              <a:ext uri="{FF2B5EF4-FFF2-40B4-BE49-F238E27FC236}">
                <a16:creationId xmlns:a16="http://schemas.microsoft.com/office/drawing/2014/main" id="{B727D794-3556-4F33-8E72-09765D60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815" y="2095500"/>
            <a:ext cx="384714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shape-216">
            <a:extLst xmlns:a="http://schemas.openxmlformats.org/drawingml/2006/main">
              <a:ext uri="{FF2B5EF4-FFF2-40B4-BE49-F238E27FC236}">
                <a16:creationId xmlns:a16="http://schemas.microsoft.com/office/drawing/2014/main" id="{C2FC7D10-3C04-478D-89A5-2651389B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015" y="2171700"/>
            <a:ext cx="3694748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0" name="shape-217">
            <a:extLst xmlns:a="http://schemas.openxmlformats.org/drawingml/2006/main">
              <a:ext uri="{FF2B5EF4-FFF2-40B4-BE49-F238E27FC236}">
                <a16:creationId xmlns:a16="http://schemas.microsoft.com/office/drawing/2014/main" id="{41F834E0-8915-4B7C-9DDD-A5F6CAAE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963" y="2095500"/>
            <a:ext cx="457993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shape-218">
            <a:extLst xmlns:a="http://schemas.openxmlformats.org/drawingml/2006/main">
              <a:ext uri="{FF2B5EF4-FFF2-40B4-BE49-F238E27FC236}">
                <a16:creationId xmlns:a16="http://schemas.microsoft.com/office/drawing/2014/main" id="{D13C0287-6DCB-4473-BF94-0238FD41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163" y="2171700"/>
            <a:ext cx="4427538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成员可执行操作</a:t>
            </a:r>
          </a:p>
        </p:txBody>
      </p:sp>
      <p:sp>
        <p:nvSpPr>
          <p:cNvPr id="12" name="shape-219">
            <a:extLst xmlns:a="http://schemas.openxmlformats.org/drawingml/2006/main">
              <a:ext uri="{FF2B5EF4-FFF2-40B4-BE49-F238E27FC236}">
                <a16:creationId xmlns:a16="http://schemas.microsoft.com/office/drawing/2014/main" id="{4013054D-F3A2-4A82-8079-B719E039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256476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hape-220">
            <a:extLst xmlns:a="http://schemas.openxmlformats.org/drawingml/2006/main">
              <a:ext uri="{FF2B5EF4-FFF2-40B4-BE49-F238E27FC236}">
                <a16:creationId xmlns:a16="http://schemas.microsoft.com/office/drawing/2014/main" id="{5F2E7407-085D-4BC1-938E-2EFDEC23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241236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PENDING_REVIEW</a:t>
            </a:r>
          </a:p>
        </p:txBody>
      </p:sp>
      <p:sp>
        <p:nvSpPr>
          <p:cNvPr id="14" name="shape-221">
            <a:extLst xmlns:a="http://schemas.openxmlformats.org/drawingml/2006/main">
              <a:ext uri="{FF2B5EF4-FFF2-40B4-BE49-F238E27FC236}">
                <a16:creationId xmlns:a16="http://schemas.microsoft.com/office/drawing/2014/main" id="{2A3A44B1-3F57-4493-8A49-7BB08E91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815" y="2619375"/>
            <a:ext cx="384714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hape-222">
            <a:extLst xmlns:a="http://schemas.openxmlformats.org/drawingml/2006/main">
              <a:ext uri="{FF2B5EF4-FFF2-40B4-BE49-F238E27FC236}">
                <a16:creationId xmlns:a16="http://schemas.microsoft.com/office/drawing/2014/main" id="{46E284D0-A9C0-4573-87D4-202C1F9C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015" y="2686050"/>
            <a:ext cx="369474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等待负责人审核</a:t>
            </a:r>
          </a:p>
        </p:txBody>
      </p:sp>
      <p:sp>
        <p:nvSpPr>
          <p:cNvPr id="16" name="shape-223">
            <a:extLst xmlns:a="http://schemas.openxmlformats.org/drawingml/2006/main">
              <a:ext uri="{FF2B5EF4-FFF2-40B4-BE49-F238E27FC236}">
                <a16:creationId xmlns:a16="http://schemas.microsoft.com/office/drawing/2014/main" id="{21D19053-D7EF-4673-9048-E0AAD490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963" y="2619375"/>
            <a:ext cx="457993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hape-224">
            <a:extLst xmlns:a="http://schemas.openxmlformats.org/drawingml/2006/main">
              <a:ext uri="{FF2B5EF4-FFF2-40B4-BE49-F238E27FC236}">
                <a16:creationId xmlns:a16="http://schemas.microsoft.com/office/drawing/2014/main" id="{09B754D2-B944-427C-8E59-F1A9AF92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163" y="2686050"/>
            <a:ext cx="442753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查看、取消</a:t>
            </a:r>
          </a:p>
        </p:txBody>
      </p:sp>
      <p:sp>
        <p:nvSpPr>
          <p:cNvPr id="18" name="shape-225">
            <a:extLst xmlns:a="http://schemas.openxmlformats.org/drawingml/2006/main">
              <a:ext uri="{FF2B5EF4-FFF2-40B4-BE49-F238E27FC236}">
                <a16:creationId xmlns:a16="http://schemas.microsoft.com/office/drawing/2014/main" id="{6CCE8A85-1332-4DAA-9A9A-E610D878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256476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hape-226">
            <a:extLst xmlns:a="http://schemas.openxmlformats.org/drawingml/2006/main">
              <a:ext uri="{FF2B5EF4-FFF2-40B4-BE49-F238E27FC236}">
                <a16:creationId xmlns:a16="http://schemas.microsoft.com/office/drawing/2014/main" id="{F557FDCE-3A25-4378-93DB-999ADCB1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09925"/>
            <a:ext cx="241236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CONFIRMED</a:t>
            </a:r>
          </a:p>
        </p:txBody>
      </p:sp>
      <p:sp>
        <p:nvSpPr>
          <p:cNvPr id="20" name="shape-227">
            <a:extLst xmlns:a="http://schemas.openxmlformats.org/drawingml/2006/main">
              <a:ext uri="{FF2B5EF4-FFF2-40B4-BE49-F238E27FC236}">
                <a16:creationId xmlns:a16="http://schemas.microsoft.com/office/drawing/2014/main" id="{D0463B49-698F-48E4-AD3D-3892FCA2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815" y="3143250"/>
            <a:ext cx="384714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hape-228">
            <a:extLst xmlns:a="http://schemas.openxmlformats.org/drawingml/2006/main">
              <a:ext uri="{FF2B5EF4-FFF2-40B4-BE49-F238E27FC236}">
                <a16:creationId xmlns:a16="http://schemas.microsoft.com/office/drawing/2014/main" id="{EAF54012-0B83-4A39-8B03-6DB5D086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015" y="3209925"/>
            <a:ext cx="369474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已获得正式名额</a:t>
            </a:r>
          </a:p>
        </p:txBody>
      </p:sp>
      <p:sp>
        <p:nvSpPr>
          <p:cNvPr id="22" name="shape-229">
            <a:extLst xmlns:a="http://schemas.openxmlformats.org/drawingml/2006/main">
              <a:ext uri="{FF2B5EF4-FFF2-40B4-BE49-F238E27FC236}">
                <a16:creationId xmlns:a16="http://schemas.microsoft.com/office/drawing/2014/main" id="{BE91B889-BAB0-44FF-9C31-4D9259B6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963" y="3143250"/>
            <a:ext cx="457993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hape-230">
            <a:extLst xmlns:a="http://schemas.openxmlformats.org/drawingml/2006/main">
              <a:ext uri="{FF2B5EF4-FFF2-40B4-BE49-F238E27FC236}">
                <a16:creationId xmlns:a16="http://schemas.microsoft.com/office/drawing/2014/main" id="{43B7C40B-F807-4D2F-A281-1F6BD1AC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163" y="3209925"/>
            <a:ext cx="442753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查看签到、取消</a:t>
            </a:r>
          </a:p>
        </p:txBody>
      </p:sp>
      <p:sp>
        <p:nvSpPr>
          <p:cNvPr id="24" name="shape-231">
            <a:extLst xmlns:a="http://schemas.openxmlformats.org/drawingml/2006/main">
              <a:ext uri="{FF2B5EF4-FFF2-40B4-BE49-F238E27FC236}">
                <a16:creationId xmlns:a16="http://schemas.microsoft.com/office/drawing/2014/main" id="{C9023A11-4E30-4BCB-8EBD-BF9406C8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256476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hape-232">
            <a:extLst xmlns:a="http://schemas.openxmlformats.org/drawingml/2006/main">
              <a:ext uri="{FF2B5EF4-FFF2-40B4-BE49-F238E27FC236}">
                <a16:creationId xmlns:a16="http://schemas.microsoft.com/office/drawing/2014/main" id="{08DB2463-1DB1-4C09-B46C-DAE0EE9B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241236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WAITLISTED</a:t>
            </a:r>
          </a:p>
        </p:txBody>
      </p:sp>
      <p:sp>
        <p:nvSpPr>
          <p:cNvPr id="26" name="shape-233">
            <a:extLst xmlns:a="http://schemas.openxmlformats.org/drawingml/2006/main">
              <a:ext uri="{FF2B5EF4-FFF2-40B4-BE49-F238E27FC236}">
                <a16:creationId xmlns:a16="http://schemas.microsoft.com/office/drawing/2014/main" id="{15D1EE72-A41E-47C6-BC40-2B9B604D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815" y="3667125"/>
            <a:ext cx="384714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hape-234">
            <a:extLst xmlns:a="http://schemas.openxmlformats.org/drawingml/2006/main">
              <a:ext uri="{FF2B5EF4-FFF2-40B4-BE49-F238E27FC236}">
                <a16:creationId xmlns:a16="http://schemas.microsoft.com/office/drawing/2014/main" id="{5BFF40AD-5C96-41BB-BB56-867893E7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015" y="3733800"/>
            <a:ext cx="369474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候补队列或候选池</a:t>
            </a:r>
          </a:p>
        </p:txBody>
      </p:sp>
      <p:sp>
        <p:nvSpPr>
          <p:cNvPr id="28" name="shape-235">
            <a:extLst xmlns:a="http://schemas.openxmlformats.org/drawingml/2006/main">
              <a:ext uri="{FF2B5EF4-FFF2-40B4-BE49-F238E27FC236}">
                <a16:creationId xmlns:a16="http://schemas.microsoft.com/office/drawing/2014/main" id="{F017A344-32B1-49D1-AE43-640337F1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963" y="3667125"/>
            <a:ext cx="457993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shape-236">
            <a:extLst xmlns:a="http://schemas.openxmlformats.org/drawingml/2006/main">
              <a:ext uri="{FF2B5EF4-FFF2-40B4-BE49-F238E27FC236}">
                <a16:creationId xmlns:a16="http://schemas.microsoft.com/office/drawing/2014/main" id="{A2182B15-4913-4442-A826-9ECDCCB5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163" y="3733800"/>
            <a:ext cx="442753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查看位次、退出</a:t>
            </a:r>
          </a:p>
        </p:txBody>
      </p:sp>
      <p:sp>
        <p:nvSpPr>
          <p:cNvPr id="30" name="shape-237">
            <a:extLst xmlns:a="http://schemas.openxmlformats.org/drawingml/2006/main">
              <a:ext uri="{FF2B5EF4-FFF2-40B4-BE49-F238E27FC236}">
                <a16:creationId xmlns:a16="http://schemas.microsoft.com/office/drawing/2014/main" id="{92D0E461-BBED-4694-B669-90B964A6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56476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shape-238">
            <a:extLst xmlns:a="http://schemas.openxmlformats.org/drawingml/2006/main">
              <a:ext uri="{FF2B5EF4-FFF2-40B4-BE49-F238E27FC236}">
                <a16:creationId xmlns:a16="http://schemas.microsoft.com/office/drawing/2014/main" id="{F18DC875-D0CF-42CE-88D1-E4280452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57675"/>
            <a:ext cx="241236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REJECTED</a:t>
            </a:r>
          </a:p>
        </p:txBody>
      </p:sp>
      <p:sp>
        <p:nvSpPr>
          <p:cNvPr id="32" name="shape-239">
            <a:extLst xmlns:a="http://schemas.openxmlformats.org/drawingml/2006/main">
              <a:ext uri="{FF2B5EF4-FFF2-40B4-BE49-F238E27FC236}">
                <a16:creationId xmlns:a16="http://schemas.microsoft.com/office/drawing/2014/main" id="{46B999B1-E67F-438B-A4F6-FAA20F4E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815" y="4191000"/>
            <a:ext cx="384714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shape-240">
            <a:extLst xmlns:a="http://schemas.openxmlformats.org/drawingml/2006/main">
              <a:ext uri="{FF2B5EF4-FFF2-40B4-BE49-F238E27FC236}">
                <a16:creationId xmlns:a16="http://schemas.microsoft.com/office/drawing/2014/main" id="{26AA318C-07BB-4817-BDAA-46C6D9BB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015" y="4257675"/>
            <a:ext cx="369474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审核未通过</a:t>
            </a:r>
          </a:p>
        </p:txBody>
      </p:sp>
      <p:sp>
        <p:nvSpPr>
          <p:cNvPr id="34" name="shape-241">
            <a:extLst xmlns:a="http://schemas.openxmlformats.org/drawingml/2006/main">
              <a:ext uri="{FF2B5EF4-FFF2-40B4-BE49-F238E27FC236}">
                <a16:creationId xmlns:a16="http://schemas.microsoft.com/office/drawing/2014/main" id="{29512DF8-43DA-4595-B900-9BC5DFD2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963" y="4191000"/>
            <a:ext cx="457993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shape-242">
            <a:extLst xmlns:a="http://schemas.openxmlformats.org/drawingml/2006/main">
              <a:ext uri="{FF2B5EF4-FFF2-40B4-BE49-F238E27FC236}">
                <a16:creationId xmlns:a16="http://schemas.microsoft.com/office/drawing/2014/main" id="{5BCB25C9-BB49-42DC-83D6-880E656A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163" y="4257675"/>
            <a:ext cx="442753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查看结果</a:t>
            </a:r>
          </a:p>
        </p:txBody>
      </p:sp>
      <p:sp>
        <p:nvSpPr>
          <p:cNvPr id="36" name="shape-243">
            <a:extLst xmlns:a="http://schemas.openxmlformats.org/drawingml/2006/main">
              <a:ext uri="{FF2B5EF4-FFF2-40B4-BE49-F238E27FC236}">
                <a16:creationId xmlns:a16="http://schemas.microsoft.com/office/drawing/2014/main" id="{0241A87F-6537-4B89-8E9D-6BFC6590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256476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shape-244">
            <a:extLst xmlns:a="http://schemas.openxmlformats.org/drawingml/2006/main">
              <a:ext uri="{FF2B5EF4-FFF2-40B4-BE49-F238E27FC236}">
                <a16:creationId xmlns:a16="http://schemas.microsoft.com/office/drawing/2014/main" id="{D043F926-7871-4609-8D92-871057E8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81550"/>
            <a:ext cx="241236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CANCELED</a:t>
            </a:r>
          </a:p>
        </p:txBody>
      </p:sp>
      <p:sp>
        <p:nvSpPr>
          <p:cNvPr id="38" name="shape-245">
            <a:extLst xmlns:a="http://schemas.openxmlformats.org/drawingml/2006/main">
              <a:ext uri="{FF2B5EF4-FFF2-40B4-BE49-F238E27FC236}">
                <a16:creationId xmlns:a16="http://schemas.microsoft.com/office/drawing/2014/main" id="{57815177-5BD6-4C75-A092-030EF7DE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815" y="4714875"/>
            <a:ext cx="384714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shape-246">
            <a:extLst xmlns:a="http://schemas.openxmlformats.org/drawingml/2006/main">
              <a:ext uri="{FF2B5EF4-FFF2-40B4-BE49-F238E27FC236}">
                <a16:creationId xmlns:a16="http://schemas.microsoft.com/office/drawing/2014/main" id="{7FD25A44-EDA2-4213-ACF0-10AC6BCB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015" y="4781550"/>
            <a:ext cx="369474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免费取消期内取消</a:t>
            </a:r>
          </a:p>
        </p:txBody>
      </p:sp>
      <p:sp>
        <p:nvSpPr>
          <p:cNvPr id="40" name="shape-247">
            <a:extLst xmlns:a="http://schemas.openxmlformats.org/drawingml/2006/main">
              <a:ext uri="{FF2B5EF4-FFF2-40B4-BE49-F238E27FC236}">
                <a16:creationId xmlns:a16="http://schemas.microsoft.com/office/drawing/2014/main" id="{96856606-C4B2-4BBE-B47F-6D436EB3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963" y="4714875"/>
            <a:ext cx="457993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shape-248">
            <a:extLst xmlns:a="http://schemas.openxmlformats.org/drawingml/2006/main">
              <a:ext uri="{FF2B5EF4-FFF2-40B4-BE49-F238E27FC236}">
                <a16:creationId xmlns:a16="http://schemas.microsoft.com/office/drawing/2014/main" id="{FBAFA808-97CF-4B5D-AAE7-491C8745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163" y="4781550"/>
            <a:ext cx="442753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允许时重新报名</a:t>
            </a:r>
          </a:p>
        </p:txBody>
      </p:sp>
      <p:sp>
        <p:nvSpPr>
          <p:cNvPr id="42" name="shape-249">
            <a:extLst xmlns:a="http://schemas.openxmlformats.org/drawingml/2006/main">
              <a:ext uri="{FF2B5EF4-FFF2-40B4-BE49-F238E27FC236}">
                <a16:creationId xmlns:a16="http://schemas.microsoft.com/office/drawing/2014/main" id="{98B5C994-3EEE-4C77-86DC-1659CD46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2564765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shape-250">
            <a:extLst xmlns:a="http://schemas.openxmlformats.org/drawingml/2006/main">
              <a:ext uri="{FF2B5EF4-FFF2-40B4-BE49-F238E27FC236}">
                <a16:creationId xmlns:a16="http://schemas.microsoft.com/office/drawing/2014/main" id="{1F326266-23FA-4B83-BA1A-AF363E38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05425"/>
            <a:ext cx="241236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LATE_CANCELED</a:t>
            </a:r>
          </a:p>
        </p:txBody>
      </p:sp>
      <p:sp>
        <p:nvSpPr>
          <p:cNvPr id="44" name="shape-251">
            <a:extLst xmlns:a="http://schemas.openxmlformats.org/drawingml/2006/main">
              <a:ext uri="{FF2B5EF4-FFF2-40B4-BE49-F238E27FC236}">
                <a16:creationId xmlns:a16="http://schemas.microsoft.com/office/drawing/2014/main" id="{F3B6194B-B503-450E-87A0-45C0884C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815" y="5238750"/>
            <a:ext cx="384714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shape-252">
            <a:extLst xmlns:a="http://schemas.openxmlformats.org/drawingml/2006/main">
              <a:ext uri="{FF2B5EF4-FFF2-40B4-BE49-F238E27FC236}">
                <a16:creationId xmlns:a16="http://schemas.microsoft.com/office/drawing/2014/main" id="{9B1F6297-1255-4F1C-88F4-5A6BDE11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1015" y="5305425"/>
            <a:ext cx="369474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截止后取消</a:t>
            </a:r>
          </a:p>
        </p:txBody>
      </p:sp>
      <p:sp>
        <p:nvSpPr>
          <p:cNvPr id="46" name="shape-253">
            <a:extLst xmlns:a="http://schemas.openxmlformats.org/drawingml/2006/main">
              <a:ext uri="{FF2B5EF4-FFF2-40B4-BE49-F238E27FC236}">
                <a16:creationId xmlns:a16="http://schemas.microsoft.com/office/drawing/2014/main" id="{EF790308-41C4-4FA2-9471-45B616B6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963" y="5238750"/>
            <a:ext cx="457993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shape-254">
            <a:extLst xmlns:a="http://schemas.openxmlformats.org/drawingml/2006/main">
              <a:ext uri="{FF2B5EF4-FFF2-40B4-BE49-F238E27FC236}">
                <a16:creationId xmlns:a16="http://schemas.microsoft.com/office/drawing/2014/main" id="{59602232-3229-4059-88C5-E578B1BB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163" y="5305425"/>
            <a:ext cx="442753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查看记录</a:t>
            </a:r>
          </a:p>
        </p:txBody>
      </p:sp>
    </p:spTree>
    <p:extLst>
      <p:ext uri="{BB962C8B-B14F-4D97-AF65-F5344CB8AC3E}">
        <p14:creationId xmlns:p14="http://schemas.microsoft.com/office/powerpoint/2010/main" val="17139530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hape-255">
            <a:extLst xmlns:a="http://schemas.openxmlformats.org/drawingml/2006/main">
              <a:ext uri="{FF2B5EF4-FFF2-40B4-BE49-F238E27FC236}">
                <a16:creationId xmlns:a16="http://schemas.microsoft.com/office/drawing/2014/main" id="{2EEFD149-40A2-4ED6-887B-21590E24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业务闭环</a:t>
            </a:r>
          </a:p>
        </p:txBody>
      </p:sp>
      <p:sp>
        <p:nvSpPr>
          <p:cNvPr id="2" name="shape-256">
            <a:extLst xmlns:a="http://schemas.openxmlformats.org/drawingml/2006/main">
              <a:ext uri="{FF2B5EF4-FFF2-40B4-BE49-F238E27FC236}">
                <a16:creationId xmlns:a16="http://schemas.microsoft.com/office/drawing/2014/main" id="{51AED800-CB45-4D3D-9EEE-7A50E026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候补递补通过限时邀请保护公平与名额</a:t>
            </a:r>
          </a:p>
        </p:txBody>
      </p:sp>
      <p:cxnSp>
        <p:nvCxnSpPr>
          <p:cNvPr id="24" name="shape-257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258">
            <a:extLst xmlns:a="http://schemas.openxmlformats.org/drawingml/2006/main">
              <a:ext uri="{FF2B5EF4-FFF2-40B4-BE49-F238E27FC236}">
                <a16:creationId xmlns:a16="http://schemas.microsoft.com/office/drawing/2014/main" id="{90631D26-9FF2-4629-9651-9677C31C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cxnSp>
        <p:nvCxnSpPr>
          <p:cNvPr id="26" name="shape-259"/>
          <p:cNvCxnSpPr/>
          <p:nvPr/>
        </p:nvCxnSpPr>
        <p:spPr>
          <a:xfrm xmlns:a="http://schemas.openxmlformats.org/drawingml/2006/main">
            <a:off x="514350" y="3571875"/>
            <a:ext cx="111633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shape-260">
            <a:extLst xmlns:a="http://schemas.openxmlformats.org/drawingml/2006/main">
              <a:ext uri="{FF2B5EF4-FFF2-40B4-BE49-F238E27FC236}">
                <a16:creationId xmlns:a16="http://schemas.microsoft.com/office/drawing/2014/main" id="{62BA0C67-1310-41A1-9223-FFA73E89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261">
            <a:extLst xmlns:a="http://schemas.openxmlformats.org/drawingml/2006/main">
              <a:ext uri="{FF2B5EF4-FFF2-40B4-BE49-F238E27FC236}">
                <a16:creationId xmlns:a16="http://schemas.microsoft.com/office/drawing/2014/main" id="{5D10E9B3-4E09-4D4C-9963-38AE1590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正式成员取消</a:t>
            </a:r>
          </a:p>
        </p:txBody>
      </p:sp>
      <p:sp>
        <p:nvSpPr>
          <p:cNvPr id="8" name="shape-262">
            <a:extLst xmlns:a="http://schemas.openxmlformats.org/drawingml/2006/main">
              <a:ext uri="{FF2B5EF4-FFF2-40B4-BE49-F238E27FC236}">
                <a16:creationId xmlns:a16="http://schemas.microsoft.com/office/drawing/2014/main" id="{EB249748-BA1F-49C8-A312-26864834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产生空位</a:t>
            </a:r>
          </a:p>
        </p:txBody>
      </p:sp>
      <p:sp>
        <p:nvSpPr>
          <p:cNvPr id="9" name="shape-263">
            <a:extLst xmlns:a="http://schemas.openxmlformats.org/drawingml/2006/main">
              <a:ext uri="{FF2B5EF4-FFF2-40B4-BE49-F238E27FC236}">
                <a16:creationId xmlns:a16="http://schemas.microsoft.com/office/drawing/2014/main" id="{8F7420D1-E22E-4CB4-AF93-3F238BAE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264">
            <a:extLst xmlns:a="http://schemas.openxmlformats.org/drawingml/2006/main">
              <a:ext uri="{FF2B5EF4-FFF2-40B4-BE49-F238E27FC236}">
                <a16:creationId xmlns:a16="http://schemas.microsoft.com/office/drawing/2014/main" id="{8D904076-D357-4265-BE80-B9C16945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选择候补</a:t>
            </a:r>
          </a:p>
        </p:txBody>
      </p:sp>
      <p:sp>
        <p:nvSpPr>
          <p:cNvPr id="11" name="shape-265">
            <a:extLst xmlns:a="http://schemas.openxmlformats.org/drawingml/2006/main">
              <a:ext uri="{FF2B5EF4-FFF2-40B4-BE49-F238E27FC236}">
                <a16:creationId xmlns:a16="http://schemas.microsoft.com/office/drawing/2014/main" id="{2454A0EA-1812-4FEF-9D2B-FBC26E30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队首或候选池</a:t>
            </a:r>
          </a:p>
        </p:txBody>
      </p:sp>
      <p:sp>
        <p:nvSpPr>
          <p:cNvPr id="12" name="shape-266">
            <a:extLst xmlns:a="http://schemas.openxmlformats.org/drawingml/2006/main">
              <a:ext uri="{FF2B5EF4-FFF2-40B4-BE49-F238E27FC236}">
                <a16:creationId xmlns:a16="http://schemas.microsoft.com/office/drawing/2014/main" id="{4FD024FC-01AD-41BC-9626-C387A223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-267">
            <a:extLst xmlns:a="http://schemas.openxmlformats.org/drawingml/2006/main">
              <a:ext uri="{FF2B5EF4-FFF2-40B4-BE49-F238E27FC236}">
                <a16:creationId xmlns:a16="http://schemas.microsoft.com/office/drawing/2014/main" id="{8D78C2D6-19A2-4A61-9B3C-F0259977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保留名额</a:t>
            </a:r>
          </a:p>
        </p:txBody>
      </p:sp>
      <p:sp>
        <p:nvSpPr>
          <p:cNvPr id="14" name="shape-268">
            <a:extLst xmlns:a="http://schemas.openxmlformats.org/drawingml/2006/main">
              <a:ext uri="{FF2B5EF4-FFF2-40B4-BE49-F238E27FC236}">
                <a16:creationId xmlns:a16="http://schemas.microsoft.com/office/drawing/2014/main" id="{045E0364-AD36-4E1E-B3FD-983247D5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30分钟—12小时</a:t>
            </a:r>
          </a:p>
        </p:txBody>
      </p:sp>
      <p:sp>
        <p:nvSpPr>
          <p:cNvPr id="15" name="shape-269">
            <a:extLst xmlns:a="http://schemas.openxmlformats.org/drawingml/2006/main">
              <a:ext uri="{FF2B5EF4-FFF2-40B4-BE49-F238E27FC236}">
                <a16:creationId xmlns:a16="http://schemas.microsoft.com/office/drawing/2014/main" id="{03192C0E-F2A8-4394-AA39-8F265DCE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-270">
            <a:extLst xmlns:a="http://schemas.openxmlformats.org/drawingml/2006/main">
              <a:ext uri="{FF2B5EF4-FFF2-40B4-BE49-F238E27FC236}">
                <a16:creationId xmlns:a16="http://schemas.microsoft.com/office/drawing/2014/main" id="{E381D49D-5109-460D-B2A8-DCD257ED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用户回应</a:t>
            </a:r>
          </a:p>
        </p:txBody>
      </p:sp>
      <p:sp>
        <p:nvSpPr>
          <p:cNvPr id="17" name="shape-271">
            <a:extLst xmlns:a="http://schemas.openxmlformats.org/drawingml/2006/main">
              <a:ext uri="{FF2B5EF4-FFF2-40B4-BE49-F238E27FC236}">
                <a16:creationId xmlns:a16="http://schemas.microsoft.com/office/drawing/2014/main" id="{B1A7D90C-D37A-46C2-8CE5-A6F3F0BC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接受或拒绝</a:t>
            </a:r>
          </a:p>
        </p:txBody>
      </p:sp>
      <p:sp>
        <p:nvSpPr>
          <p:cNvPr id="18" name="shape-272">
            <a:extLst xmlns:a="http://schemas.openxmlformats.org/drawingml/2006/main">
              <a:ext uri="{FF2B5EF4-FFF2-40B4-BE49-F238E27FC236}">
                <a16:creationId xmlns:a16="http://schemas.microsoft.com/office/drawing/2014/main" id="{410504FD-DA7D-455D-B44C-16DFE587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-273">
            <a:extLst xmlns:a="http://schemas.openxmlformats.org/drawingml/2006/main">
              <a:ext uri="{FF2B5EF4-FFF2-40B4-BE49-F238E27FC236}">
                <a16:creationId xmlns:a16="http://schemas.microsoft.com/office/drawing/2014/main" id="{90451EF3-42EA-497E-B5D6-8D920708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确认/下一位</a:t>
            </a:r>
          </a:p>
        </p:txBody>
      </p:sp>
      <p:sp>
        <p:nvSpPr>
          <p:cNvPr id="20" name="shape-274">
            <a:extLst xmlns:a="http://schemas.openxmlformats.org/drawingml/2006/main">
              <a:ext uri="{FF2B5EF4-FFF2-40B4-BE49-F238E27FC236}">
                <a16:creationId xmlns:a16="http://schemas.microsoft.com/office/drawing/2014/main" id="{E9A9E756-11BF-4199-A7B0-CB1B1988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过期也继续</a:t>
            </a:r>
          </a:p>
        </p:txBody>
      </p:sp>
      <p:sp>
        <p:nvSpPr>
          <p:cNvPr id="21" name="shape-275">
            <a:extLst xmlns:a="http://schemas.openxmlformats.org/drawingml/2006/main">
              <a:ext uri="{FF2B5EF4-FFF2-40B4-BE49-F238E27FC236}">
                <a16:creationId xmlns:a16="http://schemas.microsoft.com/office/drawing/2014/main" id="{31C04843-F28A-4549-AACD-78B63C28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默认确认期限2小时；拒绝或过期后退出队列，重新报名回到队尾。名额占用 = 已确认 + 有效邀请。</a:t>
            </a:r>
          </a:p>
        </p:txBody>
      </p:sp>
    </p:spTree>
    <p:extLst>
      <p:ext uri="{BB962C8B-B14F-4D97-AF65-F5344CB8AC3E}">
        <p14:creationId xmlns:p14="http://schemas.microsoft.com/office/powerpoint/2010/main" val="19190006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276">
            <a:extLst xmlns:a="http://schemas.openxmlformats.org/drawingml/2006/main">
              <a:ext uri="{FF2B5EF4-FFF2-40B4-BE49-F238E27FC236}">
                <a16:creationId xmlns:a16="http://schemas.microsoft.com/office/drawing/2014/main" id="{A0FE6BDB-D8A0-4538-9AF3-6FE07E11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业务闭环</a:t>
            </a:r>
          </a:p>
        </p:txBody>
      </p:sp>
      <p:sp>
        <p:nvSpPr>
          <p:cNvPr id="2" name="shape-277">
            <a:extLst xmlns:a="http://schemas.openxmlformats.org/drawingml/2006/main">
              <a:ext uri="{FF2B5EF4-FFF2-40B4-BE49-F238E27FC236}">
                <a16:creationId xmlns:a16="http://schemas.microsoft.com/office/drawing/2014/main" id="{09996205-2825-4088-A78B-15828686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取消有宽容边界，未到场只记录事实</a:t>
            </a:r>
          </a:p>
        </p:txBody>
      </p:sp>
      <p:cxnSp>
        <p:nvCxnSpPr>
          <p:cNvPr id="12" name="shape-278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279">
            <a:extLst xmlns:a="http://schemas.openxmlformats.org/drawingml/2006/main">
              <a:ext uri="{FF2B5EF4-FFF2-40B4-BE49-F238E27FC236}">
                <a16:creationId xmlns:a16="http://schemas.microsoft.com/office/drawing/2014/main" id="{FDCE39D3-DEFA-4A6E-9C89-EB875FF9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shape-280">
            <a:extLst xmlns:a="http://schemas.openxmlformats.org/drawingml/2006/main">
              <a:ext uri="{FF2B5EF4-FFF2-40B4-BE49-F238E27FC236}">
                <a16:creationId xmlns:a16="http://schemas.microsoft.com/office/drawing/2014/main" id="{B9F672B1-54A0-4639-A145-5078AFDD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取消规则</a:t>
            </a:r>
          </a:p>
        </p:txBody>
      </p:sp>
      <p:sp>
        <p:nvSpPr>
          <p:cNvPr id="6" name="shape-281">
            <a:extLst xmlns:a="http://schemas.openxmlformats.org/drawingml/2006/main">
              <a:ext uri="{FF2B5EF4-FFF2-40B4-BE49-F238E27FC236}">
                <a16:creationId xmlns:a16="http://schemas.microsoft.com/office/drawing/2014/main" id="{147754B9-D5AF-40CC-81C7-21081FBB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活动配置免费取消截止时间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截止前：CANCELED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截止后：必须填写原因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迟取消记为LATE_CANCELED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取消后触发空位递补</a:t>
            </a:r>
          </a:p>
        </p:txBody>
      </p:sp>
      <p:sp>
        <p:nvSpPr>
          <p:cNvPr id="7" name="shape-282">
            <a:extLst xmlns:a="http://schemas.openxmlformats.org/drawingml/2006/main">
              <a:ext uri="{FF2B5EF4-FFF2-40B4-BE49-F238E27FC236}">
                <a16:creationId xmlns:a16="http://schemas.microsoft.com/office/drawing/2014/main" id="{502E800E-FDC4-49E8-9094-CDB1D752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4288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283">
            <a:extLst xmlns:a="http://schemas.openxmlformats.org/drawingml/2006/main">
              <a:ext uri="{FF2B5EF4-FFF2-40B4-BE49-F238E27FC236}">
                <a16:creationId xmlns:a16="http://schemas.microsoft.com/office/drawing/2014/main" id="{D916B643-2FFA-4784-97EC-815D9C17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到场结果</a:t>
            </a:r>
          </a:p>
        </p:txBody>
      </p:sp>
      <p:sp>
        <p:nvSpPr>
          <p:cNvPr id="9" name="shape-284">
            <a:extLst xmlns:a="http://schemas.openxmlformats.org/drawingml/2006/main">
              <a:ext uri="{FF2B5EF4-FFF2-40B4-BE49-F238E27FC236}">
                <a16:creationId xmlns:a16="http://schemas.microsoft.com/office/drawing/2014/main" id="{28718C60-2CD3-422E-B63A-C9642724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已确认且未取消才需要签到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签到成功：CHECKED_IN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活动结束仍未签到：NO_SHOW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第一版不自动扣分或封禁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后续依据真实数据再讨论信用规则</a:t>
            </a:r>
          </a:p>
        </p:txBody>
      </p:sp>
    </p:spTree>
    <p:extLst>
      <p:ext uri="{BB962C8B-B14F-4D97-AF65-F5344CB8AC3E}">
        <p14:creationId xmlns:p14="http://schemas.microsoft.com/office/powerpoint/2010/main" val="13818033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hape-285">
            <a:extLst xmlns:a="http://schemas.openxmlformats.org/drawingml/2006/main">
              <a:ext uri="{FF2B5EF4-FFF2-40B4-BE49-F238E27FC236}">
                <a16:creationId xmlns:a16="http://schemas.microsoft.com/office/drawing/2014/main" id="{D4B94E10-8827-4C66-A32F-4C12C4B7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业务闭环</a:t>
            </a:r>
          </a:p>
        </p:txBody>
      </p:sp>
      <p:sp>
        <p:nvSpPr>
          <p:cNvPr id="2" name="shape-286">
            <a:extLst xmlns:a="http://schemas.openxmlformats.org/drawingml/2006/main">
              <a:ext uri="{FF2B5EF4-FFF2-40B4-BE49-F238E27FC236}">
                <a16:creationId xmlns:a16="http://schemas.microsoft.com/office/drawing/2014/main" id="{F7DF6C15-F907-4F65-99C7-0A471519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动态签到兼顾便利、故障和审计</a:t>
            </a:r>
          </a:p>
        </p:txBody>
      </p:sp>
      <p:cxnSp>
        <p:nvCxnSpPr>
          <p:cNvPr id="15" name="shape-287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288">
            <a:extLst xmlns:a="http://schemas.openxmlformats.org/drawingml/2006/main">
              <a:ext uri="{FF2B5EF4-FFF2-40B4-BE49-F238E27FC236}">
                <a16:creationId xmlns:a16="http://schemas.microsoft.com/office/drawing/2014/main" id="{A58F9233-7688-431E-BAF0-7524066E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shape-289">
            <a:extLst xmlns:a="http://schemas.openxmlformats.org/drawingml/2006/main">
              <a:ext uri="{FF2B5EF4-FFF2-40B4-BE49-F238E27FC236}">
                <a16:creationId xmlns:a16="http://schemas.microsoft.com/office/drawing/2014/main" id="{D569CB8E-30C6-49AB-9E21-740B7AA7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正常扫码</a:t>
            </a:r>
          </a:p>
        </p:txBody>
      </p:sp>
      <p:sp>
        <p:nvSpPr>
          <p:cNvPr id="6" name="shape-290">
            <a:extLst xmlns:a="http://schemas.openxmlformats.org/drawingml/2006/main">
              <a:ext uri="{FF2B5EF4-FFF2-40B4-BE49-F238E27FC236}">
                <a16:creationId xmlns:a16="http://schemas.microsoft.com/office/drawing/2014/main" id="{97313EEE-6010-4AC4-AE2E-59D19F70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短期轮换二维码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Redis保存码与TTL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验证登录身份和活动资格</a:t>
            </a:r>
          </a:p>
        </p:txBody>
      </p:sp>
      <p:sp>
        <p:nvSpPr>
          <p:cNvPr id="7" name="shape-291">
            <a:extLst xmlns:a="http://schemas.openxmlformats.org/drawingml/2006/main">
              <a:ext uri="{FF2B5EF4-FFF2-40B4-BE49-F238E27FC236}">
                <a16:creationId xmlns:a16="http://schemas.microsoft.com/office/drawing/2014/main" id="{78524FDF-F7B7-414B-89AE-6748AACC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292">
            <a:extLst xmlns:a="http://schemas.openxmlformats.org/drawingml/2006/main">
              <a:ext uri="{FF2B5EF4-FFF2-40B4-BE49-F238E27FC236}">
                <a16:creationId xmlns:a16="http://schemas.microsoft.com/office/drawing/2014/main" id="{EF5EAA52-EEB8-4995-A1C1-F1521290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最终记录</a:t>
            </a:r>
          </a:p>
        </p:txBody>
      </p:sp>
      <p:sp>
        <p:nvSpPr>
          <p:cNvPr id="9" name="shape-293">
            <a:extLst xmlns:a="http://schemas.openxmlformats.org/drawingml/2006/main">
              <a:ext uri="{FF2B5EF4-FFF2-40B4-BE49-F238E27FC236}">
                <a16:creationId xmlns:a16="http://schemas.microsoft.com/office/drawing/2014/main" id="{4E313802-ABD8-4D80-BB5E-696E59D9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MySQL保存签到场次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活动与用户唯一签到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页面显示已到/应到</a:t>
            </a:r>
          </a:p>
        </p:txBody>
      </p:sp>
      <p:sp>
        <p:nvSpPr>
          <p:cNvPr id="10" name="shape-294">
            <a:extLst xmlns:a="http://schemas.openxmlformats.org/drawingml/2006/main">
              <a:ext uri="{FF2B5EF4-FFF2-40B4-BE49-F238E27FC236}">
                <a16:creationId xmlns:a16="http://schemas.microsoft.com/office/drawing/2014/main" id="{5F10F3ED-5BAC-44D2-8573-C7095571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-295">
            <a:extLst xmlns:a="http://schemas.openxmlformats.org/drawingml/2006/main">
              <a:ext uri="{FF2B5EF4-FFF2-40B4-BE49-F238E27FC236}">
                <a16:creationId xmlns:a16="http://schemas.microsoft.com/office/drawing/2014/main" id="{EA795E66-8B06-4148-BFF1-CB0615D9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故障兜底</a:t>
            </a:r>
          </a:p>
        </p:txBody>
      </p:sp>
      <p:sp>
        <p:nvSpPr>
          <p:cNvPr id="12" name="shape-296">
            <a:extLst xmlns:a="http://schemas.openxmlformats.org/drawingml/2006/main">
              <a:ext uri="{FF2B5EF4-FFF2-40B4-BE49-F238E27FC236}">
                <a16:creationId xmlns:a16="http://schemas.microsoft.com/office/drawing/2014/main" id="{F1EC58BC-58FD-460F-A154-998F7123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Redis失败时人工补签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必须填写补签原因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补签写审计日志</a:t>
            </a:r>
          </a:p>
        </p:txBody>
      </p:sp>
    </p:spTree>
    <p:extLst>
      <p:ext uri="{BB962C8B-B14F-4D97-AF65-F5344CB8AC3E}">
        <p14:creationId xmlns:p14="http://schemas.microsoft.com/office/powerpoint/2010/main" val="6120018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297">
            <a:extLst xmlns:a="http://schemas.openxmlformats.org/drawingml/2006/main">
              <a:ext uri="{FF2B5EF4-FFF2-40B4-BE49-F238E27FC236}">
                <a16:creationId xmlns:a16="http://schemas.microsoft.com/office/drawing/2014/main" id="{895A6A7E-3C06-4328-A33B-C70A945D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业务闭环</a:t>
            </a:r>
          </a:p>
        </p:txBody>
      </p:sp>
      <p:sp>
        <p:nvSpPr>
          <p:cNvPr id="2" name="shape-298">
            <a:extLst xmlns:a="http://schemas.openxmlformats.org/drawingml/2006/main">
              <a:ext uri="{FF2B5EF4-FFF2-40B4-BE49-F238E27FC236}">
                <a16:creationId xmlns:a16="http://schemas.microsoft.com/office/drawing/2014/main" id="{D2B3A7AE-7FC2-46EE-B2BD-4EDA8FC6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报名表保持灵活，但限制复杂度和隐私</a:t>
            </a:r>
          </a:p>
        </p:txBody>
      </p:sp>
      <p:cxnSp>
        <p:nvCxnSpPr>
          <p:cNvPr id="12" name="shape-299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300">
            <a:extLst xmlns:a="http://schemas.openxmlformats.org/drawingml/2006/main">
              <a:ext uri="{FF2B5EF4-FFF2-40B4-BE49-F238E27FC236}">
                <a16:creationId xmlns:a16="http://schemas.microsoft.com/office/drawing/2014/main" id="{2BECE429-5A63-4E98-BE56-BF903AE5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shape-301">
            <a:extLst xmlns:a="http://schemas.openxmlformats.org/drawingml/2006/main">
              <a:ext uri="{FF2B5EF4-FFF2-40B4-BE49-F238E27FC236}">
                <a16:creationId xmlns:a16="http://schemas.microsoft.com/office/drawing/2014/main" id="{013BBF5B-0915-4C48-BB8C-98570B93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自动填充资料</a:t>
            </a:r>
          </a:p>
        </p:txBody>
      </p:sp>
      <p:sp>
        <p:nvSpPr>
          <p:cNvPr id="6" name="shape-302">
            <a:extLst xmlns:a="http://schemas.openxmlformats.org/drawingml/2006/main">
              <a:ext uri="{FF2B5EF4-FFF2-40B4-BE49-F238E27FC236}">
                <a16:creationId xmlns:a16="http://schemas.microsoft.com/office/drawing/2014/main" id="{AFBD30C0-2CE2-45F9-A856-D8236AAD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姓名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学号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联系方式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仅本人和授权管理员可见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不采集身份证等非必要高敏信息</a:t>
            </a:r>
          </a:p>
        </p:txBody>
      </p:sp>
      <p:sp>
        <p:nvSpPr>
          <p:cNvPr id="7" name="shape-303">
            <a:extLst xmlns:a="http://schemas.openxmlformats.org/drawingml/2006/main">
              <a:ext uri="{FF2B5EF4-FFF2-40B4-BE49-F238E27FC236}">
                <a16:creationId xmlns:a16="http://schemas.microsoft.com/office/drawing/2014/main" id="{C6DAE92E-3F16-478E-96BD-A46468A5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4288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304">
            <a:extLst xmlns:a="http://schemas.openxmlformats.org/drawingml/2006/main">
              <a:ext uri="{FF2B5EF4-FFF2-40B4-BE49-F238E27FC236}">
                <a16:creationId xmlns:a16="http://schemas.microsoft.com/office/drawing/2014/main" id="{59689B26-4A20-4608-8692-0CD9CBBE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活动自定义问题</a:t>
            </a:r>
          </a:p>
        </p:txBody>
      </p:sp>
      <p:sp>
        <p:nvSpPr>
          <p:cNvPr id="9" name="shape-305">
            <a:extLst xmlns:a="http://schemas.openxmlformats.org/drawingml/2006/main">
              <a:ext uri="{FF2B5EF4-FFF2-40B4-BE49-F238E27FC236}">
                <a16:creationId xmlns:a16="http://schemas.microsoft.com/office/drawing/2014/main" id="{77D6CB95-2D9E-49CE-BB91-F5A769F0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最多5个问题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TEXT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SINGLE_CHOICE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MULTIPLE_CHOICE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BOOLEAN；可设必填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发布后问题不可修改</a:t>
            </a:r>
          </a:p>
        </p:txBody>
      </p:sp>
    </p:spTree>
    <p:extLst>
      <p:ext uri="{BB962C8B-B14F-4D97-AF65-F5344CB8AC3E}">
        <p14:creationId xmlns:p14="http://schemas.microsoft.com/office/powerpoint/2010/main" val="3821002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306">
            <a:extLst xmlns:a="http://schemas.openxmlformats.org/drawingml/2006/main">
              <a:ext uri="{FF2B5EF4-FFF2-40B4-BE49-F238E27FC236}">
                <a16:creationId xmlns:a16="http://schemas.microsoft.com/office/drawing/2014/main" id="{133CDE12-8A69-4BDC-8099-D3D40247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2" name="shape-307">
            <a:extLst xmlns:a="http://schemas.openxmlformats.org/drawingml/2006/main">
              <a:ext uri="{FF2B5EF4-FFF2-40B4-BE49-F238E27FC236}">
                <a16:creationId xmlns:a16="http://schemas.microsoft.com/office/drawing/2014/main" id="{7A7F4FA7-848A-4453-8240-79EEAB7E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52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数据模型与约束</a:t>
            </a:r>
          </a:p>
        </p:txBody>
      </p:sp>
      <p:sp>
        <p:nvSpPr>
          <p:cNvPr id="3" name="shape-308">
            <a:extLst xmlns:a="http://schemas.openxmlformats.org/drawingml/2006/main">
              <a:ext uri="{FF2B5EF4-FFF2-40B4-BE49-F238E27FC236}">
                <a16:creationId xmlns:a16="http://schemas.microsoft.com/office/drawing/2014/main" id="{3AC3F18A-0DD8-4697-B305-37A653E4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数据库不仅存页面数据，还要把公平、隔离和幂等写进约束。</a:t>
            </a:r>
          </a:p>
        </p:txBody>
      </p:sp>
      <p:cxnSp>
        <p:nvCxnSpPr>
          <p:cNvPr id="9" name="shape-309"/>
          <p:cNvCxnSpPr/>
          <p:nvPr/>
        </p:nvCxnSpPr>
        <p:spPr>
          <a:xfrm xmlns:a="http://schemas.openxmlformats.org/drawingml/2006/main">
            <a:off x="400050" y="57150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5" name="shape-310">
            <a:extLst xmlns:a="http://schemas.openxmlformats.org/drawingml/2006/main">
              <a:ext uri="{FF2B5EF4-FFF2-40B4-BE49-F238E27FC236}">
                <a16:creationId xmlns:a16="http://schemas.microsoft.com/office/drawing/2014/main" id="{80F8D7BE-CD9B-4D9F-A76B-887A349F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9626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68616307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hape-311">
            <a:extLst xmlns:a="http://schemas.openxmlformats.org/drawingml/2006/main">
              <a:ext uri="{FF2B5EF4-FFF2-40B4-BE49-F238E27FC236}">
                <a16:creationId xmlns:a16="http://schemas.microsoft.com/office/drawing/2014/main" id="{499ED1E9-707C-4E95-82D2-B0C74FCE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数据模型</a:t>
            </a:r>
          </a:p>
        </p:txBody>
      </p:sp>
      <p:sp>
        <p:nvSpPr>
          <p:cNvPr id="2" name="shape-312">
            <a:extLst xmlns:a="http://schemas.openxmlformats.org/drawingml/2006/main">
              <a:ext uri="{FF2B5EF4-FFF2-40B4-BE49-F238E27FC236}">
                <a16:creationId xmlns:a16="http://schemas.microsoft.com/office/drawing/2014/main" id="{4E504446-1CDB-44C9-AF73-C0CBFB40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账号、组织与活动构成数据主干</a:t>
            </a:r>
          </a:p>
        </p:txBody>
      </p:sp>
      <p:cxnSp>
        <p:nvCxnSpPr>
          <p:cNvPr id="15" name="shape-313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314">
            <a:extLst xmlns:a="http://schemas.openxmlformats.org/drawingml/2006/main">
              <a:ext uri="{FF2B5EF4-FFF2-40B4-BE49-F238E27FC236}">
                <a16:creationId xmlns:a16="http://schemas.microsoft.com/office/drawing/2014/main" id="{809F30BB-5867-4B8D-A132-E5428B32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5" name="shape-315">
            <a:extLst xmlns:a="http://schemas.openxmlformats.org/drawingml/2006/main">
              <a:ext uri="{FF2B5EF4-FFF2-40B4-BE49-F238E27FC236}">
                <a16:creationId xmlns:a16="http://schemas.microsoft.com/office/drawing/2014/main" id="{77D86BDF-6077-4DDA-810A-F3B9F42D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账号与登录</a:t>
            </a:r>
          </a:p>
        </p:txBody>
      </p:sp>
      <p:sp>
        <p:nvSpPr>
          <p:cNvPr id="6" name="shape-316">
            <a:extLst xmlns:a="http://schemas.openxmlformats.org/drawingml/2006/main">
              <a:ext uri="{FF2B5EF4-FFF2-40B4-BE49-F238E27FC236}">
                <a16:creationId xmlns:a16="http://schemas.microsoft.com/office/drawing/2014/main" id="{0C11AA38-4662-4BEA-A669-FA28C660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user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refresh_session：令牌摘要、轮换、撤销</a:t>
            </a:r>
          </a:p>
        </p:txBody>
      </p:sp>
      <p:sp>
        <p:nvSpPr>
          <p:cNvPr id="7" name="shape-317">
            <a:extLst xmlns:a="http://schemas.openxmlformats.org/drawingml/2006/main">
              <a:ext uri="{FF2B5EF4-FFF2-40B4-BE49-F238E27FC236}">
                <a16:creationId xmlns:a16="http://schemas.microsoft.com/office/drawing/2014/main" id="{FE447498-C27C-4CF5-A801-CB56E198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318">
            <a:extLst xmlns:a="http://schemas.openxmlformats.org/drawingml/2006/main">
              <a:ext uri="{FF2B5EF4-FFF2-40B4-BE49-F238E27FC236}">
                <a16:creationId xmlns:a16="http://schemas.microsoft.com/office/drawing/2014/main" id="{1630246F-D916-48FC-85D5-D69E13E0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组织</a:t>
            </a:r>
          </a:p>
        </p:txBody>
      </p:sp>
      <p:sp>
        <p:nvSpPr>
          <p:cNvPr id="9" name="shape-319">
            <a:extLst xmlns:a="http://schemas.openxmlformats.org/drawingml/2006/main">
              <a:ext uri="{FF2B5EF4-FFF2-40B4-BE49-F238E27FC236}">
                <a16:creationId xmlns:a16="http://schemas.microsoft.com/office/drawing/2014/main" id="{61425315-C2A2-49DE-9F4B-0B8E6E8F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organization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organization_member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organization_invite</a:t>
            </a:r>
          </a:p>
        </p:txBody>
      </p:sp>
      <p:sp>
        <p:nvSpPr>
          <p:cNvPr id="10" name="shape-320">
            <a:extLst xmlns:a="http://schemas.openxmlformats.org/drawingml/2006/main">
              <a:ext uri="{FF2B5EF4-FFF2-40B4-BE49-F238E27FC236}">
                <a16:creationId xmlns:a16="http://schemas.microsoft.com/office/drawing/2014/main" id="{7CCB46A3-2B9D-419A-A21B-740E2841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-321">
            <a:extLst xmlns:a="http://schemas.openxmlformats.org/drawingml/2006/main">
              <a:ext uri="{FF2B5EF4-FFF2-40B4-BE49-F238E27FC236}">
                <a16:creationId xmlns:a16="http://schemas.microsoft.com/office/drawing/2014/main" id="{A0B97ED6-70BC-408C-BFC0-6E61220F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活动</a:t>
            </a:r>
          </a:p>
        </p:txBody>
      </p:sp>
      <p:sp>
        <p:nvSpPr>
          <p:cNvPr id="12" name="shape-322">
            <a:extLst xmlns:a="http://schemas.openxmlformats.org/drawingml/2006/main">
              <a:ext uri="{FF2B5EF4-FFF2-40B4-BE49-F238E27FC236}">
                <a16:creationId xmlns:a16="http://schemas.microsoft.com/office/drawing/2014/main" id="{36BA37EF-50A3-402D-BAF1-E38C0462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activity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activity_change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activity_question</a:t>
            </a:r>
          </a:p>
        </p:txBody>
      </p:sp>
    </p:spTree>
    <p:extLst>
      <p:ext uri="{BB962C8B-B14F-4D97-AF65-F5344CB8AC3E}">
        <p14:creationId xmlns:p14="http://schemas.microsoft.com/office/powerpoint/2010/main" val="4443617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hape-323">
            <a:extLst xmlns:a="http://schemas.openxmlformats.org/drawingml/2006/main">
              <a:ext uri="{FF2B5EF4-FFF2-40B4-BE49-F238E27FC236}">
                <a16:creationId xmlns:a16="http://schemas.microsoft.com/office/drawing/2014/main" id="{67F23A26-CDC5-4212-83D0-8D262E48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数据模型</a:t>
            </a:r>
          </a:p>
        </p:txBody>
      </p:sp>
      <p:sp>
        <p:nvSpPr>
          <p:cNvPr id="2" name="shape-324">
            <a:extLst xmlns:a="http://schemas.openxmlformats.org/drawingml/2006/main">
              <a:ext uri="{FF2B5EF4-FFF2-40B4-BE49-F238E27FC236}">
                <a16:creationId xmlns:a16="http://schemas.microsoft.com/office/drawing/2014/main" id="{12FCCCF9-D963-4DE5-8E2C-48CFC913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报名、签到和异步记录形成完整证据链</a:t>
            </a:r>
          </a:p>
        </p:txBody>
      </p:sp>
      <p:cxnSp>
        <p:nvCxnSpPr>
          <p:cNvPr id="15" name="shape-325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326">
            <a:extLst xmlns:a="http://schemas.openxmlformats.org/drawingml/2006/main">
              <a:ext uri="{FF2B5EF4-FFF2-40B4-BE49-F238E27FC236}">
                <a16:creationId xmlns:a16="http://schemas.microsoft.com/office/drawing/2014/main" id="{5343E567-F77E-4631-A204-59B1960C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5" name="shape-327">
            <a:extLst xmlns:a="http://schemas.openxmlformats.org/drawingml/2006/main">
              <a:ext uri="{FF2B5EF4-FFF2-40B4-BE49-F238E27FC236}">
                <a16:creationId xmlns:a16="http://schemas.microsoft.com/office/drawing/2014/main" id="{FF0208F6-BB9C-4BCC-BF4A-CC4B6A88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报名</a:t>
            </a:r>
          </a:p>
        </p:txBody>
      </p:sp>
      <p:sp>
        <p:nvSpPr>
          <p:cNvPr id="6" name="shape-328">
            <a:extLst xmlns:a="http://schemas.openxmlformats.org/drawingml/2006/main">
              <a:ext uri="{FF2B5EF4-FFF2-40B4-BE49-F238E27FC236}">
                <a16:creationId xmlns:a16="http://schemas.microsoft.com/office/drawing/2014/main" id="{4EFD16E1-6A37-41F4-89A7-E44E6F97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registration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registration_answer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promotion_offer</a:t>
            </a:r>
          </a:p>
        </p:txBody>
      </p:sp>
      <p:sp>
        <p:nvSpPr>
          <p:cNvPr id="7" name="shape-329">
            <a:extLst xmlns:a="http://schemas.openxmlformats.org/drawingml/2006/main">
              <a:ext uri="{FF2B5EF4-FFF2-40B4-BE49-F238E27FC236}">
                <a16:creationId xmlns:a16="http://schemas.microsoft.com/office/drawing/2014/main" id="{1176E3CC-C6DD-4B32-91C6-89A7F505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330">
            <a:extLst xmlns:a="http://schemas.openxmlformats.org/drawingml/2006/main">
              <a:ext uri="{FF2B5EF4-FFF2-40B4-BE49-F238E27FC236}">
                <a16:creationId xmlns:a16="http://schemas.microsoft.com/office/drawing/2014/main" id="{038871B0-7286-4F98-93CC-7BEAD2B5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签到与通知</a:t>
            </a:r>
          </a:p>
        </p:txBody>
      </p:sp>
      <p:sp>
        <p:nvSpPr>
          <p:cNvPr id="9" name="shape-331">
            <a:extLst xmlns:a="http://schemas.openxmlformats.org/drawingml/2006/main">
              <a:ext uri="{FF2B5EF4-FFF2-40B4-BE49-F238E27FC236}">
                <a16:creationId xmlns:a16="http://schemas.microsoft.com/office/drawing/2014/main" id="{5D7434CD-A47B-4904-8B2D-89169EE7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checkin_session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checkin_record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notification</a:t>
            </a:r>
          </a:p>
        </p:txBody>
      </p:sp>
      <p:sp>
        <p:nvSpPr>
          <p:cNvPr id="10" name="shape-332">
            <a:extLst xmlns:a="http://schemas.openxmlformats.org/drawingml/2006/main">
              <a:ext uri="{FF2B5EF4-FFF2-40B4-BE49-F238E27FC236}">
                <a16:creationId xmlns:a16="http://schemas.microsoft.com/office/drawing/2014/main" id="{C7AC5B65-F003-4988-935A-DAE0A28D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-333">
            <a:extLst xmlns:a="http://schemas.openxmlformats.org/drawingml/2006/main">
              <a:ext uri="{FF2B5EF4-FFF2-40B4-BE49-F238E27FC236}">
                <a16:creationId xmlns:a16="http://schemas.microsoft.com/office/drawing/2014/main" id="{08C4EBA6-13C5-46C6-9B7C-0231F780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可靠性</a:t>
            </a:r>
          </a:p>
        </p:txBody>
      </p:sp>
      <p:sp>
        <p:nvSpPr>
          <p:cNvPr id="12" name="shape-334">
            <a:extLst xmlns:a="http://schemas.openxmlformats.org/drawingml/2006/main">
              <a:ext uri="{FF2B5EF4-FFF2-40B4-BE49-F238E27FC236}">
                <a16:creationId xmlns:a16="http://schemas.microsoft.com/office/drawing/2014/main" id="{E15702B0-3F62-4353-A2CD-CE5FFF03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audit_log：只追加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outbox_event：待发布事件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事件ID支撑幂等</a:t>
            </a:r>
          </a:p>
        </p:txBody>
      </p:sp>
    </p:spTree>
    <p:extLst>
      <p:ext uri="{BB962C8B-B14F-4D97-AF65-F5344CB8AC3E}">
        <p14:creationId xmlns:p14="http://schemas.microsoft.com/office/powerpoint/2010/main" val="3068779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hape-335">
            <a:extLst xmlns:a="http://schemas.openxmlformats.org/drawingml/2006/main">
              <a:ext uri="{FF2B5EF4-FFF2-40B4-BE49-F238E27FC236}">
                <a16:creationId xmlns:a16="http://schemas.microsoft.com/office/drawing/2014/main" id="{E3E4A710-7671-47C3-A499-0A2203FA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数据模型</a:t>
            </a:r>
          </a:p>
        </p:txBody>
      </p:sp>
      <p:sp>
        <p:nvSpPr>
          <p:cNvPr id="2" name="shape-336">
            <a:extLst xmlns:a="http://schemas.openxmlformats.org/drawingml/2006/main">
              <a:ext uri="{FF2B5EF4-FFF2-40B4-BE49-F238E27FC236}">
                <a16:creationId xmlns:a16="http://schemas.microsoft.com/office/drawing/2014/main" id="{19AB9BE3-E001-4921-A3DF-92F5F9EF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关键约束把错误挡在数据库最后一道防线</a:t>
            </a:r>
          </a:p>
        </p:txBody>
      </p:sp>
      <p:cxnSp>
        <p:nvCxnSpPr>
          <p:cNvPr id="56" name="shape-337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338">
            <a:extLst xmlns:a="http://schemas.openxmlformats.org/drawingml/2006/main">
              <a:ext uri="{FF2B5EF4-FFF2-40B4-BE49-F238E27FC236}">
                <a16:creationId xmlns:a16="http://schemas.microsoft.com/office/drawing/2014/main" id="{228D1C18-0EC6-4BE7-994E-37161F2F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5" name="shape-339">
            <a:extLst xmlns:a="http://schemas.openxmlformats.org/drawingml/2006/main">
              <a:ext uri="{FF2B5EF4-FFF2-40B4-BE49-F238E27FC236}">
                <a16:creationId xmlns:a16="http://schemas.microsoft.com/office/drawing/2014/main" id="{DDA79931-D32B-439D-8DF2-B91FC93D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95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重新报名复用主记录、开启新生命周期，并分配更靠后的queueNumber；历史由审计保留。</a:t>
            </a:r>
          </a:p>
        </p:txBody>
      </p:sp>
      <p:sp>
        <p:nvSpPr>
          <p:cNvPr id="6" name="shape-340">
            <a:extLst xmlns:a="http://schemas.openxmlformats.org/drawingml/2006/main">
              <a:ext uri="{FF2B5EF4-FFF2-40B4-BE49-F238E27FC236}">
                <a16:creationId xmlns:a16="http://schemas.microsoft.com/office/drawing/2014/main" id="{4638653A-2278-4458-952A-CFFAEC78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421933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shape-341">
            <a:extLst xmlns:a="http://schemas.openxmlformats.org/drawingml/2006/main">
              <a:ext uri="{FF2B5EF4-FFF2-40B4-BE49-F238E27FC236}">
                <a16:creationId xmlns:a16="http://schemas.microsoft.com/office/drawing/2014/main" id="{109238B8-3AE2-47F6-AAF8-FA7FE375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71700"/>
            <a:ext cx="2269533" cy="335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8" name="shape-342">
            <a:extLst xmlns:a="http://schemas.openxmlformats.org/drawingml/2006/main">
              <a:ext uri="{FF2B5EF4-FFF2-40B4-BE49-F238E27FC236}">
                <a16:creationId xmlns:a16="http://schemas.microsoft.com/office/drawing/2014/main" id="{A93B9C00-B6AF-4F6E-A8CD-C32EFD2E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983" y="2095500"/>
            <a:ext cx="4098656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shape-343">
            <a:extLst xmlns:a="http://schemas.openxmlformats.org/drawingml/2006/main">
              <a:ext uri="{FF2B5EF4-FFF2-40B4-BE49-F238E27FC236}">
                <a16:creationId xmlns:a16="http://schemas.microsoft.com/office/drawing/2014/main" id="{02502420-281D-41A1-A5E6-B5E8612D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183" y="2171700"/>
            <a:ext cx="3946256" cy="335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0" name="shape-344">
            <a:extLst xmlns:a="http://schemas.openxmlformats.org/drawingml/2006/main">
              <a:ext uri="{FF2B5EF4-FFF2-40B4-BE49-F238E27FC236}">
                <a16:creationId xmlns:a16="http://schemas.microsoft.com/office/drawing/2014/main" id="{9B3CB928-AE41-4431-8E81-E3318DE7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639" y="2095500"/>
            <a:ext cx="4471261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shape-345">
            <a:extLst xmlns:a="http://schemas.openxmlformats.org/drawingml/2006/main">
              <a:ext uri="{FF2B5EF4-FFF2-40B4-BE49-F238E27FC236}">
                <a16:creationId xmlns:a16="http://schemas.microsoft.com/office/drawing/2014/main" id="{93C5321A-A102-4F95-8E42-7F18AEB9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839" y="2171700"/>
            <a:ext cx="4318861" cy="335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解决的问题</a:t>
            </a:r>
          </a:p>
        </p:txBody>
      </p:sp>
      <p:sp>
        <p:nvSpPr>
          <p:cNvPr id="12" name="shape-346">
            <a:extLst xmlns:a="http://schemas.openxmlformats.org/drawingml/2006/main">
              <a:ext uri="{FF2B5EF4-FFF2-40B4-BE49-F238E27FC236}">
                <a16:creationId xmlns:a16="http://schemas.microsoft.com/office/drawing/2014/main" id="{CC77C9EA-D173-4CDE-8725-389B969A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83656"/>
            <a:ext cx="2421933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hape-347">
            <a:extLst xmlns:a="http://schemas.openxmlformats.org/drawingml/2006/main">
              <a:ext uri="{FF2B5EF4-FFF2-40B4-BE49-F238E27FC236}">
                <a16:creationId xmlns:a16="http://schemas.microsoft.com/office/drawing/2014/main" id="{01A1E710-51F7-4343-8C76-9C1D331E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0331"/>
            <a:ext cx="2269533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组织成员唯一</a:t>
            </a:r>
          </a:p>
        </p:txBody>
      </p:sp>
      <p:sp>
        <p:nvSpPr>
          <p:cNvPr id="14" name="shape-348">
            <a:extLst xmlns:a="http://schemas.openxmlformats.org/drawingml/2006/main">
              <a:ext uri="{FF2B5EF4-FFF2-40B4-BE49-F238E27FC236}">
                <a16:creationId xmlns:a16="http://schemas.microsoft.com/office/drawing/2014/main" id="{9B3A2957-255C-40BF-8B64-5E8E62A3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983" y="2583656"/>
            <a:ext cx="4098656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hape-349">
            <a:extLst xmlns:a="http://schemas.openxmlformats.org/drawingml/2006/main">
              <a:ext uri="{FF2B5EF4-FFF2-40B4-BE49-F238E27FC236}">
                <a16:creationId xmlns:a16="http://schemas.microsoft.com/office/drawing/2014/main" id="{37C864C8-6184-4CB4-A10D-FF96AE2F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183" y="2650331"/>
            <a:ext cx="3946256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(organization_id, user_id)</a:t>
            </a:r>
          </a:p>
        </p:txBody>
      </p:sp>
      <p:sp>
        <p:nvSpPr>
          <p:cNvPr id="16" name="shape-350">
            <a:extLst xmlns:a="http://schemas.openxmlformats.org/drawingml/2006/main">
              <a:ext uri="{FF2B5EF4-FFF2-40B4-BE49-F238E27FC236}">
                <a16:creationId xmlns:a16="http://schemas.microsoft.com/office/drawing/2014/main" id="{FEF12275-534A-4E22-8CDE-2AF214B1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639" y="2583656"/>
            <a:ext cx="4471261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hape-351">
            <a:extLst xmlns:a="http://schemas.openxmlformats.org/drawingml/2006/main">
              <a:ext uri="{FF2B5EF4-FFF2-40B4-BE49-F238E27FC236}">
                <a16:creationId xmlns:a16="http://schemas.microsoft.com/office/drawing/2014/main" id="{52E3579B-74FF-4E41-BC96-EA752299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839" y="2650331"/>
            <a:ext cx="4318861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重复加入</a:t>
            </a:r>
          </a:p>
        </p:txBody>
      </p:sp>
      <p:sp>
        <p:nvSpPr>
          <p:cNvPr id="18" name="shape-352">
            <a:extLst xmlns:a="http://schemas.openxmlformats.org/drawingml/2006/main">
              <a:ext uri="{FF2B5EF4-FFF2-40B4-BE49-F238E27FC236}">
                <a16:creationId xmlns:a16="http://schemas.microsoft.com/office/drawing/2014/main" id="{51E993AF-994E-4947-9679-CE97F99B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71813"/>
            <a:ext cx="2421933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hape-353">
            <a:extLst xmlns:a="http://schemas.openxmlformats.org/drawingml/2006/main">
              <a:ext uri="{FF2B5EF4-FFF2-40B4-BE49-F238E27FC236}">
                <a16:creationId xmlns:a16="http://schemas.microsoft.com/office/drawing/2014/main" id="{73BC33F8-257C-4740-A4D7-9492454F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38488"/>
            <a:ext cx="2269533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活动报名唯一</a:t>
            </a:r>
          </a:p>
        </p:txBody>
      </p:sp>
      <p:sp>
        <p:nvSpPr>
          <p:cNvPr id="20" name="shape-354">
            <a:extLst xmlns:a="http://schemas.openxmlformats.org/drawingml/2006/main">
              <a:ext uri="{FF2B5EF4-FFF2-40B4-BE49-F238E27FC236}">
                <a16:creationId xmlns:a16="http://schemas.microsoft.com/office/drawing/2014/main" id="{79D04B7D-FEDC-4C2B-911F-FBDE829C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983" y="3071813"/>
            <a:ext cx="4098656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hape-355">
            <a:extLst xmlns:a="http://schemas.openxmlformats.org/drawingml/2006/main">
              <a:ext uri="{FF2B5EF4-FFF2-40B4-BE49-F238E27FC236}">
                <a16:creationId xmlns:a16="http://schemas.microsoft.com/office/drawing/2014/main" id="{773027FA-5F64-4DD3-927B-C1E94641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183" y="3138488"/>
            <a:ext cx="3946256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(activity_id, user_id)</a:t>
            </a:r>
          </a:p>
        </p:txBody>
      </p:sp>
      <p:sp>
        <p:nvSpPr>
          <p:cNvPr id="22" name="shape-356">
            <a:extLst xmlns:a="http://schemas.openxmlformats.org/drawingml/2006/main">
              <a:ext uri="{FF2B5EF4-FFF2-40B4-BE49-F238E27FC236}">
                <a16:creationId xmlns:a16="http://schemas.microsoft.com/office/drawing/2014/main" id="{ABE9BCFB-9242-4CA0-B996-8C85F55E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639" y="3071813"/>
            <a:ext cx="4471261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hape-357">
            <a:extLst xmlns:a="http://schemas.openxmlformats.org/drawingml/2006/main">
              <a:ext uri="{FF2B5EF4-FFF2-40B4-BE49-F238E27FC236}">
                <a16:creationId xmlns:a16="http://schemas.microsoft.com/office/drawing/2014/main" id="{0F344318-0550-42D6-B926-E090C7AE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839" y="3138488"/>
            <a:ext cx="4318861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重复报名</a:t>
            </a:r>
          </a:p>
        </p:txBody>
      </p:sp>
      <p:sp>
        <p:nvSpPr>
          <p:cNvPr id="24" name="shape-358">
            <a:extLst xmlns:a="http://schemas.openxmlformats.org/drawingml/2006/main">
              <a:ext uri="{FF2B5EF4-FFF2-40B4-BE49-F238E27FC236}">
                <a16:creationId xmlns:a16="http://schemas.microsoft.com/office/drawing/2014/main" id="{5AC512B8-2FCA-446A-95E2-52F194F1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59969"/>
            <a:ext cx="2421933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hape-359">
            <a:extLst xmlns:a="http://schemas.openxmlformats.org/drawingml/2006/main">
              <a:ext uri="{FF2B5EF4-FFF2-40B4-BE49-F238E27FC236}">
                <a16:creationId xmlns:a16="http://schemas.microsoft.com/office/drawing/2014/main" id="{3E22A56E-520C-4C9C-AF5E-9D96A44F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6644"/>
            <a:ext cx="2269533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活动签到唯一</a:t>
            </a:r>
          </a:p>
        </p:txBody>
      </p:sp>
      <p:sp>
        <p:nvSpPr>
          <p:cNvPr id="26" name="shape-360">
            <a:extLst xmlns:a="http://schemas.openxmlformats.org/drawingml/2006/main">
              <a:ext uri="{FF2B5EF4-FFF2-40B4-BE49-F238E27FC236}">
                <a16:creationId xmlns:a16="http://schemas.microsoft.com/office/drawing/2014/main" id="{2F9751BD-818E-4791-B4A4-0A355CE2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983" y="3559969"/>
            <a:ext cx="4098656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hape-361">
            <a:extLst xmlns:a="http://schemas.openxmlformats.org/drawingml/2006/main">
              <a:ext uri="{FF2B5EF4-FFF2-40B4-BE49-F238E27FC236}">
                <a16:creationId xmlns:a16="http://schemas.microsoft.com/office/drawing/2014/main" id="{AE4ADA97-3795-4A14-B51F-122AAD90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183" y="3626644"/>
            <a:ext cx="3946256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(activity_id, user_id)</a:t>
            </a:r>
          </a:p>
        </p:txBody>
      </p:sp>
      <p:sp>
        <p:nvSpPr>
          <p:cNvPr id="28" name="shape-362">
            <a:extLst xmlns:a="http://schemas.openxmlformats.org/drawingml/2006/main">
              <a:ext uri="{FF2B5EF4-FFF2-40B4-BE49-F238E27FC236}">
                <a16:creationId xmlns:a16="http://schemas.microsoft.com/office/drawing/2014/main" id="{510A98EC-D986-45B0-8FE2-7D99C564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639" y="3559969"/>
            <a:ext cx="4471261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shape-363">
            <a:extLst xmlns:a="http://schemas.openxmlformats.org/drawingml/2006/main">
              <a:ext uri="{FF2B5EF4-FFF2-40B4-BE49-F238E27FC236}">
                <a16:creationId xmlns:a16="http://schemas.microsoft.com/office/drawing/2014/main" id="{CBD57227-5292-4FA2-85A7-906FF525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839" y="3626644"/>
            <a:ext cx="4318861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重复签到</a:t>
            </a:r>
          </a:p>
        </p:txBody>
      </p:sp>
      <p:sp>
        <p:nvSpPr>
          <p:cNvPr id="30" name="shape-364">
            <a:extLst xmlns:a="http://schemas.openxmlformats.org/drawingml/2006/main">
              <a:ext uri="{FF2B5EF4-FFF2-40B4-BE49-F238E27FC236}">
                <a16:creationId xmlns:a16="http://schemas.microsoft.com/office/drawing/2014/main" id="{FAE7CED3-3C0C-44AF-B2CE-C8A2A51A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421933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shape-365">
            <a:extLst xmlns:a="http://schemas.openxmlformats.org/drawingml/2006/main">
              <a:ext uri="{FF2B5EF4-FFF2-40B4-BE49-F238E27FC236}">
                <a16:creationId xmlns:a16="http://schemas.microsoft.com/office/drawing/2014/main" id="{AF02AEF2-5EFA-4692-BB7F-90735171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14800"/>
            <a:ext cx="2269533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候补编号</a:t>
            </a:r>
          </a:p>
        </p:txBody>
      </p:sp>
      <p:sp>
        <p:nvSpPr>
          <p:cNvPr id="32" name="shape-366">
            <a:extLst xmlns:a="http://schemas.openxmlformats.org/drawingml/2006/main">
              <a:ext uri="{FF2B5EF4-FFF2-40B4-BE49-F238E27FC236}">
                <a16:creationId xmlns:a16="http://schemas.microsoft.com/office/drawing/2014/main" id="{9AB0C2F8-518D-4132-99D4-73618185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983" y="4048125"/>
            <a:ext cx="4098656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shape-367">
            <a:extLst xmlns:a="http://schemas.openxmlformats.org/drawingml/2006/main">
              <a:ext uri="{FF2B5EF4-FFF2-40B4-BE49-F238E27FC236}">
                <a16:creationId xmlns:a16="http://schemas.microsoft.com/office/drawing/2014/main" id="{B8C79636-F327-4767-B323-57DA515C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183" y="4114800"/>
            <a:ext cx="3946256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同次生命周期唯一且不可改</a:t>
            </a:r>
          </a:p>
        </p:txBody>
      </p:sp>
      <p:sp>
        <p:nvSpPr>
          <p:cNvPr id="34" name="shape-368">
            <a:extLst xmlns:a="http://schemas.openxmlformats.org/drawingml/2006/main">
              <a:ext uri="{FF2B5EF4-FFF2-40B4-BE49-F238E27FC236}">
                <a16:creationId xmlns:a16="http://schemas.microsoft.com/office/drawing/2014/main" id="{B6773F70-1A3F-44A3-A801-5ACC88FC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639" y="4048125"/>
            <a:ext cx="4471261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shape-369">
            <a:extLst xmlns:a="http://schemas.openxmlformats.org/drawingml/2006/main">
              <a:ext uri="{FF2B5EF4-FFF2-40B4-BE49-F238E27FC236}">
                <a16:creationId xmlns:a16="http://schemas.microsoft.com/office/drawing/2014/main" id="{D05E239D-0016-4FD8-8E84-1B38E5F2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839" y="4114800"/>
            <a:ext cx="4318861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私下插队</a:t>
            </a:r>
          </a:p>
        </p:txBody>
      </p:sp>
      <p:sp>
        <p:nvSpPr>
          <p:cNvPr id="36" name="shape-370">
            <a:extLst xmlns:a="http://schemas.openxmlformats.org/drawingml/2006/main">
              <a:ext uri="{FF2B5EF4-FFF2-40B4-BE49-F238E27FC236}">
                <a16:creationId xmlns:a16="http://schemas.microsoft.com/office/drawing/2014/main" id="{B37D5B84-C4F7-4BDC-B6A0-3BE70937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6281"/>
            <a:ext cx="2421933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shape-371">
            <a:extLst xmlns:a="http://schemas.openxmlformats.org/drawingml/2006/main">
              <a:ext uri="{FF2B5EF4-FFF2-40B4-BE49-F238E27FC236}">
                <a16:creationId xmlns:a16="http://schemas.microsoft.com/office/drawing/2014/main" id="{A5F0EFE7-2847-49C5-A5ED-3C046F0F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02956"/>
            <a:ext cx="2269533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组织字段</a:t>
            </a:r>
          </a:p>
        </p:txBody>
      </p:sp>
      <p:sp>
        <p:nvSpPr>
          <p:cNvPr id="38" name="shape-372">
            <a:extLst xmlns:a="http://schemas.openxmlformats.org/drawingml/2006/main">
              <a:ext uri="{FF2B5EF4-FFF2-40B4-BE49-F238E27FC236}">
                <a16:creationId xmlns:a16="http://schemas.microsoft.com/office/drawing/2014/main" id="{897B95A3-EB20-46EA-93BF-E47D2730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983" y="4536281"/>
            <a:ext cx="4098656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shape-373">
            <a:extLst xmlns:a="http://schemas.openxmlformats.org/drawingml/2006/main">
              <a:ext uri="{FF2B5EF4-FFF2-40B4-BE49-F238E27FC236}">
                <a16:creationId xmlns:a16="http://schemas.microsoft.com/office/drawing/2014/main" id="{B6386510-F6D6-4B3F-BF47-08E77DAE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183" y="4602956"/>
            <a:ext cx="3946256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业务表显式携带organization_id</a:t>
            </a:r>
          </a:p>
        </p:txBody>
      </p:sp>
      <p:sp>
        <p:nvSpPr>
          <p:cNvPr id="40" name="shape-374">
            <a:extLst xmlns:a="http://schemas.openxmlformats.org/drawingml/2006/main">
              <a:ext uri="{FF2B5EF4-FFF2-40B4-BE49-F238E27FC236}">
                <a16:creationId xmlns:a16="http://schemas.microsoft.com/office/drawing/2014/main" id="{2A73265A-AA3C-42A8-B593-FD3CB593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639" y="4536281"/>
            <a:ext cx="4471261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shape-375">
            <a:extLst xmlns:a="http://schemas.openxmlformats.org/drawingml/2006/main">
              <a:ext uri="{FF2B5EF4-FFF2-40B4-BE49-F238E27FC236}">
                <a16:creationId xmlns:a16="http://schemas.microsoft.com/office/drawing/2014/main" id="{8574FFF7-41C5-4E9B-9981-A4F91088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839" y="4602956"/>
            <a:ext cx="4318861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跨组织越权</a:t>
            </a:r>
          </a:p>
        </p:txBody>
      </p:sp>
      <p:sp>
        <p:nvSpPr>
          <p:cNvPr id="42" name="shape-376">
            <a:extLst xmlns:a="http://schemas.openxmlformats.org/drawingml/2006/main">
              <a:ext uri="{FF2B5EF4-FFF2-40B4-BE49-F238E27FC236}">
                <a16:creationId xmlns:a16="http://schemas.microsoft.com/office/drawing/2014/main" id="{D5FB30A6-3803-40BB-B9CB-C1A5635E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4438"/>
            <a:ext cx="2421933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shape-377">
            <a:extLst xmlns:a="http://schemas.openxmlformats.org/drawingml/2006/main">
              <a:ext uri="{FF2B5EF4-FFF2-40B4-BE49-F238E27FC236}">
                <a16:creationId xmlns:a16="http://schemas.microsoft.com/office/drawing/2014/main" id="{5B4F710A-A710-49D0-998D-CAEB0406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1113"/>
            <a:ext cx="2269533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审计日志</a:t>
            </a:r>
          </a:p>
        </p:txBody>
      </p:sp>
      <p:sp>
        <p:nvSpPr>
          <p:cNvPr id="44" name="shape-378">
            <a:extLst xmlns:a="http://schemas.openxmlformats.org/drawingml/2006/main">
              <a:ext uri="{FF2B5EF4-FFF2-40B4-BE49-F238E27FC236}">
                <a16:creationId xmlns:a16="http://schemas.microsoft.com/office/drawing/2014/main" id="{BFF81A79-76E3-4C77-90CD-70C4E855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983" y="5024438"/>
            <a:ext cx="4098656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shape-379">
            <a:extLst xmlns:a="http://schemas.openxmlformats.org/drawingml/2006/main">
              <a:ext uri="{FF2B5EF4-FFF2-40B4-BE49-F238E27FC236}">
                <a16:creationId xmlns:a16="http://schemas.microsoft.com/office/drawing/2014/main" id="{03077CE0-ADBA-426E-BA9E-394D349D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183" y="5091113"/>
            <a:ext cx="3946256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只追加，不由普通业务修改</a:t>
            </a:r>
          </a:p>
        </p:txBody>
      </p:sp>
      <p:sp>
        <p:nvSpPr>
          <p:cNvPr id="46" name="shape-380">
            <a:extLst xmlns:a="http://schemas.openxmlformats.org/drawingml/2006/main">
              <a:ext uri="{FF2B5EF4-FFF2-40B4-BE49-F238E27FC236}">
                <a16:creationId xmlns:a16="http://schemas.microsoft.com/office/drawing/2014/main" id="{2FDBDC59-157E-41CB-8004-CE17ED2F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639" y="5024438"/>
            <a:ext cx="4471261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shape-381">
            <a:extLst xmlns:a="http://schemas.openxmlformats.org/drawingml/2006/main">
              <a:ext uri="{FF2B5EF4-FFF2-40B4-BE49-F238E27FC236}">
                <a16:creationId xmlns:a16="http://schemas.microsoft.com/office/drawing/2014/main" id="{C01D3BF1-1624-48AF-8327-06C012F3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839" y="5091113"/>
            <a:ext cx="4318861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事后无法追踪</a:t>
            </a:r>
          </a:p>
        </p:txBody>
      </p:sp>
      <p:sp>
        <p:nvSpPr>
          <p:cNvPr id="48" name="shape-382">
            <a:extLst xmlns:a="http://schemas.openxmlformats.org/drawingml/2006/main">
              <a:ext uri="{FF2B5EF4-FFF2-40B4-BE49-F238E27FC236}">
                <a16:creationId xmlns:a16="http://schemas.microsoft.com/office/drawing/2014/main" id="{6AAF61CE-F461-4F46-A4B4-10FBFC95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12594"/>
            <a:ext cx="2421933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shape-383">
            <a:extLst xmlns:a="http://schemas.openxmlformats.org/drawingml/2006/main">
              <a:ext uri="{FF2B5EF4-FFF2-40B4-BE49-F238E27FC236}">
                <a16:creationId xmlns:a16="http://schemas.microsoft.com/office/drawing/2014/main" id="{28710943-1C69-47C5-8CA6-C70107D4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79269"/>
            <a:ext cx="2269533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事务边界</a:t>
            </a:r>
          </a:p>
        </p:txBody>
      </p:sp>
      <p:sp>
        <p:nvSpPr>
          <p:cNvPr id="50" name="shape-384">
            <a:extLst xmlns:a="http://schemas.openxmlformats.org/drawingml/2006/main">
              <a:ext uri="{FF2B5EF4-FFF2-40B4-BE49-F238E27FC236}">
                <a16:creationId xmlns:a16="http://schemas.microsoft.com/office/drawing/2014/main" id="{E5BB2CD1-930A-491E-8251-8E3DC854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983" y="5512594"/>
            <a:ext cx="4098656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shape-385">
            <a:extLst xmlns:a="http://schemas.openxmlformats.org/drawingml/2006/main">
              <a:ext uri="{FF2B5EF4-FFF2-40B4-BE49-F238E27FC236}">
                <a16:creationId xmlns:a16="http://schemas.microsoft.com/office/drawing/2014/main" id="{71BC1B09-4151-4992-ABD2-3373F648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183" y="5579269"/>
            <a:ext cx="3946256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业务 + 审计 + Outbox同事务</a:t>
            </a:r>
          </a:p>
        </p:txBody>
      </p:sp>
      <p:sp>
        <p:nvSpPr>
          <p:cNvPr id="52" name="shape-386">
            <a:extLst xmlns:a="http://schemas.openxmlformats.org/drawingml/2006/main">
              <a:ext uri="{FF2B5EF4-FFF2-40B4-BE49-F238E27FC236}">
                <a16:creationId xmlns:a16="http://schemas.microsoft.com/office/drawing/2014/main" id="{208B5B50-8C28-4F73-A89E-7288C456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0639" y="5512594"/>
            <a:ext cx="4471261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shape-387">
            <a:extLst xmlns:a="http://schemas.openxmlformats.org/drawingml/2006/main">
              <a:ext uri="{FF2B5EF4-FFF2-40B4-BE49-F238E27FC236}">
                <a16:creationId xmlns:a16="http://schemas.microsoft.com/office/drawing/2014/main" id="{3F30F7FF-38F5-4EEB-88CF-32D08A5B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6839" y="5579269"/>
            <a:ext cx="4318861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消息与业务不一致</a:t>
            </a:r>
          </a:p>
        </p:txBody>
      </p:sp>
    </p:spTree>
    <p:extLst>
      <p:ext uri="{BB962C8B-B14F-4D97-AF65-F5344CB8AC3E}">
        <p14:creationId xmlns:p14="http://schemas.microsoft.com/office/powerpoint/2010/main" val="7567337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388">
            <a:extLst xmlns:a="http://schemas.openxmlformats.org/drawingml/2006/main">
              <a:ext uri="{FF2B5EF4-FFF2-40B4-BE49-F238E27FC236}">
                <a16:creationId xmlns:a16="http://schemas.microsoft.com/office/drawing/2014/main" id="{8715B98A-2B23-4852-AD0A-24390B00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2" name="shape-389">
            <a:extLst xmlns:a="http://schemas.openxmlformats.org/drawingml/2006/main">
              <a:ext uri="{FF2B5EF4-FFF2-40B4-BE49-F238E27FC236}">
                <a16:creationId xmlns:a16="http://schemas.microsoft.com/office/drawing/2014/main" id="{492ABA21-AEDC-4F21-AC7A-77402C57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52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并发、一致性与中间件</a:t>
            </a:r>
          </a:p>
        </p:txBody>
      </p:sp>
      <p:sp>
        <p:nvSpPr>
          <p:cNvPr id="3" name="shape-390">
            <a:extLst xmlns:a="http://schemas.openxmlformats.org/drawingml/2006/main">
              <a:ext uri="{FF2B5EF4-FFF2-40B4-BE49-F238E27FC236}">
                <a16:creationId xmlns:a16="http://schemas.microsoft.com/office/drawing/2014/main" id="{E1022850-A5A9-4FC9-B200-92F73340C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中间件可以故障，名额不能超卖。</a:t>
            </a:r>
          </a:p>
        </p:txBody>
      </p:sp>
      <p:cxnSp>
        <p:nvCxnSpPr>
          <p:cNvPr id="9" name="shape-391"/>
          <p:cNvCxnSpPr/>
          <p:nvPr/>
        </p:nvCxnSpPr>
        <p:spPr>
          <a:xfrm xmlns:a="http://schemas.openxmlformats.org/drawingml/2006/main">
            <a:off x="400050" y="57150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5" name="shape-392">
            <a:extLst xmlns:a="http://schemas.openxmlformats.org/drawingml/2006/main">
              <a:ext uri="{FF2B5EF4-FFF2-40B4-BE49-F238E27FC236}">
                <a16:creationId xmlns:a16="http://schemas.microsoft.com/office/drawing/2014/main" id="{0132F43A-7E97-4E52-AB13-3DA2B66E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9626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72026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hape-393">
            <a:extLst xmlns:a="http://schemas.openxmlformats.org/drawingml/2006/main">
              <a:ext uri="{FF2B5EF4-FFF2-40B4-BE49-F238E27FC236}">
                <a16:creationId xmlns:a16="http://schemas.microsoft.com/office/drawing/2014/main" id="{07DF6BAF-B595-4DFE-A537-F56BD8146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一致性</a:t>
            </a:r>
          </a:p>
        </p:txBody>
      </p:sp>
      <p:sp>
        <p:nvSpPr>
          <p:cNvPr id="2" name="shape-394">
            <a:extLst xmlns:a="http://schemas.openxmlformats.org/drawingml/2006/main">
              <a:ext uri="{FF2B5EF4-FFF2-40B4-BE49-F238E27FC236}">
                <a16:creationId xmlns:a16="http://schemas.microsoft.com/office/drawing/2014/main" id="{8F35D807-E5E1-48F9-ADD0-FFB0E136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三类存储有明确的最终责任</a:t>
            </a:r>
          </a:p>
        </p:txBody>
      </p:sp>
      <p:cxnSp>
        <p:nvCxnSpPr>
          <p:cNvPr id="15" name="shape-395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396">
            <a:extLst xmlns:a="http://schemas.openxmlformats.org/drawingml/2006/main">
              <a:ext uri="{FF2B5EF4-FFF2-40B4-BE49-F238E27FC236}">
                <a16:creationId xmlns:a16="http://schemas.microsoft.com/office/drawing/2014/main" id="{974A8569-F253-4CE3-9297-E125F3C4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5" name="shape-397">
            <a:extLst xmlns:a="http://schemas.openxmlformats.org/drawingml/2006/main">
              <a:ext uri="{FF2B5EF4-FFF2-40B4-BE49-F238E27FC236}">
                <a16:creationId xmlns:a16="http://schemas.microsoft.com/office/drawing/2014/main" id="{FEDCB541-CBBC-49C7-9198-391C71AA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6" name="shape-398">
            <a:extLst xmlns:a="http://schemas.openxmlformats.org/drawingml/2006/main">
              <a:ext uri="{FF2B5EF4-FFF2-40B4-BE49-F238E27FC236}">
                <a16:creationId xmlns:a16="http://schemas.microsoft.com/office/drawing/2014/main" id="{948F12AF-E63D-4B81-B8D8-546C0DCB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业务最终事实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事务、行锁、唯一约束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候补过期时间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关键审计和Outbox</a:t>
            </a:r>
          </a:p>
        </p:txBody>
      </p:sp>
      <p:sp>
        <p:nvSpPr>
          <p:cNvPr id="7" name="shape-399">
            <a:extLst xmlns:a="http://schemas.openxmlformats.org/drawingml/2006/main">
              <a:ext uri="{FF2B5EF4-FFF2-40B4-BE49-F238E27FC236}">
                <a16:creationId xmlns:a16="http://schemas.microsoft.com/office/drawing/2014/main" id="{CFB5CA5A-F68B-474E-905A-75B7F9F8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400">
            <a:extLst xmlns:a="http://schemas.openxmlformats.org/drawingml/2006/main">
              <a:ext uri="{FF2B5EF4-FFF2-40B4-BE49-F238E27FC236}">
                <a16:creationId xmlns:a16="http://schemas.microsoft.com/office/drawing/2014/main" id="{3307A4E7-81A2-436D-A24D-50BED5C9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9" name="shape-401">
            <a:extLst xmlns:a="http://schemas.openxmlformats.org/drawingml/2006/main">
              <a:ext uri="{FF2B5EF4-FFF2-40B4-BE49-F238E27FC236}">
                <a16:creationId xmlns:a16="http://schemas.microsoft.com/office/drawing/2014/main" id="{17774F46-9FE7-468E-9949-EAC28036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缓存与限流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分布式锁辅助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动态签到码TTL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失败可回退</a:t>
            </a:r>
          </a:p>
        </p:txBody>
      </p:sp>
      <p:sp>
        <p:nvSpPr>
          <p:cNvPr id="10" name="shape-402">
            <a:extLst xmlns:a="http://schemas.openxmlformats.org/drawingml/2006/main">
              <a:ext uri="{FF2B5EF4-FFF2-40B4-BE49-F238E27FC236}">
                <a16:creationId xmlns:a16="http://schemas.microsoft.com/office/drawing/2014/main" id="{BE361500-B268-43A6-9AB4-B26620E6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-403">
            <a:extLst xmlns:a="http://schemas.openxmlformats.org/drawingml/2006/main">
              <a:ext uri="{FF2B5EF4-FFF2-40B4-BE49-F238E27FC236}">
                <a16:creationId xmlns:a16="http://schemas.microsoft.com/office/drawing/2014/main" id="{03EACCEE-CC00-43DD-8152-2F063014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Kafka</a:t>
            </a:r>
          </a:p>
        </p:txBody>
      </p:sp>
      <p:sp>
        <p:nvSpPr>
          <p:cNvPr id="12" name="shape-404">
            <a:extLst xmlns:a="http://schemas.openxmlformats.org/drawingml/2006/main">
              <a:ext uri="{FF2B5EF4-FFF2-40B4-BE49-F238E27FC236}">
                <a16:creationId xmlns:a16="http://schemas.microsoft.com/office/drawing/2014/main" id="{28D4E0D2-86EA-42F9-B324-11CE32F8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活动、报名、签到事件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异步通知和统计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允许重复交付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失败由Outbox补发</a:t>
            </a:r>
          </a:p>
        </p:txBody>
      </p:sp>
    </p:spTree>
    <p:extLst>
      <p:ext uri="{BB962C8B-B14F-4D97-AF65-F5344CB8AC3E}">
        <p14:creationId xmlns:p14="http://schemas.microsoft.com/office/powerpoint/2010/main" val="102270597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hape-405">
            <a:extLst xmlns:a="http://schemas.openxmlformats.org/drawingml/2006/main">
              <a:ext uri="{FF2B5EF4-FFF2-40B4-BE49-F238E27FC236}">
                <a16:creationId xmlns:a16="http://schemas.microsoft.com/office/drawing/2014/main" id="{47500CD0-9766-4C90-9783-941E1532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一致性</a:t>
            </a:r>
          </a:p>
        </p:txBody>
      </p:sp>
      <p:sp>
        <p:nvSpPr>
          <p:cNvPr id="2" name="shape-406">
            <a:extLst xmlns:a="http://schemas.openxmlformats.org/drawingml/2006/main">
              <a:ext uri="{FF2B5EF4-FFF2-40B4-BE49-F238E27FC236}">
                <a16:creationId xmlns:a16="http://schemas.microsoft.com/office/drawing/2014/main" id="{73A7D0B1-DBEB-4B94-AD53-FF51AF21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一次报名通过双层保护获得确定结果</a:t>
            </a:r>
          </a:p>
        </p:txBody>
      </p:sp>
      <p:cxnSp>
        <p:nvCxnSpPr>
          <p:cNvPr id="24" name="shape-407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408">
            <a:extLst xmlns:a="http://schemas.openxmlformats.org/drawingml/2006/main">
              <a:ext uri="{FF2B5EF4-FFF2-40B4-BE49-F238E27FC236}">
                <a16:creationId xmlns:a16="http://schemas.microsoft.com/office/drawing/2014/main" id="{22B83EAC-A164-473F-8073-22157FC5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cxnSp>
        <p:nvCxnSpPr>
          <p:cNvPr id="26" name="shape-409"/>
          <p:cNvCxnSpPr/>
          <p:nvPr/>
        </p:nvCxnSpPr>
        <p:spPr>
          <a:xfrm xmlns:a="http://schemas.openxmlformats.org/drawingml/2006/main">
            <a:off x="514350" y="3571875"/>
            <a:ext cx="111633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shape-410">
            <a:extLst xmlns:a="http://schemas.openxmlformats.org/drawingml/2006/main">
              <a:ext uri="{FF2B5EF4-FFF2-40B4-BE49-F238E27FC236}">
                <a16:creationId xmlns:a16="http://schemas.microsoft.com/office/drawing/2014/main" id="{E730B16A-03E5-4E9D-89BE-445F2F53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411">
            <a:extLst xmlns:a="http://schemas.openxmlformats.org/drawingml/2006/main">
              <a:ext uri="{FF2B5EF4-FFF2-40B4-BE49-F238E27FC236}">
                <a16:creationId xmlns:a16="http://schemas.microsoft.com/office/drawing/2014/main" id="{2BEBC249-2A71-45ED-AAE6-7C0AF137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Redis短锁</a:t>
            </a:r>
          </a:p>
        </p:txBody>
      </p:sp>
      <p:sp>
        <p:nvSpPr>
          <p:cNvPr id="8" name="shape-412">
            <a:extLst xmlns:a="http://schemas.openxmlformats.org/drawingml/2006/main">
              <a:ext uri="{FF2B5EF4-FFF2-40B4-BE49-F238E27FC236}">
                <a16:creationId xmlns:a16="http://schemas.microsoft.com/office/drawing/2014/main" id="{26591DB4-4347-4907-A6F1-54519F70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带所有者标识</a:t>
            </a:r>
          </a:p>
        </p:txBody>
      </p:sp>
      <p:sp>
        <p:nvSpPr>
          <p:cNvPr id="9" name="shape-413">
            <a:extLst xmlns:a="http://schemas.openxmlformats.org/drawingml/2006/main">
              <a:ext uri="{FF2B5EF4-FFF2-40B4-BE49-F238E27FC236}">
                <a16:creationId xmlns:a16="http://schemas.microsoft.com/office/drawing/2014/main" id="{ACA74169-7EE6-4DAE-8503-B2A89FAB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414">
            <a:extLst xmlns:a="http://schemas.openxmlformats.org/drawingml/2006/main">
              <a:ext uri="{FF2B5EF4-FFF2-40B4-BE49-F238E27FC236}">
                <a16:creationId xmlns:a16="http://schemas.microsoft.com/office/drawing/2014/main" id="{38A8C18B-0702-4866-935D-35B5F022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锁活动行</a:t>
            </a:r>
          </a:p>
        </p:txBody>
      </p:sp>
      <p:sp>
        <p:nvSpPr>
          <p:cNvPr id="11" name="shape-415">
            <a:extLst xmlns:a="http://schemas.openxmlformats.org/drawingml/2006/main">
              <a:ext uri="{FF2B5EF4-FFF2-40B4-BE49-F238E27FC236}">
                <a16:creationId xmlns:a16="http://schemas.microsoft.com/office/drawing/2014/main" id="{D7F44A19-C3BB-4E0B-8072-A5B5DA5B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654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SELECT FOR UPDATE</a:t>
            </a:r>
          </a:p>
        </p:txBody>
      </p:sp>
      <p:sp>
        <p:nvSpPr>
          <p:cNvPr id="12" name="shape-416">
            <a:extLst xmlns:a="http://schemas.openxmlformats.org/drawingml/2006/main">
              <a:ext uri="{FF2B5EF4-FFF2-40B4-BE49-F238E27FC236}">
                <a16:creationId xmlns:a16="http://schemas.microsoft.com/office/drawing/2014/main" id="{CAA8C406-52C7-4BEA-B3B2-C1C4A1FD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-417">
            <a:extLst xmlns:a="http://schemas.openxmlformats.org/drawingml/2006/main">
              <a:ext uri="{FF2B5EF4-FFF2-40B4-BE49-F238E27FC236}">
                <a16:creationId xmlns:a16="http://schemas.microsoft.com/office/drawing/2014/main" id="{C1235F91-2C0E-4AA5-9CF8-82E6EB72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校验状态</a:t>
            </a:r>
          </a:p>
        </p:txBody>
      </p:sp>
      <p:sp>
        <p:nvSpPr>
          <p:cNvPr id="14" name="shape-418">
            <a:extLst xmlns:a="http://schemas.openxmlformats.org/drawingml/2006/main">
              <a:ext uri="{FF2B5EF4-FFF2-40B4-BE49-F238E27FC236}">
                <a16:creationId xmlns:a16="http://schemas.microsoft.com/office/drawing/2014/main" id="{08EDCD9D-8376-40A7-8733-C65B064E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时间、重复、容量</a:t>
            </a:r>
          </a:p>
        </p:txBody>
      </p:sp>
      <p:sp>
        <p:nvSpPr>
          <p:cNvPr id="15" name="shape-419">
            <a:extLst xmlns:a="http://schemas.openxmlformats.org/drawingml/2006/main">
              <a:ext uri="{FF2B5EF4-FFF2-40B4-BE49-F238E27FC236}">
                <a16:creationId xmlns:a16="http://schemas.microsoft.com/office/drawing/2014/main" id="{5BA323F4-A342-4780-BA8A-42F5BDC4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-420">
            <a:extLst xmlns:a="http://schemas.openxmlformats.org/drawingml/2006/main">
              <a:ext uri="{FF2B5EF4-FFF2-40B4-BE49-F238E27FC236}">
                <a16:creationId xmlns:a16="http://schemas.microsoft.com/office/drawing/2014/main" id="{78ADC6B9-D4F9-49A6-9A18-F9AEA351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写报名</a:t>
            </a:r>
          </a:p>
        </p:txBody>
      </p:sp>
      <p:sp>
        <p:nvSpPr>
          <p:cNvPr id="17" name="shape-421">
            <a:extLst xmlns:a="http://schemas.openxmlformats.org/drawingml/2006/main">
              <a:ext uri="{FF2B5EF4-FFF2-40B4-BE49-F238E27FC236}">
                <a16:creationId xmlns:a16="http://schemas.microsoft.com/office/drawing/2014/main" id="{0C124424-4202-4C3D-A40E-F5F458D4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确认或候补</a:t>
            </a:r>
          </a:p>
        </p:txBody>
      </p:sp>
      <p:sp>
        <p:nvSpPr>
          <p:cNvPr id="18" name="shape-422">
            <a:extLst xmlns:a="http://schemas.openxmlformats.org/drawingml/2006/main">
              <a:ext uri="{FF2B5EF4-FFF2-40B4-BE49-F238E27FC236}">
                <a16:creationId xmlns:a16="http://schemas.microsoft.com/office/drawing/2014/main" id="{433B7726-5583-4B56-85DF-024C62EA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-423">
            <a:extLst xmlns:a="http://schemas.openxmlformats.org/drawingml/2006/main">
              <a:ext uri="{FF2B5EF4-FFF2-40B4-BE49-F238E27FC236}">
                <a16:creationId xmlns:a16="http://schemas.microsoft.com/office/drawing/2014/main" id="{0BFDAB79-2CD2-4C48-BA1A-079E2A42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同事务写入</a:t>
            </a:r>
          </a:p>
        </p:txBody>
      </p:sp>
      <p:sp>
        <p:nvSpPr>
          <p:cNvPr id="20" name="shape-424">
            <a:extLst xmlns:a="http://schemas.openxmlformats.org/drawingml/2006/main">
              <a:ext uri="{FF2B5EF4-FFF2-40B4-BE49-F238E27FC236}">
                <a16:creationId xmlns:a16="http://schemas.microsoft.com/office/drawing/2014/main" id="{7B811059-1F8B-4013-9762-7A867327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审计 + Outbox</a:t>
            </a:r>
          </a:p>
        </p:txBody>
      </p:sp>
      <p:sp>
        <p:nvSpPr>
          <p:cNvPr id="21" name="shape-425">
            <a:extLst xmlns:a="http://schemas.openxmlformats.org/drawingml/2006/main">
              <a:ext uri="{FF2B5EF4-FFF2-40B4-BE49-F238E27FC236}">
                <a16:creationId xmlns:a16="http://schemas.microsoft.com/office/drawing/2014/main" id="{94A04888-896E-4DCD-9CC8-A3D4E864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Redis锁只减少竞争；数据库事务、行锁、状态条件和唯一约束才是最终正确性保证。</a:t>
            </a:r>
          </a:p>
        </p:txBody>
      </p:sp>
    </p:spTree>
    <p:extLst>
      <p:ext uri="{BB962C8B-B14F-4D97-AF65-F5344CB8AC3E}">
        <p14:creationId xmlns:p14="http://schemas.microsoft.com/office/powerpoint/2010/main" val="14721522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426">
            <a:extLst xmlns:a="http://schemas.openxmlformats.org/drawingml/2006/main">
              <a:ext uri="{FF2B5EF4-FFF2-40B4-BE49-F238E27FC236}">
                <a16:creationId xmlns:a16="http://schemas.microsoft.com/office/drawing/2014/main" id="{9882573A-D4B2-4E05-91C5-3A0EBE02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一致性</a:t>
            </a:r>
          </a:p>
        </p:txBody>
      </p:sp>
      <p:sp>
        <p:nvSpPr>
          <p:cNvPr id="2" name="shape-427">
            <a:extLst xmlns:a="http://schemas.openxmlformats.org/drawingml/2006/main">
              <a:ext uri="{FF2B5EF4-FFF2-40B4-BE49-F238E27FC236}">
                <a16:creationId xmlns:a16="http://schemas.microsoft.com/office/drawing/2014/main" id="{794DEE73-E007-47B0-B6AE-62DE94B5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Redis提升体验，但不成为单点失败</a:t>
            </a:r>
          </a:p>
        </p:txBody>
      </p:sp>
      <p:cxnSp>
        <p:nvCxnSpPr>
          <p:cNvPr id="12" name="shape-428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429">
            <a:extLst xmlns:a="http://schemas.openxmlformats.org/drawingml/2006/main">
              <a:ext uri="{FF2B5EF4-FFF2-40B4-BE49-F238E27FC236}">
                <a16:creationId xmlns:a16="http://schemas.microsoft.com/office/drawing/2014/main" id="{86A35DF0-2FDB-47C9-AB89-E683C11D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5" name="shape-430">
            <a:extLst xmlns:a="http://schemas.openxmlformats.org/drawingml/2006/main">
              <a:ext uri="{FF2B5EF4-FFF2-40B4-BE49-F238E27FC236}">
                <a16:creationId xmlns:a16="http://schemas.microsoft.com/office/drawing/2014/main" id="{BF3F327F-9A90-434F-A49F-D20A58EB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正常使用</a:t>
            </a:r>
          </a:p>
        </p:txBody>
      </p:sp>
      <p:sp>
        <p:nvSpPr>
          <p:cNvPr id="6" name="shape-431">
            <a:extLst xmlns:a="http://schemas.openxmlformats.org/drawingml/2006/main">
              <a:ext uri="{FF2B5EF4-FFF2-40B4-BE49-F238E27FC236}">
                <a16:creationId xmlns:a16="http://schemas.microsoft.com/office/drawing/2014/main" id="{704EE056-8577-40FF-B707-5DD5EB5E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Cache Aside缓存活动详情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活动维度并发锁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登录、报名、签到限流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动态签到码与TTL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短期候补倒计时展示</a:t>
            </a:r>
          </a:p>
        </p:txBody>
      </p:sp>
      <p:sp>
        <p:nvSpPr>
          <p:cNvPr id="7" name="shape-432">
            <a:extLst xmlns:a="http://schemas.openxmlformats.org/drawingml/2006/main">
              <a:ext uri="{FF2B5EF4-FFF2-40B4-BE49-F238E27FC236}">
                <a16:creationId xmlns:a16="http://schemas.microsoft.com/office/drawing/2014/main" id="{B01CD32A-F619-41E8-902E-3D0C1980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4288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433">
            <a:extLst xmlns:a="http://schemas.openxmlformats.org/drawingml/2006/main">
              <a:ext uri="{FF2B5EF4-FFF2-40B4-BE49-F238E27FC236}">
                <a16:creationId xmlns:a16="http://schemas.microsoft.com/office/drawing/2014/main" id="{7D7A3907-80F0-410A-A31E-5AB6DF97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Redis故障</a:t>
            </a:r>
          </a:p>
        </p:txBody>
      </p:sp>
      <p:sp>
        <p:nvSpPr>
          <p:cNvPr id="9" name="shape-434">
            <a:extLst xmlns:a="http://schemas.openxmlformats.org/drawingml/2006/main">
              <a:ext uri="{FF2B5EF4-FFF2-40B4-BE49-F238E27FC236}">
                <a16:creationId xmlns:a16="http://schemas.microsoft.com/office/drawing/2014/main" id="{8D0D585C-F1E4-4378-B7C8-8E858162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缓存查询回源MySQL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报名退化为数据库行锁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候补过期仍以expiresAt为准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动态码暂不可用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负责人使用人工补签</a:t>
            </a:r>
          </a:p>
        </p:txBody>
      </p:sp>
    </p:spTree>
    <p:extLst>
      <p:ext uri="{BB962C8B-B14F-4D97-AF65-F5344CB8AC3E}">
        <p14:creationId xmlns:p14="http://schemas.microsoft.com/office/powerpoint/2010/main" val="183311207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hape-435">
            <a:extLst xmlns:a="http://schemas.openxmlformats.org/drawingml/2006/main">
              <a:ext uri="{FF2B5EF4-FFF2-40B4-BE49-F238E27FC236}">
                <a16:creationId xmlns:a16="http://schemas.microsoft.com/office/drawing/2014/main" id="{901AAA53-1E3D-4D35-BBD2-09D688C8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一致性</a:t>
            </a:r>
          </a:p>
        </p:txBody>
      </p:sp>
      <p:sp>
        <p:nvSpPr>
          <p:cNvPr id="2" name="shape-436">
            <a:extLst xmlns:a="http://schemas.openxmlformats.org/drawingml/2006/main">
              <a:ext uri="{FF2B5EF4-FFF2-40B4-BE49-F238E27FC236}">
                <a16:creationId xmlns:a16="http://schemas.microsoft.com/office/drawing/2014/main" id="{15E028F6-91A5-4981-A16D-34772146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Transactional Outbox让业务成功与消息发送解耦</a:t>
            </a:r>
          </a:p>
        </p:txBody>
      </p:sp>
      <p:cxnSp>
        <p:nvCxnSpPr>
          <p:cNvPr id="24" name="shape-437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438">
            <a:extLst xmlns:a="http://schemas.openxmlformats.org/drawingml/2006/main">
              <a:ext uri="{FF2B5EF4-FFF2-40B4-BE49-F238E27FC236}">
                <a16:creationId xmlns:a16="http://schemas.microsoft.com/office/drawing/2014/main" id="{D2DF0275-B8B9-4A23-AFEA-781DA811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cxnSp>
        <p:nvCxnSpPr>
          <p:cNvPr id="26" name="shape-439"/>
          <p:cNvCxnSpPr/>
          <p:nvPr/>
        </p:nvCxnSpPr>
        <p:spPr>
          <a:xfrm xmlns:a="http://schemas.openxmlformats.org/drawingml/2006/main">
            <a:off x="514350" y="3571875"/>
            <a:ext cx="111633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shape-440">
            <a:extLst xmlns:a="http://schemas.openxmlformats.org/drawingml/2006/main">
              <a:ext uri="{FF2B5EF4-FFF2-40B4-BE49-F238E27FC236}">
                <a16:creationId xmlns:a16="http://schemas.microsoft.com/office/drawing/2014/main" id="{C3A74A2C-77CE-43B2-8483-5CA28111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441">
            <a:extLst xmlns:a="http://schemas.openxmlformats.org/drawingml/2006/main">
              <a:ext uri="{FF2B5EF4-FFF2-40B4-BE49-F238E27FC236}">
                <a16:creationId xmlns:a16="http://schemas.microsoft.com/office/drawing/2014/main" id="{3DA86D10-1BE9-4A20-8BF9-06A7C426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业务事务</a:t>
            </a:r>
          </a:p>
        </p:txBody>
      </p:sp>
      <p:sp>
        <p:nvSpPr>
          <p:cNvPr id="8" name="shape-442">
            <a:extLst xmlns:a="http://schemas.openxmlformats.org/drawingml/2006/main">
              <a:ext uri="{FF2B5EF4-FFF2-40B4-BE49-F238E27FC236}">
                <a16:creationId xmlns:a16="http://schemas.microsoft.com/office/drawing/2014/main" id="{AD84C6FE-4B57-431B-A70C-DF45A008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报名 + 审计</a:t>
            </a:r>
          </a:p>
        </p:txBody>
      </p:sp>
      <p:sp>
        <p:nvSpPr>
          <p:cNvPr id="9" name="shape-443">
            <a:extLst xmlns:a="http://schemas.openxmlformats.org/drawingml/2006/main">
              <a:ext uri="{FF2B5EF4-FFF2-40B4-BE49-F238E27FC236}">
                <a16:creationId xmlns:a16="http://schemas.microsoft.com/office/drawing/2014/main" id="{B7A37D79-4A74-4027-A545-FD9B49D4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444">
            <a:extLst xmlns:a="http://schemas.openxmlformats.org/drawingml/2006/main">
              <a:ext uri="{FF2B5EF4-FFF2-40B4-BE49-F238E27FC236}">
                <a16:creationId xmlns:a16="http://schemas.microsoft.com/office/drawing/2014/main" id="{A6C98B08-EBE2-4C20-B128-5BA61DE0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Outbox落库</a:t>
            </a:r>
          </a:p>
        </p:txBody>
      </p:sp>
      <p:sp>
        <p:nvSpPr>
          <p:cNvPr id="11" name="shape-445">
            <a:extLst xmlns:a="http://schemas.openxmlformats.org/drawingml/2006/main">
              <a:ext uri="{FF2B5EF4-FFF2-40B4-BE49-F238E27FC236}">
                <a16:creationId xmlns:a16="http://schemas.microsoft.com/office/drawing/2014/main" id="{ACFB177C-343A-4A40-B154-666DB84D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同一事务</a:t>
            </a:r>
          </a:p>
        </p:txBody>
      </p:sp>
      <p:sp>
        <p:nvSpPr>
          <p:cNvPr id="12" name="shape-446">
            <a:extLst xmlns:a="http://schemas.openxmlformats.org/drawingml/2006/main">
              <a:ext uri="{FF2B5EF4-FFF2-40B4-BE49-F238E27FC236}">
                <a16:creationId xmlns:a16="http://schemas.microsoft.com/office/drawing/2014/main" id="{2C3B75E8-912C-4D72-B7A0-CA66FF66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-447">
            <a:extLst xmlns:a="http://schemas.openxmlformats.org/drawingml/2006/main">
              <a:ext uri="{FF2B5EF4-FFF2-40B4-BE49-F238E27FC236}">
                <a16:creationId xmlns:a16="http://schemas.microsoft.com/office/drawing/2014/main" id="{AC320CB3-D778-45E3-81F7-5CB1A8C8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发布器重试</a:t>
            </a:r>
          </a:p>
        </p:txBody>
      </p:sp>
      <p:sp>
        <p:nvSpPr>
          <p:cNvPr id="14" name="shape-448">
            <a:extLst xmlns:a="http://schemas.openxmlformats.org/drawingml/2006/main">
              <a:ext uri="{FF2B5EF4-FFF2-40B4-BE49-F238E27FC236}">
                <a16:creationId xmlns:a16="http://schemas.microsoft.com/office/drawing/2014/main" id="{3B8A20D9-2FBA-4251-8CDB-E8EFCC82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发送Kafka</a:t>
            </a:r>
          </a:p>
        </p:txBody>
      </p:sp>
      <p:sp>
        <p:nvSpPr>
          <p:cNvPr id="15" name="shape-449">
            <a:extLst xmlns:a="http://schemas.openxmlformats.org/drawingml/2006/main">
              <a:ext uri="{FF2B5EF4-FFF2-40B4-BE49-F238E27FC236}">
                <a16:creationId xmlns:a16="http://schemas.microsoft.com/office/drawing/2014/main" id="{8F0BE464-4B5B-4D40-9CEB-AFF7F137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-450">
            <a:extLst xmlns:a="http://schemas.openxmlformats.org/drawingml/2006/main">
              <a:ext uri="{FF2B5EF4-FFF2-40B4-BE49-F238E27FC236}">
                <a16:creationId xmlns:a16="http://schemas.microsoft.com/office/drawing/2014/main" id="{53C12615-0913-400A-A4FF-46ED6571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消费者处理</a:t>
            </a:r>
          </a:p>
        </p:txBody>
      </p:sp>
      <p:sp>
        <p:nvSpPr>
          <p:cNvPr id="17" name="shape-451">
            <a:extLst xmlns:a="http://schemas.openxmlformats.org/drawingml/2006/main">
              <a:ext uri="{FF2B5EF4-FFF2-40B4-BE49-F238E27FC236}">
                <a16:creationId xmlns:a16="http://schemas.microsoft.com/office/drawing/2014/main" id="{C5FAA758-59B5-4ED5-88F3-50FB9959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通知/统计</a:t>
            </a:r>
          </a:p>
        </p:txBody>
      </p:sp>
      <p:sp>
        <p:nvSpPr>
          <p:cNvPr id="18" name="shape-452">
            <a:extLst xmlns:a="http://schemas.openxmlformats.org/drawingml/2006/main">
              <a:ext uri="{FF2B5EF4-FFF2-40B4-BE49-F238E27FC236}">
                <a16:creationId xmlns:a16="http://schemas.microsoft.com/office/drawing/2014/main" id="{C80A1F3B-EE91-4F0E-93F2-63795318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-453">
            <a:extLst xmlns:a="http://schemas.openxmlformats.org/drawingml/2006/main">
              <a:ext uri="{FF2B5EF4-FFF2-40B4-BE49-F238E27FC236}">
                <a16:creationId xmlns:a16="http://schemas.microsoft.com/office/drawing/2014/main" id="{D63A9B8E-6DBA-4DD0-A3CF-EA1505B5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幂等去重</a:t>
            </a:r>
          </a:p>
        </p:txBody>
      </p:sp>
      <p:sp>
        <p:nvSpPr>
          <p:cNvPr id="20" name="shape-454">
            <a:extLst xmlns:a="http://schemas.openxmlformats.org/drawingml/2006/main">
              <a:ext uri="{FF2B5EF4-FFF2-40B4-BE49-F238E27FC236}">
                <a16:creationId xmlns:a16="http://schemas.microsoft.com/office/drawing/2014/main" id="{2A7CD23D-5CED-43B9-9B8C-4C3BEE17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事件 + 用户 + 渠道</a:t>
            </a:r>
          </a:p>
        </p:txBody>
      </p:sp>
      <p:sp>
        <p:nvSpPr>
          <p:cNvPr id="21" name="shape-455">
            <a:extLst xmlns:a="http://schemas.openxmlformats.org/drawingml/2006/main">
              <a:ext uri="{FF2B5EF4-FFF2-40B4-BE49-F238E27FC236}">
                <a16:creationId xmlns:a16="http://schemas.microsoft.com/office/drawing/2014/main" id="{0040325E-9E60-4C0C-9851-77A45233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主题：activity-events、registration-events、checkin-events。关键审计同步写库，不能依赖Kafka。</a:t>
            </a:r>
          </a:p>
        </p:txBody>
      </p:sp>
    </p:spTree>
    <p:extLst>
      <p:ext uri="{BB962C8B-B14F-4D97-AF65-F5344CB8AC3E}">
        <p14:creationId xmlns:p14="http://schemas.microsoft.com/office/powerpoint/2010/main" val="16129517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456">
            <a:extLst xmlns:a="http://schemas.openxmlformats.org/drawingml/2006/main">
              <a:ext uri="{FF2B5EF4-FFF2-40B4-BE49-F238E27FC236}">
                <a16:creationId xmlns:a16="http://schemas.microsoft.com/office/drawing/2014/main" id="{71E73872-4094-494E-9061-BDD58875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一致性</a:t>
            </a:r>
          </a:p>
        </p:txBody>
      </p:sp>
      <p:sp>
        <p:nvSpPr>
          <p:cNvPr id="2" name="shape-457">
            <a:extLst xmlns:a="http://schemas.openxmlformats.org/drawingml/2006/main">
              <a:ext uri="{FF2B5EF4-FFF2-40B4-BE49-F238E27FC236}">
                <a16:creationId xmlns:a16="http://schemas.microsoft.com/office/drawing/2014/main" id="{0B27B863-B492-4010-9E1A-2E8735BA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递补与过期都需要“事件 + 补偿”</a:t>
            </a:r>
          </a:p>
        </p:txBody>
      </p:sp>
      <p:cxnSp>
        <p:nvCxnSpPr>
          <p:cNvPr id="12" name="shape-458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459">
            <a:extLst xmlns:a="http://schemas.openxmlformats.org/drawingml/2006/main">
              <a:ext uri="{FF2B5EF4-FFF2-40B4-BE49-F238E27FC236}">
                <a16:creationId xmlns:a16="http://schemas.microsoft.com/office/drawing/2014/main" id="{7DD15BE9-5B31-45E7-B16F-D5F5E469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5" name="shape-460">
            <a:extLst xmlns:a="http://schemas.openxmlformats.org/drawingml/2006/main">
              <a:ext uri="{FF2B5EF4-FFF2-40B4-BE49-F238E27FC236}">
                <a16:creationId xmlns:a16="http://schemas.microsoft.com/office/drawing/2014/main" id="{A679F6F4-BC3C-4FC2-B1B7-28BD7E7A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取消后的递补</a:t>
            </a:r>
          </a:p>
        </p:txBody>
      </p:sp>
      <p:sp>
        <p:nvSpPr>
          <p:cNvPr id="6" name="shape-461">
            <a:extLst xmlns:a="http://schemas.openxmlformats.org/drawingml/2006/main">
              <a:ext uri="{FF2B5EF4-FFF2-40B4-BE49-F238E27FC236}">
                <a16:creationId xmlns:a16="http://schemas.microsoft.com/office/drawing/2014/main" id="{B2FAE98B-9A68-4CA4-916A-1308FD35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取消事务写入Outbox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Kafka事件触发递补任务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FIRST_COME选择最小queueNumber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REVIEW由负责人选择候选人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创建PENDING邀请并保留名额</a:t>
            </a:r>
          </a:p>
        </p:txBody>
      </p:sp>
      <p:sp>
        <p:nvSpPr>
          <p:cNvPr id="7" name="shape-462">
            <a:extLst xmlns:a="http://schemas.openxmlformats.org/drawingml/2006/main">
              <a:ext uri="{FF2B5EF4-FFF2-40B4-BE49-F238E27FC236}">
                <a16:creationId xmlns:a16="http://schemas.microsoft.com/office/drawing/2014/main" id="{B3DAF98A-7D5E-4D4F-9319-FC95047C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4288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463">
            <a:extLst xmlns:a="http://schemas.openxmlformats.org/drawingml/2006/main">
              <a:ext uri="{FF2B5EF4-FFF2-40B4-BE49-F238E27FC236}">
                <a16:creationId xmlns:a16="http://schemas.microsoft.com/office/drawing/2014/main" id="{74F901F9-4472-410C-895B-BCB8F553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邀请过期</a:t>
            </a:r>
          </a:p>
        </p:txBody>
      </p:sp>
      <p:sp>
        <p:nvSpPr>
          <p:cNvPr id="9" name="shape-464">
            <a:extLst xmlns:a="http://schemas.openxmlformats.org/drawingml/2006/main">
              <a:ext uri="{FF2B5EF4-FFF2-40B4-BE49-F238E27FC236}">
                <a16:creationId xmlns:a16="http://schemas.microsoft.com/office/drawing/2014/main" id="{534727B8-3FC0-42A9-A7DB-E108866F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expiresAt保存在MySQL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调度任务加锁处理过期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状态条件阻止重复处理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拒绝或过期后处理下一位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周期扫描修复遗漏递补</a:t>
            </a:r>
          </a:p>
        </p:txBody>
      </p:sp>
    </p:spTree>
    <p:extLst>
      <p:ext uri="{BB962C8B-B14F-4D97-AF65-F5344CB8AC3E}">
        <p14:creationId xmlns:p14="http://schemas.microsoft.com/office/powerpoint/2010/main" val="49509558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-465">
            <a:extLst xmlns:a="http://schemas.openxmlformats.org/drawingml/2006/main">
              <a:ext uri="{FF2B5EF4-FFF2-40B4-BE49-F238E27FC236}">
                <a16:creationId xmlns:a16="http://schemas.microsoft.com/office/drawing/2014/main" id="{D3177C2B-512D-4D81-A6F3-05B28815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一致性</a:t>
            </a:r>
          </a:p>
        </p:txBody>
      </p:sp>
      <p:sp>
        <p:nvSpPr>
          <p:cNvPr id="2" name="shape-466">
            <a:extLst xmlns:a="http://schemas.openxmlformats.org/drawingml/2006/main">
              <a:ext uri="{FF2B5EF4-FFF2-40B4-BE49-F238E27FC236}">
                <a16:creationId xmlns:a16="http://schemas.microsoft.com/office/drawing/2014/main" id="{6D170879-7CA6-44F8-A0DB-B4B058B5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并发验收以正确性优先，再看延迟</a:t>
            </a:r>
          </a:p>
        </p:txBody>
      </p:sp>
      <p:cxnSp>
        <p:nvCxnSpPr>
          <p:cNvPr id="20" name="shape-467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468">
            <a:extLst xmlns:a="http://schemas.openxmlformats.org/drawingml/2006/main">
              <a:ext uri="{FF2B5EF4-FFF2-40B4-BE49-F238E27FC236}">
                <a16:creationId xmlns:a16="http://schemas.microsoft.com/office/drawing/2014/main" id="{7BB07934-5AC9-4B1D-B1C4-63964FD6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5" name="shape-469">
            <a:extLst xmlns:a="http://schemas.openxmlformats.org/drawingml/2006/main">
              <a:ext uri="{FF2B5EF4-FFF2-40B4-BE49-F238E27FC236}">
                <a16:creationId xmlns:a16="http://schemas.microsoft.com/office/drawing/2014/main" id="{C097C654-1AA7-4B86-B411-0E97DCC8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66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目标：普通查询P95 &lt; 500ms；报名P95 &lt; 1s；非预期错误率 &lt; 1%。</a:t>
            </a:r>
          </a:p>
        </p:txBody>
      </p:sp>
      <p:sp>
        <p:nvSpPr>
          <p:cNvPr id="6" name="shape-470">
            <a:extLst xmlns:a="http://schemas.openxmlformats.org/drawingml/2006/main">
              <a:ext uri="{FF2B5EF4-FFF2-40B4-BE49-F238E27FC236}">
                <a16:creationId xmlns:a16="http://schemas.microsoft.com/office/drawing/2014/main" id="{0B9062BD-AC4C-42A1-B19F-60A6AACA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471">
            <a:extLst xmlns:a="http://schemas.openxmlformats.org/drawingml/2006/main">
              <a:ext uri="{FF2B5EF4-FFF2-40B4-BE49-F238E27FC236}">
                <a16:creationId xmlns:a16="http://schemas.microsoft.com/office/drawing/2014/main" id="{F980ED1D-3BBB-43B9-A141-76720C3C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2876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8" name="shape-472">
            <a:extLst xmlns:a="http://schemas.openxmlformats.org/drawingml/2006/main">
              <a:ext uri="{FF2B5EF4-FFF2-40B4-BE49-F238E27FC236}">
                <a16:creationId xmlns:a16="http://schemas.microsoft.com/office/drawing/2014/main" id="{8537CF5B-C88A-413A-9F73-98959BF2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71875"/>
            <a:ext cx="287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并发报名用户</a:t>
            </a:r>
          </a:p>
        </p:txBody>
      </p:sp>
      <p:sp>
        <p:nvSpPr>
          <p:cNvPr id="9" name="shape-473">
            <a:extLst xmlns:a="http://schemas.openxmlformats.org/drawingml/2006/main">
              <a:ext uri="{FF2B5EF4-FFF2-40B4-BE49-F238E27FC236}">
                <a16:creationId xmlns:a16="http://schemas.microsoft.com/office/drawing/2014/main" id="{A8D6C95A-EEDB-4444-9ACB-EFCF66A5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2876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同时竞争同一活动名额。</a:t>
            </a:r>
          </a:p>
        </p:txBody>
      </p:sp>
      <p:sp>
        <p:nvSpPr>
          <p:cNvPr id="10" name="shape-474">
            <a:extLst xmlns:a="http://schemas.openxmlformats.org/drawingml/2006/main">
              <a:ext uri="{FF2B5EF4-FFF2-40B4-BE49-F238E27FC236}">
                <a16:creationId xmlns:a16="http://schemas.microsoft.com/office/drawing/2014/main" id="{D595D60F-4EA7-4F5F-B449-CFF15CC8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812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-475">
            <a:extLst xmlns:a="http://schemas.openxmlformats.org/drawingml/2006/main">
              <a:ext uri="{FF2B5EF4-FFF2-40B4-BE49-F238E27FC236}">
                <a16:creationId xmlns:a16="http://schemas.microsoft.com/office/drawing/2014/main" id="{B79C586F-F701-4E0A-9220-ADECF46D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43200"/>
            <a:ext cx="2876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12" name="shape-476">
            <a:extLst xmlns:a="http://schemas.openxmlformats.org/drawingml/2006/main">
              <a:ext uri="{FF2B5EF4-FFF2-40B4-BE49-F238E27FC236}">
                <a16:creationId xmlns:a16="http://schemas.microsoft.com/office/drawing/2014/main" id="{E7D98EA2-C79D-4079-878A-9BD0EEE4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287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活动正式名额</a:t>
            </a:r>
          </a:p>
        </p:txBody>
      </p:sp>
      <p:sp>
        <p:nvSpPr>
          <p:cNvPr id="13" name="shape-477">
            <a:extLst xmlns:a="http://schemas.openxmlformats.org/drawingml/2006/main">
              <a:ext uri="{FF2B5EF4-FFF2-40B4-BE49-F238E27FC236}">
                <a16:creationId xmlns:a16="http://schemas.microsoft.com/office/drawing/2014/main" id="{465D3555-DB91-4671-95AD-28393D4A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43375"/>
            <a:ext cx="2876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最终确认人数绝不能超过。</a:t>
            </a:r>
          </a:p>
        </p:txBody>
      </p:sp>
      <p:sp>
        <p:nvSpPr>
          <p:cNvPr id="14" name="shape-478">
            <a:extLst xmlns:a="http://schemas.openxmlformats.org/drawingml/2006/main">
              <a:ext uri="{FF2B5EF4-FFF2-40B4-BE49-F238E27FC236}">
                <a16:creationId xmlns:a16="http://schemas.microsoft.com/office/drawing/2014/main" id="{F9099F90-ADEC-44CE-9204-0F2891D5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333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-479">
            <a:extLst xmlns:a="http://schemas.openxmlformats.org/drawingml/2006/main">
              <a:ext uri="{FF2B5EF4-FFF2-40B4-BE49-F238E27FC236}">
                <a16:creationId xmlns:a16="http://schemas.microsoft.com/office/drawing/2014/main" id="{27DDE15E-2E12-4BCD-ACB8-84433396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43200"/>
            <a:ext cx="2876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6" name="shape-480">
            <a:extLst xmlns:a="http://schemas.openxmlformats.org/drawingml/2006/main">
              <a:ext uri="{FF2B5EF4-FFF2-40B4-BE49-F238E27FC236}">
                <a16:creationId xmlns:a16="http://schemas.microsoft.com/office/drawing/2014/main" id="{C76CB625-B83F-455B-B123-C5DC5F78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71875"/>
            <a:ext cx="2876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允许的重复与超卖</a:t>
            </a:r>
          </a:p>
        </p:txBody>
      </p:sp>
      <p:sp>
        <p:nvSpPr>
          <p:cNvPr id="17" name="shape-481">
            <a:extLst xmlns:a="http://schemas.openxmlformats.org/drawingml/2006/main">
              <a:ext uri="{FF2B5EF4-FFF2-40B4-BE49-F238E27FC236}">
                <a16:creationId xmlns:a16="http://schemas.microsoft.com/office/drawing/2014/main" id="{EA10767F-41A7-47D5-8692-107810E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43375"/>
            <a:ext cx="2876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Redis正常和故障回退都必须满足。</a:t>
            </a:r>
          </a:p>
        </p:txBody>
      </p:sp>
    </p:spTree>
    <p:extLst>
      <p:ext uri="{BB962C8B-B14F-4D97-AF65-F5344CB8AC3E}">
        <p14:creationId xmlns:p14="http://schemas.microsoft.com/office/powerpoint/2010/main" val="128153763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482">
            <a:extLst xmlns:a="http://schemas.openxmlformats.org/drawingml/2006/main">
              <a:ext uri="{FF2B5EF4-FFF2-40B4-BE49-F238E27FC236}">
                <a16:creationId xmlns:a16="http://schemas.microsoft.com/office/drawing/2014/main" id="{73A09038-B4FB-4ABE-B214-D8610595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2" name="shape-483">
            <a:extLst xmlns:a="http://schemas.openxmlformats.org/drawingml/2006/main">
              <a:ext uri="{FF2B5EF4-FFF2-40B4-BE49-F238E27FC236}">
                <a16:creationId xmlns:a16="http://schemas.microsoft.com/office/drawing/2014/main" id="{124E4EB8-D032-4DAE-B1BD-E187BC48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52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API、权限与安全</a:t>
            </a:r>
          </a:p>
        </p:txBody>
      </p:sp>
      <p:sp>
        <p:nvSpPr>
          <p:cNvPr id="3" name="shape-484">
            <a:extLst xmlns:a="http://schemas.openxmlformats.org/drawingml/2006/main">
              <a:ext uri="{FF2B5EF4-FFF2-40B4-BE49-F238E27FC236}">
                <a16:creationId xmlns:a16="http://schemas.microsoft.com/office/drawing/2014/main" id="{66B337AC-A7DA-42ED-A064-77CFB556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接口设计必须让前端好用，也让错误、越权和并发冲突可诊断。</a:t>
            </a:r>
          </a:p>
        </p:txBody>
      </p:sp>
      <p:cxnSp>
        <p:nvCxnSpPr>
          <p:cNvPr id="9" name="shape-485"/>
          <p:cNvCxnSpPr/>
          <p:nvPr/>
        </p:nvCxnSpPr>
        <p:spPr>
          <a:xfrm xmlns:a="http://schemas.openxmlformats.org/drawingml/2006/main">
            <a:off x="400050" y="57150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5" name="shape-486">
            <a:extLst xmlns:a="http://schemas.openxmlformats.org/drawingml/2006/main">
              <a:ext uri="{FF2B5EF4-FFF2-40B4-BE49-F238E27FC236}">
                <a16:creationId xmlns:a16="http://schemas.microsoft.com/office/drawing/2014/main" id="{ED565EA6-060C-4F6C-A0E9-30FB3611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9626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15858308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487">
            <a:extLst xmlns:a="http://schemas.openxmlformats.org/drawingml/2006/main">
              <a:ext uri="{FF2B5EF4-FFF2-40B4-BE49-F238E27FC236}">
                <a16:creationId xmlns:a16="http://schemas.microsoft.com/office/drawing/2014/main" id="{71F6D708-5233-4D41-8A33-FF4B0710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API与安全</a:t>
            </a:r>
          </a:p>
        </p:txBody>
      </p:sp>
      <p:sp>
        <p:nvSpPr>
          <p:cNvPr id="2" name="shape-488">
            <a:extLst xmlns:a="http://schemas.openxmlformats.org/drawingml/2006/main">
              <a:ext uri="{FF2B5EF4-FFF2-40B4-BE49-F238E27FC236}">
                <a16:creationId xmlns:a16="http://schemas.microsoft.com/office/drawing/2014/main" id="{6674DC12-7B9C-4904-A50D-A92310EC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API使用版本、HTTP语义和两类分页</a:t>
            </a:r>
          </a:p>
        </p:txBody>
      </p:sp>
      <p:cxnSp>
        <p:nvCxnSpPr>
          <p:cNvPr id="12" name="shape-489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490">
            <a:extLst xmlns:a="http://schemas.openxmlformats.org/drawingml/2006/main">
              <a:ext uri="{FF2B5EF4-FFF2-40B4-BE49-F238E27FC236}">
                <a16:creationId xmlns:a16="http://schemas.microsoft.com/office/drawing/2014/main" id="{83FDF542-54C2-4588-BF11-3D2E8AE9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5" name="shape-491">
            <a:extLst xmlns:a="http://schemas.openxmlformats.org/drawingml/2006/main">
              <a:ext uri="{FF2B5EF4-FFF2-40B4-BE49-F238E27FC236}">
                <a16:creationId xmlns:a16="http://schemas.microsoft.com/office/drawing/2014/main" id="{BDD1E58A-B601-4300-96C8-5AC80BB9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统一约定</a:t>
            </a:r>
          </a:p>
        </p:txBody>
      </p:sp>
      <p:sp>
        <p:nvSpPr>
          <p:cNvPr id="6" name="shape-492">
            <a:extLst xmlns:a="http://schemas.openxmlformats.org/drawingml/2006/main">
              <a:ext uri="{FF2B5EF4-FFF2-40B4-BE49-F238E27FC236}">
                <a16:creationId xmlns:a16="http://schemas.microsoft.com/office/drawing/2014/main" id="{A386612A-924A-4663-B999-61B10387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基础路径 /api/v1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JSON字段使用小驼峰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201表示创建成功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204表示成功且无响应体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OpenAPI 3.1 + Swagger UI</a:t>
            </a:r>
          </a:p>
        </p:txBody>
      </p:sp>
      <p:sp>
        <p:nvSpPr>
          <p:cNvPr id="7" name="shape-493">
            <a:extLst xmlns:a="http://schemas.openxmlformats.org/drawingml/2006/main">
              <a:ext uri="{FF2B5EF4-FFF2-40B4-BE49-F238E27FC236}">
                <a16:creationId xmlns:a16="http://schemas.microsoft.com/office/drawing/2014/main" id="{0273B3DA-8317-4018-807F-A58071F2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4288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494">
            <a:extLst xmlns:a="http://schemas.openxmlformats.org/drawingml/2006/main">
              <a:ext uri="{FF2B5EF4-FFF2-40B4-BE49-F238E27FC236}">
                <a16:creationId xmlns:a16="http://schemas.microsoft.com/office/drawing/2014/main" id="{EF726D90-008B-4EB2-9B4B-4D93C5A1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分页方式</a:t>
            </a:r>
          </a:p>
        </p:txBody>
      </p:sp>
      <p:sp>
        <p:nvSpPr>
          <p:cNvPr id="9" name="shape-495">
            <a:extLst xmlns:a="http://schemas.openxmlformats.org/drawingml/2006/main">
              <a:ext uri="{FF2B5EF4-FFF2-40B4-BE49-F238E27FC236}">
                <a16:creationId xmlns:a16="http://schemas.microsoft.com/office/drawing/2014/main" id="{BBC9F669-E019-4158-A575-97DD87C1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活动列表和管理表格：页码分页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通知、审计、时间线：游标分页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单页最多100条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成功响应data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分页元数据meta</a:t>
            </a:r>
          </a:p>
        </p:txBody>
      </p:sp>
    </p:spTree>
    <p:extLst>
      <p:ext uri="{BB962C8B-B14F-4D97-AF65-F5344CB8AC3E}">
        <p14:creationId xmlns:p14="http://schemas.microsoft.com/office/powerpoint/2010/main" val="94130109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shape-496">
            <a:extLst xmlns:a="http://schemas.openxmlformats.org/drawingml/2006/main">
              <a:ext uri="{FF2B5EF4-FFF2-40B4-BE49-F238E27FC236}">
                <a16:creationId xmlns:a16="http://schemas.microsoft.com/office/drawing/2014/main" id="{36F261AD-B801-4247-8432-77CC28B6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API与安全</a:t>
            </a:r>
          </a:p>
        </p:txBody>
      </p:sp>
      <p:sp>
        <p:nvSpPr>
          <p:cNvPr id="2" name="shape-497">
            <a:extLst xmlns:a="http://schemas.openxmlformats.org/drawingml/2006/main">
              <a:ext uri="{FF2B5EF4-FFF2-40B4-BE49-F238E27FC236}">
                <a16:creationId xmlns:a16="http://schemas.microsoft.com/office/drawing/2014/main" id="{B5E5A117-285B-4BBF-8CEB-888857B6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认证、组织与活动端点保持资源化</a:t>
            </a:r>
          </a:p>
        </p:txBody>
      </p:sp>
      <p:cxnSp>
        <p:nvCxnSpPr>
          <p:cNvPr id="67" name="shape-498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499">
            <a:extLst xmlns:a="http://schemas.openxmlformats.org/drawingml/2006/main">
              <a:ext uri="{FF2B5EF4-FFF2-40B4-BE49-F238E27FC236}">
                <a16:creationId xmlns:a16="http://schemas.microsoft.com/office/drawing/2014/main" id="{2F6C3035-71F0-41A7-BA75-4E7E8FFF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5" name="shape-500">
            <a:extLst xmlns:a="http://schemas.openxmlformats.org/drawingml/2006/main">
              <a:ext uri="{FF2B5EF4-FFF2-40B4-BE49-F238E27FC236}">
                <a16:creationId xmlns:a16="http://schemas.microsoft.com/office/drawing/2014/main" id="{EB1E134E-EF63-4D91-9C98-4F6C97E5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65914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shape-501">
            <a:extLst xmlns:a="http://schemas.openxmlformats.org/drawingml/2006/main">
              <a:ext uri="{FF2B5EF4-FFF2-40B4-BE49-F238E27FC236}">
                <a16:creationId xmlns:a16="http://schemas.microsoft.com/office/drawing/2014/main" id="{158993BA-A0AD-4644-B7DF-D55928E9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38325"/>
            <a:ext cx="1506747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7" name="shape-502">
            <a:extLst xmlns:a="http://schemas.openxmlformats.org/drawingml/2006/main">
              <a:ext uri="{FF2B5EF4-FFF2-40B4-BE49-F238E27FC236}">
                <a16:creationId xmlns:a16="http://schemas.microsoft.com/office/drawing/2014/main" id="{D3AFE57B-6C71-40C0-A48E-27088D11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1762125"/>
            <a:ext cx="642919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shape-503">
            <a:extLst xmlns:a="http://schemas.openxmlformats.org/drawingml/2006/main">
              <a:ext uri="{FF2B5EF4-FFF2-40B4-BE49-F238E27FC236}">
                <a16:creationId xmlns:a16="http://schemas.microsoft.com/office/drawing/2014/main" id="{4D00A194-68EB-4FC7-A3A5-2F00630A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1838325"/>
            <a:ext cx="627679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路径</a:t>
            </a:r>
          </a:p>
        </p:txBody>
      </p:sp>
      <p:sp>
        <p:nvSpPr>
          <p:cNvPr id="9" name="shape-504">
            <a:extLst xmlns:a="http://schemas.openxmlformats.org/drawingml/2006/main">
              <a:ext uri="{FF2B5EF4-FFF2-40B4-BE49-F238E27FC236}">
                <a16:creationId xmlns:a16="http://schemas.microsoft.com/office/drawing/2014/main" id="{F44495DA-C328-44C3-9E86-0ADEADD5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392" y="1762125"/>
            <a:ext cx="290350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shape-505">
            <a:extLst xmlns:a="http://schemas.openxmlformats.org/drawingml/2006/main">
              <a:ext uri="{FF2B5EF4-FFF2-40B4-BE49-F238E27FC236}">
                <a16:creationId xmlns:a16="http://schemas.microsoft.com/office/drawing/2014/main" id="{CE9F2777-A7F2-48FD-AC08-4D4E6A49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592" y="1838325"/>
            <a:ext cx="2751108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11" name="shape-506">
            <a:extLst xmlns:a="http://schemas.openxmlformats.org/drawingml/2006/main">
              <a:ext uri="{FF2B5EF4-FFF2-40B4-BE49-F238E27FC236}">
                <a16:creationId xmlns:a16="http://schemas.microsoft.com/office/drawing/2014/main" id="{2BF04B92-4B0C-4228-B75F-8FE7FBF7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65914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hape-507">
            <a:extLst xmlns:a="http://schemas.openxmlformats.org/drawingml/2006/main">
              <a:ext uri="{FF2B5EF4-FFF2-40B4-BE49-F238E27FC236}">
                <a16:creationId xmlns:a16="http://schemas.microsoft.com/office/drawing/2014/main" id="{97787DAA-BB6C-4F32-A9DE-C8AA8124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19325"/>
            <a:ext cx="1506747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POST</a:t>
            </a:r>
          </a:p>
        </p:txBody>
      </p:sp>
      <p:sp>
        <p:nvSpPr>
          <p:cNvPr id="13" name="shape-508">
            <a:extLst xmlns:a="http://schemas.openxmlformats.org/drawingml/2006/main">
              <a:ext uri="{FF2B5EF4-FFF2-40B4-BE49-F238E27FC236}">
                <a16:creationId xmlns:a16="http://schemas.microsoft.com/office/drawing/2014/main" id="{2AE81024-F86B-4E45-B7D3-9F8844A6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2152650"/>
            <a:ext cx="642919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shape-509">
            <a:extLst xmlns:a="http://schemas.openxmlformats.org/drawingml/2006/main">
              <a:ext uri="{FF2B5EF4-FFF2-40B4-BE49-F238E27FC236}">
                <a16:creationId xmlns:a16="http://schemas.microsoft.com/office/drawing/2014/main" id="{E59456E1-AEA8-4130-A357-4C96C07D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2219325"/>
            <a:ext cx="627679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/auth/sessions</a:t>
            </a:r>
          </a:p>
        </p:txBody>
      </p:sp>
      <p:sp>
        <p:nvSpPr>
          <p:cNvPr id="15" name="shape-510">
            <a:extLst xmlns:a="http://schemas.openxmlformats.org/drawingml/2006/main">
              <a:ext uri="{FF2B5EF4-FFF2-40B4-BE49-F238E27FC236}">
                <a16:creationId xmlns:a16="http://schemas.microsoft.com/office/drawing/2014/main" id="{132ECE75-4239-418E-AEAE-992CFF30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392" y="2152650"/>
            <a:ext cx="290350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hape-511">
            <a:extLst xmlns:a="http://schemas.openxmlformats.org/drawingml/2006/main">
              <a:ext uri="{FF2B5EF4-FFF2-40B4-BE49-F238E27FC236}">
                <a16:creationId xmlns:a16="http://schemas.microsoft.com/office/drawing/2014/main" id="{B55986F2-A54B-4215-ACB4-F71D0733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592" y="2219325"/>
            <a:ext cx="2751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登录</a:t>
            </a:r>
          </a:p>
        </p:txBody>
      </p:sp>
      <p:sp>
        <p:nvSpPr>
          <p:cNvPr id="17" name="shape-512">
            <a:extLst xmlns:a="http://schemas.openxmlformats.org/drawingml/2006/main">
              <a:ext uri="{FF2B5EF4-FFF2-40B4-BE49-F238E27FC236}">
                <a16:creationId xmlns:a16="http://schemas.microsoft.com/office/drawing/2014/main" id="{A540288C-6BEE-4F6F-9031-E5AE5AFA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43175"/>
            <a:ext cx="165914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shape-513">
            <a:extLst xmlns:a="http://schemas.openxmlformats.org/drawingml/2006/main">
              <a:ext uri="{FF2B5EF4-FFF2-40B4-BE49-F238E27FC236}">
                <a16:creationId xmlns:a16="http://schemas.microsoft.com/office/drawing/2014/main" id="{6F4A60F9-C430-4B54-93F7-55039EAC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09850"/>
            <a:ext cx="1506747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POST</a:t>
            </a:r>
          </a:p>
        </p:txBody>
      </p:sp>
      <p:sp>
        <p:nvSpPr>
          <p:cNvPr id="19" name="shape-514">
            <a:extLst xmlns:a="http://schemas.openxmlformats.org/drawingml/2006/main">
              <a:ext uri="{FF2B5EF4-FFF2-40B4-BE49-F238E27FC236}">
                <a16:creationId xmlns:a16="http://schemas.microsoft.com/office/drawing/2014/main" id="{82CB3373-F608-4DE3-A59A-18DA8E8F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2543175"/>
            <a:ext cx="642919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shape-515">
            <a:extLst xmlns:a="http://schemas.openxmlformats.org/drawingml/2006/main">
              <a:ext uri="{FF2B5EF4-FFF2-40B4-BE49-F238E27FC236}">
                <a16:creationId xmlns:a16="http://schemas.microsoft.com/office/drawing/2014/main" id="{CEB1090C-F393-4A4E-BAFE-B62C33C3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2609850"/>
            <a:ext cx="627679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/auth/token-refreshes</a:t>
            </a:r>
          </a:p>
        </p:txBody>
      </p:sp>
      <p:sp>
        <p:nvSpPr>
          <p:cNvPr id="21" name="shape-516">
            <a:extLst xmlns:a="http://schemas.openxmlformats.org/drawingml/2006/main">
              <a:ext uri="{FF2B5EF4-FFF2-40B4-BE49-F238E27FC236}">
                <a16:creationId xmlns:a16="http://schemas.microsoft.com/office/drawing/2014/main" id="{EAD771F6-07A2-4F5C-A451-299B857D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392" y="2543175"/>
            <a:ext cx="290350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shape-517">
            <a:extLst xmlns:a="http://schemas.openxmlformats.org/drawingml/2006/main">
              <a:ext uri="{FF2B5EF4-FFF2-40B4-BE49-F238E27FC236}">
                <a16:creationId xmlns:a16="http://schemas.microsoft.com/office/drawing/2014/main" id="{F4CC40DB-0519-440D-AF90-175BED71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592" y="2609850"/>
            <a:ext cx="2751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刷新访问令牌</a:t>
            </a:r>
          </a:p>
        </p:txBody>
      </p:sp>
      <p:sp>
        <p:nvSpPr>
          <p:cNvPr id="23" name="shape-518">
            <a:extLst xmlns:a="http://schemas.openxmlformats.org/drawingml/2006/main">
              <a:ext uri="{FF2B5EF4-FFF2-40B4-BE49-F238E27FC236}">
                <a16:creationId xmlns:a16="http://schemas.microsoft.com/office/drawing/2014/main" id="{FC6BB4A7-D4F3-4B10-8C06-EFE636CA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165914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shape-519">
            <a:extLst xmlns:a="http://schemas.openxmlformats.org/drawingml/2006/main">
              <a:ext uri="{FF2B5EF4-FFF2-40B4-BE49-F238E27FC236}">
                <a16:creationId xmlns:a16="http://schemas.microsoft.com/office/drawing/2014/main" id="{F641FF19-3A37-43FD-BE61-332D2C7B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00375"/>
            <a:ext cx="1506747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DELETE</a:t>
            </a:r>
          </a:p>
        </p:txBody>
      </p:sp>
      <p:sp>
        <p:nvSpPr>
          <p:cNvPr id="25" name="shape-520">
            <a:extLst xmlns:a="http://schemas.openxmlformats.org/drawingml/2006/main">
              <a:ext uri="{FF2B5EF4-FFF2-40B4-BE49-F238E27FC236}">
                <a16:creationId xmlns:a16="http://schemas.microsoft.com/office/drawing/2014/main" id="{BF32E882-A565-42B3-9FCA-39283FCF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2933700"/>
            <a:ext cx="642919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shape-521">
            <a:extLst xmlns:a="http://schemas.openxmlformats.org/drawingml/2006/main">
              <a:ext uri="{FF2B5EF4-FFF2-40B4-BE49-F238E27FC236}">
                <a16:creationId xmlns:a16="http://schemas.microsoft.com/office/drawing/2014/main" id="{700C859F-D799-4B5A-BD5A-E8E5C9CE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3000375"/>
            <a:ext cx="627679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/auth/sessions/current</a:t>
            </a:r>
          </a:p>
        </p:txBody>
      </p:sp>
      <p:sp>
        <p:nvSpPr>
          <p:cNvPr id="27" name="shape-522">
            <a:extLst xmlns:a="http://schemas.openxmlformats.org/drawingml/2006/main">
              <a:ext uri="{FF2B5EF4-FFF2-40B4-BE49-F238E27FC236}">
                <a16:creationId xmlns:a16="http://schemas.microsoft.com/office/drawing/2014/main" id="{13AD936A-1B7D-4B4D-AA52-09A8A5A7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392" y="2933700"/>
            <a:ext cx="290350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shape-523">
            <a:extLst xmlns:a="http://schemas.openxmlformats.org/drawingml/2006/main">
              <a:ext uri="{FF2B5EF4-FFF2-40B4-BE49-F238E27FC236}">
                <a16:creationId xmlns:a16="http://schemas.microsoft.com/office/drawing/2014/main" id="{37639392-792A-49D4-A8A6-5FFD61D2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592" y="3000375"/>
            <a:ext cx="2751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退出</a:t>
            </a:r>
          </a:p>
        </p:txBody>
      </p:sp>
      <p:sp>
        <p:nvSpPr>
          <p:cNvPr id="29" name="shape-524">
            <a:extLst xmlns:a="http://schemas.openxmlformats.org/drawingml/2006/main">
              <a:ext uri="{FF2B5EF4-FFF2-40B4-BE49-F238E27FC236}">
                <a16:creationId xmlns:a16="http://schemas.microsoft.com/office/drawing/2014/main" id="{5F55D52D-E1E7-4D58-8A63-B1E9A76C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4225"/>
            <a:ext cx="165914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shape-525">
            <a:extLst xmlns:a="http://schemas.openxmlformats.org/drawingml/2006/main">
              <a:ext uri="{FF2B5EF4-FFF2-40B4-BE49-F238E27FC236}">
                <a16:creationId xmlns:a16="http://schemas.microsoft.com/office/drawing/2014/main" id="{39893011-500D-483D-AA81-A5C9839A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90900"/>
            <a:ext cx="1506747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GET</a:t>
            </a:r>
          </a:p>
        </p:txBody>
      </p:sp>
      <p:sp>
        <p:nvSpPr>
          <p:cNvPr id="31" name="shape-526">
            <a:extLst xmlns:a="http://schemas.openxmlformats.org/drawingml/2006/main">
              <a:ext uri="{FF2B5EF4-FFF2-40B4-BE49-F238E27FC236}">
                <a16:creationId xmlns:a16="http://schemas.microsoft.com/office/drawing/2014/main" id="{99D17C02-FE46-425C-9D83-675808B8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3324225"/>
            <a:ext cx="642919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shape-527">
            <a:extLst xmlns:a="http://schemas.openxmlformats.org/drawingml/2006/main">
              <a:ext uri="{FF2B5EF4-FFF2-40B4-BE49-F238E27FC236}">
                <a16:creationId xmlns:a16="http://schemas.microsoft.com/office/drawing/2014/main" id="{4945939F-CB86-4A40-BF2E-292BB672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3390900"/>
            <a:ext cx="627679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/users/me</a:t>
            </a:r>
          </a:p>
        </p:txBody>
      </p:sp>
      <p:sp>
        <p:nvSpPr>
          <p:cNvPr id="33" name="shape-528">
            <a:extLst xmlns:a="http://schemas.openxmlformats.org/drawingml/2006/main">
              <a:ext uri="{FF2B5EF4-FFF2-40B4-BE49-F238E27FC236}">
                <a16:creationId xmlns:a16="http://schemas.microsoft.com/office/drawing/2014/main" id="{FF01797A-D21C-45CC-9CDA-FDFEE444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392" y="3324225"/>
            <a:ext cx="290350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shape-529">
            <a:extLst xmlns:a="http://schemas.openxmlformats.org/drawingml/2006/main">
              <a:ext uri="{FF2B5EF4-FFF2-40B4-BE49-F238E27FC236}">
                <a16:creationId xmlns:a16="http://schemas.microsoft.com/office/drawing/2014/main" id="{FE030D70-DC10-436E-AB0C-5E34BF93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592" y="3390900"/>
            <a:ext cx="2751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当前用户</a:t>
            </a:r>
          </a:p>
        </p:txBody>
      </p:sp>
      <p:sp>
        <p:nvSpPr>
          <p:cNvPr id="35" name="shape-530">
            <a:extLst xmlns:a="http://schemas.openxmlformats.org/drawingml/2006/main">
              <a:ext uri="{FF2B5EF4-FFF2-40B4-BE49-F238E27FC236}">
                <a16:creationId xmlns:a16="http://schemas.microsoft.com/office/drawing/2014/main" id="{283988D9-C54D-4779-B5A0-D4D909AB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65914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shape-531">
            <a:extLst xmlns:a="http://schemas.openxmlformats.org/drawingml/2006/main">
              <a:ext uri="{FF2B5EF4-FFF2-40B4-BE49-F238E27FC236}">
                <a16:creationId xmlns:a16="http://schemas.microsoft.com/office/drawing/2014/main" id="{CCBCF429-0B66-4796-9642-BAEB94A6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1506747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POST</a:t>
            </a:r>
          </a:p>
        </p:txBody>
      </p:sp>
      <p:sp>
        <p:nvSpPr>
          <p:cNvPr id="37" name="shape-532">
            <a:extLst xmlns:a="http://schemas.openxmlformats.org/drawingml/2006/main">
              <a:ext uri="{FF2B5EF4-FFF2-40B4-BE49-F238E27FC236}">
                <a16:creationId xmlns:a16="http://schemas.microsoft.com/office/drawing/2014/main" id="{590367A7-BACB-4C1C-B000-3F78CF5A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3714750"/>
            <a:ext cx="642919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shape-533">
            <a:extLst xmlns:a="http://schemas.openxmlformats.org/drawingml/2006/main">
              <a:ext uri="{FF2B5EF4-FFF2-40B4-BE49-F238E27FC236}">
                <a16:creationId xmlns:a16="http://schemas.microsoft.com/office/drawing/2014/main" id="{368D958E-7FBF-43BE-9DDB-CED43A16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3781425"/>
            <a:ext cx="627679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/organizations/{orgId}/invitations</a:t>
            </a:r>
          </a:p>
        </p:txBody>
      </p:sp>
      <p:sp>
        <p:nvSpPr>
          <p:cNvPr id="39" name="shape-534">
            <a:extLst xmlns:a="http://schemas.openxmlformats.org/drawingml/2006/main">
              <a:ext uri="{FF2B5EF4-FFF2-40B4-BE49-F238E27FC236}">
                <a16:creationId xmlns:a16="http://schemas.microsoft.com/office/drawing/2014/main" id="{248E64F6-82EB-48FF-A548-B3DB5352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392" y="3714750"/>
            <a:ext cx="290350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shape-535">
            <a:extLst xmlns:a="http://schemas.openxmlformats.org/drawingml/2006/main">
              <a:ext uri="{FF2B5EF4-FFF2-40B4-BE49-F238E27FC236}">
                <a16:creationId xmlns:a16="http://schemas.microsoft.com/office/drawing/2014/main" id="{2CA3DD61-2BDE-4770-AD17-874376EE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592" y="3781425"/>
            <a:ext cx="2751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创建邀请</a:t>
            </a:r>
          </a:p>
        </p:txBody>
      </p:sp>
      <p:sp>
        <p:nvSpPr>
          <p:cNvPr id="41" name="shape-536">
            <a:extLst xmlns:a="http://schemas.openxmlformats.org/drawingml/2006/main">
              <a:ext uri="{FF2B5EF4-FFF2-40B4-BE49-F238E27FC236}">
                <a16:creationId xmlns:a16="http://schemas.microsoft.com/office/drawing/2014/main" id="{87537F74-34FB-4902-A243-50AE1225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165914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shape-537">
            <a:extLst xmlns:a="http://schemas.openxmlformats.org/drawingml/2006/main">
              <a:ext uri="{FF2B5EF4-FFF2-40B4-BE49-F238E27FC236}">
                <a16:creationId xmlns:a16="http://schemas.microsoft.com/office/drawing/2014/main" id="{AA2E8DE5-2DB4-44A5-B232-3B0A5ADF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1506747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POST</a:t>
            </a:r>
          </a:p>
        </p:txBody>
      </p:sp>
      <p:sp>
        <p:nvSpPr>
          <p:cNvPr id="43" name="shape-538">
            <a:extLst xmlns:a="http://schemas.openxmlformats.org/drawingml/2006/main">
              <a:ext uri="{FF2B5EF4-FFF2-40B4-BE49-F238E27FC236}">
                <a16:creationId xmlns:a16="http://schemas.microsoft.com/office/drawing/2014/main" id="{7662124A-380E-4A35-859D-EC046853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4105275"/>
            <a:ext cx="642919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shape-539">
            <a:extLst xmlns:a="http://schemas.openxmlformats.org/drawingml/2006/main">
              <a:ext uri="{FF2B5EF4-FFF2-40B4-BE49-F238E27FC236}">
                <a16:creationId xmlns:a16="http://schemas.microsoft.com/office/drawing/2014/main" id="{51D670E7-FD0D-407F-96C5-01206B11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4171950"/>
            <a:ext cx="627679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/organization-memberships</a:t>
            </a:r>
          </a:p>
        </p:txBody>
      </p:sp>
      <p:sp>
        <p:nvSpPr>
          <p:cNvPr id="45" name="shape-540">
            <a:extLst xmlns:a="http://schemas.openxmlformats.org/drawingml/2006/main">
              <a:ext uri="{FF2B5EF4-FFF2-40B4-BE49-F238E27FC236}">
                <a16:creationId xmlns:a16="http://schemas.microsoft.com/office/drawing/2014/main" id="{C1AB2FFC-2A96-45B9-A7F7-DACF19E8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392" y="4105275"/>
            <a:ext cx="290350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shape-541">
            <a:extLst xmlns:a="http://schemas.openxmlformats.org/drawingml/2006/main">
              <a:ext uri="{FF2B5EF4-FFF2-40B4-BE49-F238E27FC236}">
                <a16:creationId xmlns:a16="http://schemas.microsoft.com/office/drawing/2014/main" id="{CF3878DC-F99B-4885-ABFB-C02D051C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592" y="4171950"/>
            <a:ext cx="2751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使用邀请码加入</a:t>
            </a:r>
          </a:p>
        </p:txBody>
      </p:sp>
      <p:sp>
        <p:nvSpPr>
          <p:cNvPr id="47" name="shape-542">
            <a:extLst xmlns:a="http://schemas.openxmlformats.org/drawingml/2006/main">
              <a:ext uri="{FF2B5EF4-FFF2-40B4-BE49-F238E27FC236}">
                <a16:creationId xmlns:a16="http://schemas.microsoft.com/office/drawing/2014/main" id="{FB286FF3-D8ED-4556-B924-A08962E6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165914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shape-543">
            <a:extLst xmlns:a="http://schemas.openxmlformats.org/drawingml/2006/main">
              <a:ext uri="{FF2B5EF4-FFF2-40B4-BE49-F238E27FC236}">
                <a16:creationId xmlns:a16="http://schemas.microsoft.com/office/drawing/2014/main" id="{1C9FE2CC-3D7F-4A5F-A9EF-425CCE8E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62475"/>
            <a:ext cx="1506747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POST/GET</a:t>
            </a:r>
          </a:p>
        </p:txBody>
      </p:sp>
      <p:sp>
        <p:nvSpPr>
          <p:cNvPr id="49" name="shape-544">
            <a:extLst xmlns:a="http://schemas.openxmlformats.org/drawingml/2006/main">
              <a:ext uri="{FF2B5EF4-FFF2-40B4-BE49-F238E27FC236}">
                <a16:creationId xmlns:a16="http://schemas.microsoft.com/office/drawing/2014/main" id="{2DB9C183-E3D0-4EB1-82AA-A89188DD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4495800"/>
            <a:ext cx="642919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shape-545">
            <a:extLst xmlns:a="http://schemas.openxmlformats.org/drawingml/2006/main">
              <a:ext uri="{FF2B5EF4-FFF2-40B4-BE49-F238E27FC236}">
                <a16:creationId xmlns:a16="http://schemas.microsoft.com/office/drawing/2014/main" id="{3642A2EF-F6A8-4212-8AF4-8786FEC2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4562475"/>
            <a:ext cx="627679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/organizations/{orgId}/activities</a:t>
            </a:r>
          </a:p>
        </p:txBody>
      </p:sp>
      <p:sp>
        <p:nvSpPr>
          <p:cNvPr id="51" name="shape-546">
            <a:extLst xmlns:a="http://schemas.openxmlformats.org/drawingml/2006/main">
              <a:ext uri="{FF2B5EF4-FFF2-40B4-BE49-F238E27FC236}">
                <a16:creationId xmlns:a16="http://schemas.microsoft.com/office/drawing/2014/main" id="{8012275A-0913-4012-989B-BBEEC6E9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392" y="4495800"/>
            <a:ext cx="290350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shape-547">
            <a:extLst xmlns:a="http://schemas.openxmlformats.org/drawingml/2006/main">
              <a:ext uri="{FF2B5EF4-FFF2-40B4-BE49-F238E27FC236}">
                <a16:creationId xmlns:a16="http://schemas.microsoft.com/office/drawing/2014/main" id="{7D55EC57-CF57-45CE-AD3E-CBAB2871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592" y="4562475"/>
            <a:ext cx="2751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创建/查询活动</a:t>
            </a:r>
          </a:p>
        </p:txBody>
      </p:sp>
      <p:sp>
        <p:nvSpPr>
          <p:cNvPr id="53" name="shape-548">
            <a:extLst xmlns:a="http://schemas.openxmlformats.org/drawingml/2006/main">
              <a:ext uri="{FF2B5EF4-FFF2-40B4-BE49-F238E27FC236}">
                <a16:creationId xmlns:a16="http://schemas.microsoft.com/office/drawing/2014/main" id="{66D9015B-6CDE-4459-9DBC-356D53AD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86325"/>
            <a:ext cx="165914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shape-549">
            <a:extLst xmlns:a="http://schemas.openxmlformats.org/drawingml/2006/main">
              <a:ext uri="{FF2B5EF4-FFF2-40B4-BE49-F238E27FC236}">
                <a16:creationId xmlns:a16="http://schemas.microsoft.com/office/drawing/2014/main" id="{DC7E0FB7-781B-4B64-A0A5-4DF2BACA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1506747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GET/PATCH</a:t>
            </a:r>
          </a:p>
        </p:txBody>
      </p:sp>
      <p:sp>
        <p:nvSpPr>
          <p:cNvPr id="55" name="shape-550">
            <a:extLst xmlns:a="http://schemas.openxmlformats.org/drawingml/2006/main">
              <a:ext uri="{FF2B5EF4-FFF2-40B4-BE49-F238E27FC236}">
                <a16:creationId xmlns:a16="http://schemas.microsoft.com/office/drawing/2014/main" id="{CF86AD04-D891-4419-B7BE-D2776B00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4886325"/>
            <a:ext cx="642919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shape-551">
            <a:extLst xmlns:a="http://schemas.openxmlformats.org/drawingml/2006/main">
              <a:ext uri="{FF2B5EF4-FFF2-40B4-BE49-F238E27FC236}">
                <a16:creationId xmlns:a16="http://schemas.microsoft.com/office/drawing/2014/main" id="{2E456DBC-FE6D-40C3-9D47-2EBD433F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4953000"/>
            <a:ext cx="627679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/activities/{activityId}</a:t>
            </a:r>
          </a:p>
        </p:txBody>
      </p:sp>
      <p:sp>
        <p:nvSpPr>
          <p:cNvPr id="57" name="shape-552">
            <a:extLst xmlns:a="http://schemas.openxmlformats.org/drawingml/2006/main">
              <a:ext uri="{FF2B5EF4-FFF2-40B4-BE49-F238E27FC236}">
                <a16:creationId xmlns:a16="http://schemas.microsoft.com/office/drawing/2014/main" id="{81BAF8B3-F287-4ED4-8F8D-BD5BEA13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392" y="4886325"/>
            <a:ext cx="290350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8" name="shape-553">
            <a:extLst xmlns:a="http://schemas.openxmlformats.org/drawingml/2006/main">
              <a:ext uri="{FF2B5EF4-FFF2-40B4-BE49-F238E27FC236}">
                <a16:creationId xmlns:a16="http://schemas.microsoft.com/office/drawing/2014/main" id="{85BBCDAD-008D-4CBF-B64B-B1FE18B0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592" y="4953000"/>
            <a:ext cx="2751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详情/修改草稿</a:t>
            </a:r>
          </a:p>
        </p:txBody>
      </p:sp>
      <p:sp>
        <p:nvSpPr>
          <p:cNvPr id="59" name="shape-554">
            <a:extLst xmlns:a="http://schemas.openxmlformats.org/drawingml/2006/main">
              <a:ext uri="{FF2B5EF4-FFF2-40B4-BE49-F238E27FC236}">
                <a16:creationId xmlns:a16="http://schemas.microsoft.com/office/drawing/2014/main" id="{AE2F5413-1649-4D51-BAE6-ABC9E769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76850"/>
            <a:ext cx="165914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0" name="shape-555">
            <a:extLst xmlns:a="http://schemas.openxmlformats.org/drawingml/2006/main">
              <a:ext uri="{FF2B5EF4-FFF2-40B4-BE49-F238E27FC236}">
                <a16:creationId xmlns:a16="http://schemas.microsoft.com/office/drawing/2014/main" id="{A064281B-E4A3-422B-A488-C9AE6207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43525"/>
            <a:ext cx="1506747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POST</a:t>
            </a:r>
          </a:p>
        </p:txBody>
      </p:sp>
      <p:sp>
        <p:nvSpPr>
          <p:cNvPr id="61" name="shape-556">
            <a:extLst xmlns:a="http://schemas.openxmlformats.org/drawingml/2006/main">
              <a:ext uri="{FF2B5EF4-FFF2-40B4-BE49-F238E27FC236}">
                <a16:creationId xmlns:a16="http://schemas.microsoft.com/office/drawing/2014/main" id="{81BA5836-B8E9-47E9-98F5-E7A6709C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5276850"/>
            <a:ext cx="642919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2" name="shape-557">
            <a:extLst xmlns:a="http://schemas.openxmlformats.org/drawingml/2006/main">
              <a:ext uri="{FF2B5EF4-FFF2-40B4-BE49-F238E27FC236}">
                <a16:creationId xmlns:a16="http://schemas.microsoft.com/office/drawing/2014/main" id="{E14E6126-EF67-4BDB-B0A1-7174BDB7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5343525"/>
            <a:ext cx="627679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/activities/{id}/publication|cancellation</a:t>
            </a:r>
          </a:p>
        </p:txBody>
      </p:sp>
      <p:sp>
        <p:nvSpPr>
          <p:cNvPr id="63" name="shape-558">
            <a:extLst xmlns:a="http://schemas.openxmlformats.org/drawingml/2006/main">
              <a:ext uri="{FF2B5EF4-FFF2-40B4-BE49-F238E27FC236}">
                <a16:creationId xmlns:a16="http://schemas.microsoft.com/office/drawing/2014/main" id="{8F0B7459-7CFA-4A92-B0CD-ED791CFB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8392" y="5276850"/>
            <a:ext cx="290350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4" name="shape-559">
            <a:extLst xmlns:a="http://schemas.openxmlformats.org/drawingml/2006/main">
              <a:ext uri="{FF2B5EF4-FFF2-40B4-BE49-F238E27FC236}">
                <a16:creationId xmlns:a16="http://schemas.microsoft.com/office/drawing/2014/main" id="{74794DC1-3474-4D02-82BC-422B3D22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4592" y="5343525"/>
            <a:ext cx="2751108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发布/取消活动</a:t>
            </a:r>
          </a:p>
        </p:txBody>
      </p:sp>
    </p:spTree>
    <p:extLst>
      <p:ext uri="{BB962C8B-B14F-4D97-AF65-F5344CB8AC3E}">
        <p14:creationId xmlns:p14="http://schemas.microsoft.com/office/powerpoint/2010/main" val="85162358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shape-560">
            <a:extLst xmlns:a="http://schemas.openxmlformats.org/drawingml/2006/main">
              <a:ext uri="{FF2B5EF4-FFF2-40B4-BE49-F238E27FC236}">
                <a16:creationId xmlns:a16="http://schemas.microsoft.com/office/drawing/2014/main" id="{319B5F1B-1C10-4E02-8ADE-8D4730CF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API与安全</a:t>
            </a:r>
          </a:p>
        </p:txBody>
      </p:sp>
      <p:sp>
        <p:nvSpPr>
          <p:cNvPr id="2" name="shape-561">
            <a:extLst xmlns:a="http://schemas.openxmlformats.org/drawingml/2006/main">
              <a:ext uri="{FF2B5EF4-FFF2-40B4-BE49-F238E27FC236}">
                <a16:creationId xmlns:a16="http://schemas.microsoft.com/office/drawing/2014/main" id="{32FA057E-93F7-4D09-98A1-9246DFB9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报名、签到、通知和审计端点表达业务动作</a:t>
            </a:r>
          </a:p>
        </p:txBody>
      </p:sp>
      <p:cxnSp>
        <p:nvCxnSpPr>
          <p:cNvPr id="73" name="shape-562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563">
            <a:extLst xmlns:a="http://schemas.openxmlformats.org/drawingml/2006/main">
              <a:ext uri="{FF2B5EF4-FFF2-40B4-BE49-F238E27FC236}">
                <a16:creationId xmlns:a16="http://schemas.microsoft.com/office/drawing/2014/main" id="{B03A0823-ACEC-42AB-82F6-061B54EB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5" name="shape-564">
            <a:extLst xmlns:a="http://schemas.openxmlformats.org/drawingml/2006/main">
              <a:ext uri="{FF2B5EF4-FFF2-40B4-BE49-F238E27FC236}">
                <a16:creationId xmlns:a16="http://schemas.microsoft.com/office/drawing/2014/main" id="{5200E1D2-7469-48EE-84E9-E9ECCB7A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659147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shape-565">
            <a:extLst xmlns:a="http://schemas.openxmlformats.org/drawingml/2006/main">
              <a:ext uri="{FF2B5EF4-FFF2-40B4-BE49-F238E27FC236}">
                <a16:creationId xmlns:a16="http://schemas.microsoft.com/office/drawing/2014/main" id="{F64C7580-D498-4176-BFC5-3ECBFB9B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38325"/>
            <a:ext cx="1506747" cy="202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7" name="shape-566">
            <a:extLst xmlns:a="http://schemas.openxmlformats.org/drawingml/2006/main">
              <a:ext uri="{FF2B5EF4-FFF2-40B4-BE49-F238E27FC236}">
                <a16:creationId xmlns:a16="http://schemas.microsoft.com/office/drawing/2014/main" id="{1244CD9F-C8DF-402D-A480-F43A09F9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1762125"/>
            <a:ext cx="6636589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shape-567">
            <a:extLst xmlns:a="http://schemas.openxmlformats.org/drawingml/2006/main">
              <a:ext uri="{FF2B5EF4-FFF2-40B4-BE49-F238E27FC236}">
                <a16:creationId xmlns:a16="http://schemas.microsoft.com/office/drawing/2014/main" id="{7BCF3F3D-F214-4415-A8ED-FFB2CA33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1838325"/>
            <a:ext cx="6484189" cy="202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路径</a:t>
            </a:r>
          </a:p>
        </p:txBody>
      </p:sp>
      <p:sp>
        <p:nvSpPr>
          <p:cNvPr id="9" name="shape-568">
            <a:extLst xmlns:a="http://schemas.openxmlformats.org/drawingml/2006/main">
              <a:ext uri="{FF2B5EF4-FFF2-40B4-BE49-F238E27FC236}">
                <a16:creationId xmlns:a16="http://schemas.microsoft.com/office/drawing/2014/main" id="{5FBA80F9-3DC5-4C29-A704-CE08BE6E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786" y="1762125"/>
            <a:ext cx="2696114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shape-569">
            <a:extLst xmlns:a="http://schemas.openxmlformats.org/drawingml/2006/main">
              <a:ext uri="{FF2B5EF4-FFF2-40B4-BE49-F238E27FC236}">
                <a16:creationId xmlns:a16="http://schemas.microsoft.com/office/drawing/2014/main" id="{4D6A5820-F305-4F80-8F0E-2EFAF3B8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986" y="1838325"/>
            <a:ext cx="2543714" cy="2026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11" name="shape-570">
            <a:extLst xmlns:a="http://schemas.openxmlformats.org/drawingml/2006/main">
              <a:ext uri="{FF2B5EF4-FFF2-40B4-BE49-F238E27FC236}">
                <a16:creationId xmlns:a16="http://schemas.microsoft.com/office/drawing/2014/main" id="{A8D22267-FBE6-493F-830F-9A50B3B3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7148"/>
            <a:ext cx="1659147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hape-571">
            <a:extLst xmlns:a="http://schemas.openxmlformats.org/drawingml/2006/main">
              <a:ext uri="{FF2B5EF4-FFF2-40B4-BE49-F238E27FC236}">
                <a16:creationId xmlns:a16="http://schemas.microsoft.com/office/drawing/2014/main" id="{89CF9253-11D8-43C8-BEDA-D7D1A0E9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83823"/>
            <a:ext cx="1506747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POST</a:t>
            </a:r>
          </a:p>
        </p:txBody>
      </p:sp>
      <p:sp>
        <p:nvSpPr>
          <p:cNvPr id="13" name="shape-572">
            <a:extLst xmlns:a="http://schemas.openxmlformats.org/drawingml/2006/main">
              <a:ext uri="{FF2B5EF4-FFF2-40B4-BE49-F238E27FC236}">
                <a16:creationId xmlns:a16="http://schemas.microsoft.com/office/drawing/2014/main" id="{4457F0C8-4382-41D1-971D-D8C8B63B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2117148"/>
            <a:ext cx="6636589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shape-573">
            <a:extLst xmlns:a="http://schemas.openxmlformats.org/drawingml/2006/main">
              <a:ext uri="{FF2B5EF4-FFF2-40B4-BE49-F238E27FC236}">
                <a16:creationId xmlns:a16="http://schemas.microsoft.com/office/drawing/2014/main" id="{EB73A1F3-B7DC-4551-BE6E-5DAF8C71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2183823"/>
            <a:ext cx="6484189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/activities/{id}/registrations</a:t>
            </a:r>
          </a:p>
        </p:txBody>
      </p:sp>
      <p:sp>
        <p:nvSpPr>
          <p:cNvPr id="15" name="shape-574">
            <a:extLst xmlns:a="http://schemas.openxmlformats.org/drawingml/2006/main">
              <a:ext uri="{FF2B5EF4-FFF2-40B4-BE49-F238E27FC236}">
                <a16:creationId xmlns:a16="http://schemas.microsoft.com/office/drawing/2014/main" id="{C03FB949-23E7-414A-BB03-0414B2AC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786" y="2117148"/>
            <a:ext cx="2696114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hape-575">
            <a:extLst xmlns:a="http://schemas.openxmlformats.org/drawingml/2006/main">
              <a:ext uri="{FF2B5EF4-FFF2-40B4-BE49-F238E27FC236}">
                <a16:creationId xmlns:a16="http://schemas.microsoft.com/office/drawing/2014/main" id="{02BE5419-37EA-4505-BF65-3B2883A5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986" y="2183823"/>
            <a:ext cx="2543714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报名</a:t>
            </a:r>
          </a:p>
        </p:txBody>
      </p:sp>
      <p:sp>
        <p:nvSpPr>
          <p:cNvPr id="17" name="shape-576">
            <a:extLst xmlns:a="http://schemas.openxmlformats.org/drawingml/2006/main">
              <a:ext uri="{FF2B5EF4-FFF2-40B4-BE49-F238E27FC236}">
                <a16:creationId xmlns:a16="http://schemas.microsoft.com/office/drawing/2014/main" id="{021984D2-5879-4768-93C4-012FE0C8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2170"/>
            <a:ext cx="1659147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shape-577">
            <a:extLst xmlns:a="http://schemas.openxmlformats.org/drawingml/2006/main">
              <a:ext uri="{FF2B5EF4-FFF2-40B4-BE49-F238E27FC236}">
                <a16:creationId xmlns:a16="http://schemas.microsoft.com/office/drawing/2014/main" id="{6510C3CE-1D5B-492F-BB33-4CE464C9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38845"/>
            <a:ext cx="1506747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GET</a:t>
            </a:r>
          </a:p>
        </p:txBody>
      </p:sp>
      <p:sp>
        <p:nvSpPr>
          <p:cNvPr id="19" name="shape-578">
            <a:extLst xmlns:a="http://schemas.openxmlformats.org/drawingml/2006/main">
              <a:ext uri="{FF2B5EF4-FFF2-40B4-BE49-F238E27FC236}">
                <a16:creationId xmlns:a16="http://schemas.microsoft.com/office/drawing/2014/main" id="{A10E6F66-0B19-491D-A901-6949B3E8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2472170"/>
            <a:ext cx="6636589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shape-579">
            <a:extLst xmlns:a="http://schemas.openxmlformats.org/drawingml/2006/main">
              <a:ext uri="{FF2B5EF4-FFF2-40B4-BE49-F238E27FC236}">
                <a16:creationId xmlns:a16="http://schemas.microsoft.com/office/drawing/2014/main" id="{5B140234-D911-417E-A48E-C1FFD1AE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2538845"/>
            <a:ext cx="6484189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/activities/{id}/registrations</a:t>
            </a:r>
          </a:p>
        </p:txBody>
      </p:sp>
      <p:sp>
        <p:nvSpPr>
          <p:cNvPr id="21" name="shape-580">
            <a:extLst xmlns:a="http://schemas.openxmlformats.org/drawingml/2006/main">
              <a:ext uri="{FF2B5EF4-FFF2-40B4-BE49-F238E27FC236}">
                <a16:creationId xmlns:a16="http://schemas.microsoft.com/office/drawing/2014/main" id="{1E8DA988-12B0-4DD8-A59B-CB59581EA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786" y="2472170"/>
            <a:ext cx="2696114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shape-581">
            <a:extLst xmlns:a="http://schemas.openxmlformats.org/drawingml/2006/main">
              <a:ext uri="{FF2B5EF4-FFF2-40B4-BE49-F238E27FC236}">
                <a16:creationId xmlns:a16="http://schemas.microsoft.com/office/drawing/2014/main" id="{8092EAE2-D158-4761-9721-A1B1C12B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986" y="2538845"/>
            <a:ext cx="2543714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管理报名名单</a:t>
            </a:r>
          </a:p>
        </p:txBody>
      </p:sp>
      <p:sp>
        <p:nvSpPr>
          <p:cNvPr id="23" name="shape-582">
            <a:extLst xmlns:a="http://schemas.openxmlformats.org/drawingml/2006/main">
              <a:ext uri="{FF2B5EF4-FFF2-40B4-BE49-F238E27FC236}">
                <a16:creationId xmlns:a16="http://schemas.microsoft.com/office/drawing/2014/main" id="{660173D8-482B-4A8D-B7ED-BAEB0A84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27193"/>
            <a:ext cx="1659147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shape-583">
            <a:extLst xmlns:a="http://schemas.openxmlformats.org/drawingml/2006/main">
              <a:ext uri="{FF2B5EF4-FFF2-40B4-BE49-F238E27FC236}">
                <a16:creationId xmlns:a16="http://schemas.microsoft.com/office/drawing/2014/main" id="{EBD253FE-3D8E-4C5F-8615-CD611B11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93868"/>
            <a:ext cx="1506747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GET</a:t>
            </a:r>
          </a:p>
        </p:txBody>
      </p:sp>
      <p:sp>
        <p:nvSpPr>
          <p:cNvPr id="25" name="shape-584">
            <a:extLst xmlns:a="http://schemas.openxmlformats.org/drawingml/2006/main">
              <a:ext uri="{FF2B5EF4-FFF2-40B4-BE49-F238E27FC236}">
                <a16:creationId xmlns:a16="http://schemas.microsoft.com/office/drawing/2014/main" id="{2C4A48AF-4BAC-4BE8-86EC-C721A6BB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2827193"/>
            <a:ext cx="6636589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shape-585">
            <a:extLst xmlns:a="http://schemas.openxmlformats.org/drawingml/2006/main">
              <a:ext uri="{FF2B5EF4-FFF2-40B4-BE49-F238E27FC236}">
                <a16:creationId xmlns:a16="http://schemas.microsoft.com/office/drawing/2014/main" id="{3E64028D-3783-4B41-BF32-43E59640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2893868"/>
            <a:ext cx="6484189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/registrations/{id}</a:t>
            </a:r>
          </a:p>
        </p:txBody>
      </p:sp>
      <p:sp>
        <p:nvSpPr>
          <p:cNvPr id="27" name="shape-586">
            <a:extLst xmlns:a="http://schemas.openxmlformats.org/drawingml/2006/main">
              <a:ext uri="{FF2B5EF4-FFF2-40B4-BE49-F238E27FC236}">
                <a16:creationId xmlns:a16="http://schemas.microsoft.com/office/drawing/2014/main" id="{C9D836F5-4B5A-4F11-9BB9-A6362A0A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786" y="2827193"/>
            <a:ext cx="2696114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shape-587">
            <a:extLst xmlns:a="http://schemas.openxmlformats.org/drawingml/2006/main">
              <a:ext uri="{FF2B5EF4-FFF2-40B4-BE49-F238E27FC236}">
                <a16:creationId xmlns:a16="http://schemas.microsoft.com/office/drawing/2014/main" id="{38B789C0-C874-4B27-8ED3-13502ABE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986" y="2893868"/>
            <a:ext cx="2543714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报名详情</a:t>
            </a:r>
          </a:p>
        </p:txBody>
      </p:sp>
      <p:sp>
        <p:nvSpPr>
          <p:cNvPr id="29" name="shape-588">
            <a:extLst xmlns:a="http://schemas.openxmlformats.org/drawingml/2006/main">
              <a:ext uri="{FF2B5EF4-FFF2-40B4-BE49-F238E27FC236}">
                <a16:creationId xmlns:a16="http://schemas.microsoft.com/office/drawing/2014/main" id="{8A7AE895-87AE-4DBC-9B1B-26D45925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2216"/>
            <a:ext cx="1659147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shape-589">
            <a:extLst xmlns:a="http://schemas.openxmlformats.org/drawingml/2006/main">
              <a:ext uri="{FF2B5EF4-FFF2-40B4-BE49-F238E27FC236}">
                <a16:creationId xmlns:a16="http://schemas.microsoft.com/office/drawing/2014/main" id="{5ADD6F90-D877-4BC7-B04E-EF210E88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48891"/>
            <a:ext cx="1506747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POST</a:t>
            </a:r>
          </a:p>
        </p:txBody>
      </p:sp>
      <p:sp>
        <p:nvSpPr>
          <p:cNvPr id="31" name="shape-590">
            <a:extLst xmlns:a="http://schemas.openxmlformats.org/drawingml/2006/main">
              <a:ext uri="{FF2B5EF4-FFF2-40B4-BE49-F238E27FC236}">
                <a16:creationId xmlns:a16="http://schemas.microsoft.com/office/drawing/2014/main" id="{7881467E-A59D-4A87-ACE9-2E429258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3182216"/>
            <a:ext cx="6636589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shape-591">
            <a:extLst xmlns:a="http://schemas.openxmlformats.org/drawingml/2006/main">
              <a:ext uri="{FF2B5EF4-FFF2-40B4-BE49-F238E27FC236}">
                <a16:creationId xmlns:a16="http://schemas.microsoft.com/office/drawing/2014/main" id="{A02D456E-E98D-49EF-8A60-3AB3F2CA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3248891"/>
            <a:ext cx="6484189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/registrations/{id}/cancellation</a:t>
            </a:r>
          </a:p>
        </p:txBody>
      </p:sp>
      <p:sp>
        <p:nvSpPr>
          <p:cNvPr id="33" name="shape-592">
            <a:extLst xmlns:a="http://schemas.openxmlformats.org/drawingml/2006/main">
              <a:ext uri="{FF2B5EF4-FFF2-40B4-BE49-F238E27FC236}">
                <a16:creationId xmlns:a16="http://schemas.microsoft.com/office/drawing/2014/main" id="{A9A69916-C28B-4674-99B2-9BED54B1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786" y="3182216"/>
            <a:ext cx="2696114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shape-593">
            <a:extLst xmlns:a="http://schemas.openxmlformats.org/drawingml/2006/main">
              <a:ext uri="{FF2B5EF4-FFF2-40B4-BE49-F238E27FC236}">
                <a16:creationId xmlns:a16="http://schemas.microsoft.com/office/drawing/2014/main" id="{2B0C97B7-6729-4E27-AA75-250C460B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986" y="3248891"/>
            <a:ext cx="2543714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取消报名</a:t>
            </a:r>
          </a:p>
        </p:txBody>
      </p:sp>
      <p:sp>
        <p:nvSpPr>
          <p:cNvPr id="35" name="shape-594">
            <a:extLst xmlns:a="http://schemas.openxmlformats.org/drawingml/2006/main">
              <a:ext uri="{FF2B5EF4-FFF2-40B4-BE49-F238E27FC236}">
                <a16:creationId xmlns:a16="http://schemas.microsoft.com/office/drawing/2014/main" id="{089089AA-776C-478B-8F2A-60C70E95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37239"/>
            <a:ext cx="1659147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shape-595">
            <a:extLst xmlns:a="http://schemas.openxmlformats.org/drawingml/2006/main">
              <a:ext uri="{FF2B5EF4-FFF2-40B4-BE49-F238E27FC236}">
                <a16:creationId xmlns:a16="http://schemas.microsoft.com/office/drawing/2014/main" id="{CB4A059D-7475-484D-AF14-77837DBA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03914"/>
            <a:ext cx="1506747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POST</a:t>
            </a:r>
          </a:p>
        </p:txBody>
      </p:sp>
      <p:sp>
        <p:nvSpPr>
          <p:cNvPr id="37" name="shape-596">
            <a:extLst xmlns:a="http://schemas.openxmlformats.org/drawingml/2006/main">
              <a:ext uri="{FF2B5EF4-FFF2-40B4-BE49-F238E27FC236}">
                <a16:creationId xmlns:a16="http://schemas.microsoft.com/office/drawing/2014/main" id="{A1DBE469-CAED-4BBA-BF66-E6271271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3537239"/>
            <a:ext cx="6636589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shape-597">
            <a:extLst xmlns:a="http://schemas.openxmlformats.org/drawingml/2006/main">
              <a:ext uri="{FF2B5EF4-FFF2-40B4-BE49-F238E27FC236}">
                <a16:creationId xmlns:a16="http://schemas.microsoft.com/office/drawing/2014/main" id="{AFFF68BD-321F-4769-98F9-DF3B359E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3603914"/>
            <a:ext cx="6484189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/registrations/{id}/review-decisions</a:t>
            </a:r>
          </a:p>
        </p:txBody>
      </p:sp>
      <p:sp>
        <p:nvSpPr>
          <p:cNvPr id="39" name="shape-598">
            <a:extLst xmlns:a="http://schemas.openxmlformats.org/drawingml/2006/main">
              <a:ext uri="{FF2B5EF4-FFF2-40B4-BE49-F238E27FC236}">
                <a16:creationId xmlns:a16="http://schemas.microsoft.com/office/drawing/2014/main" id="{3FF8376B-F1EE-42C5-96B6-3EEFD027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786" y="3537239"/>
            <a:ext cx="2696114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shape-599">
            <a:extLst xmlns:a="http://schemas.openxmlformats.org/drawingml/2006/main">
              <a:ext uri="{FF2B5EF4-FFF2-40B4-BE49-F238E27FC236}">
                <a16:creationId xmlns:a16="http://schemas.microsoft.com/office/drawing/2014/main" id="{2051F3D9-8201-41FB-A657-FFED851C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986" y="3603914"/>
            <a:ext cx="2543714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审核决定</a:t>
            </a:r>
          </a:p>
        </p:txBody>
      </p:sp>
      <p:sp>
        <p:nvSpPr>
          <p:cNvPr id="41" name="shape-600">
            <a:extLst xmlns:a="http://schemas.openxmlformats.org/drawingml/2006/main">
              <a:ext uri="{FF2B5EF4-FFF2-40B4-BE49-F238E27FC236}">
                <a16:creationId xmlns:a16="http://schemas.microsoft.com/office/drawing/2014/main" id="{A1E2F7F3-0EE9-48F7-83DF-44F56EFD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92261"/>
            <a:ext cx="1659147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shape-601">
            <a:extLst xmlns:a="http://schemas.openxmlformats.org/drawingml/2006/main">
              <a:ext uri="{FF2B5EF4-FFF2-40B4-BE49-F238E27FC236}">
                <a16:creationId xmlns:a16="http://schemas.microsoft.com/office/drawing/2014/main" id="{18AB2F19-FFD6-4BEB-828F-5D13AEDE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58936"/>
            <a:ext cx="1506747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POST</a:t>
            </a:r>
          </a:p>
        </p:txBody>
      </p:sp>
      <p:sp>
        <p:nvSpPr>
          <p:cNvPr id="43" name="shape-602">
            <a:extLst xmlns:a="http://schemas.openxmlformats.org/drawingml/2006/main">
              <a:ext uri="{FF2B5EF4-FFF2-40B4-BE49-F238E27FC236}">
                <a16:creationId xmlns:a16="http://schemas.microsoft.com/office/drawing/2014/main" id="{43A42136-A749-4289-A009-6F8A973A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3892261"/>
            <a:ext cx="6636589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shape-603">
            <a:extLst xmlns:a="http://schemas.openxmlformats.org/drawingml/2006/main">
              <a:ext uri="{FF2B5EF4-FFF2-40B4-BE49-F238E27FC236}">
                <a16:creationId xmlns:a16="http://schemas.microsoft.com/office/drawing/2014/main" id="{1E8743EF-5DFD-44B7-864F-E6A10B55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3958936"/>
            <a:ext cx="6484189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/promotion-offers/{id}/responses</a:t>
            </a:r>
          </a:p>
        </p:txBody>
      </p:sp>
      <p:sp>
        <p:nvSpPr>
          <p:cNvPr id="45" name="shape-604">
            <a:extLst xmlns:a="http://schemas.openxmlformats.org/drawingml/2006/main">
              <a:ext uri="{FF2B5EF4-FFF2-40B4-BE49-F238E27FC236}">
                <a16:creationId xmlns:a16="http://schemas.microsoft.com/office/drawing/2014/main" id="{118F8F5F-36AF-4210-9DED-9C318BD8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786" y="3892261"/>
            <a:ext cx="2696114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shape-605">
            <a:extLst xmlns:a="http://schemas.openxmlformats.org/drawingml/2006/main">
              <a:ext uri="{FF2B5EF4-FFF2-40B4-BE49-F238E27FC236}">
                <a16:creationId xmlns:a16="http://schemas.microsoft.com/office/drawing/2014/main" id="{BFC21A11-590D-4027-BC09-47D852B2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986" y="3958936"/>
            <a:ext cx="2543714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回应候补邀请</a:t>
            </a:r>
          </a:p>
        </p:txBody>
      </p:sp>
      <p:sp>
        <p:nvSpPr>
          <p:cNvPr id="47" name="shape-606">
            <a:extLst xmlns:a="http://schemas.openxmlformats.org/drawingml/2006/main">
              <a:ext uri="{FF2B5EF4-FFF2-40B4-BE49-F238E27FC236}">
                <a16:creationId xmlns:a16="http://schemas.microsoft.com/office/drawing/2014/main" id="{A60277B1-5FB2-478C-B07C-BF34CF66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7284"/>
            <a:ext cx="1659147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shape-607">
            <a:extLst xmlns:a="http://schemas.openxmlformats.org/drawingml/2006/main">
              <a:ext uri="{FF2B5EF4-FFF2-40B4-BE49-F238E27FC236}">
                <a16:creationId xmlns:a16="http://schemas.microsoft.com/office/drawing/2014/main" id="{618A8212-3336-40E7-9D4B-81D1D37C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13959"/>
            <a:ext cx="1506747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POST</a:t>
            </a:r>
          </a:p>
        </p:txBody>
      </p:sp>
      <p:sp>
        <p:nvSpPr>
          <p:cNvPr id="49" name="shape-608">
            <a:extLst xmlns:a="http://schemas.openxmlformats.org/drawingml/2006/main">
              <a:ext uri="{FF2B5EF4-FFF2-40B4-BE49-F238E27FC236}">
                <a16:creationId xmlns:a16="http://schemas.microsoft.com/office/drawing/2014/main" id="{7D17C500-80F1-421A-A281-CAB95EE4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4247284"/>
            <a:ext cx="6636589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shape-609">
            <a:extLst xmlns:a="http://schemas.openxmlformats.org/drawingml/2006/main">
              <a:ext uri="{FF2B5EF4-FFF2-40B4-BE49-F238E27FC236}">
                <a16:creationId xmlns:a16="http://schemas.microsoft.com/office/drawing/2014/main" id="{38C612B0-22E8-470A-9FFD-97F52256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4313959"/>
            <a:ext cx="6484189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/activities/{id}/check-in-sessions</a:t>
            </a:r>
          </a:p>
        </p:txBody>
      </p:sp>
      <p:sp>
        <p:nvSpPr>
          <p:cNvPr id="51" name="shape-610">
            <a:extLst xmlns:a="http://schemas.openxmlformats.org/drawingml/2006/main">
              <a:ext uri="{FF2B5EF4-FFF2-40B4-BE49-F238E27FC236}">
                <a16:creationId xmlns:a16="http://schemas.microsoft.com/office/drawing/2014/main" id="{FDA0F332-14EE-4DE5-8799-D1871464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786" y="4247284"/>
            <a:ext cx="2696114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shape-611">
            <a:extLst xmlns:a="http://schemas.openxmlformats.org/drawingml/2006/main">
              <a:ext uri="{FF2B5EF4-FFF2-40B4-BE49-F238E27FC236}">
                <a16:creationId xmlns:a16="http://schemas.microsoft.com/office/drawing/2014/main" id="{D34EBF5C-6E31-44EA-B06A-0D2EE384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986" y="4313959"/>
            <a:ext cx="2543714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开启签到</a:t>
            </a:r>
          </a:p>
        </p:txBody>
      </p:sp>
      <p:sp>
        <p:nvSpPr>
          <p:cNvPr id="53" name="shape-612">
            <a:extLst xmlns:a="http://schemas.openxmlformats.org/drawingml/2006/main">
              <a:ext uri="{FF2B5EF4-FFF2-40B4-BE49-F238E27FC236}">
                <a16:creationId xmlns:a16="http://schemas.microsoft.com/office/drawing/2014/main" id="{CDBAFB8F-CA4B-47F3-BB38-2A83747D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02307"/>
            <a:ext cx="1659147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shape-613">
            <a:extLst xmlns:a="http://schemas.openxmlformats.org/drawingml/2006/main">
              <a:ext uri="{FF2B5EF4-FFF2-40B4-BE49-F238E27FC236}">
                <a16:creationId xmlns:a16="http://schemas.microsoft.com/office/drawing/2014/main" id="{C908F3F9-CC6A-4209-8CDE-2B8714AC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68982"/>
            <a:ext cx="1506747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POST</a:t>
            </a:r>
          </a:p>
        </p:txBody>
      </p:sp>
      <p:sp>
        <p:nvSpPr>
          <p:cNvPr id="55" name="shape-614">
            <a:extLst xmlns:a="http://schemas.openxmlformats.org/drawingml/2006/main">
              <a:ext uri="{FF2B5EF4-FFF2-40B4-BE49-F238E27FC236}">
                <a16:creationId xmlns:a16="http://schemas.microsoft.com/office/drawing/2014/main" id="{38D23E29-FD03-45D1-B895-7F4D1264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4602307"/>
            <a:ext cx="6636589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shape-615">
            <a:extLst xmlns:a="http://schemas.openxmlformats.org/drawingml/2006/main">
              <a:ext uri="{FF2B5EF4-FFF2-40B4-BE49-F238E27FC236}">
                <a16:creationId xmlns:a16="http://schemas.microsoft.com/office/drawing/2014/main" id="{A006AC9F-2E54-4F87-BAA1-7C42DC7D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4668982"/>
            <a:ext cx="6484189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/check-in-sessions/{id}/check-ins</a:t>
            </a:r>
          </a:p>
        </p:txBody>
      </p:sp>
      <p:sp>
        <p:nvSpPr>
          <p:cNvPr id="57" name="shape-616">
            <a:extLst xmlns:a="http://schemas.openxmlformats.org/drawingml/2006/main">
              <a:ext uri="{FF2B5EF4-FFF2-40B4-BE49-F238E27FC236}">
                <a16:creationId xmlns:a16="http://schemas.microsoft.com/office/drawing/2014/main" id="{47D1D7D7-7FD8-44E2-8C9F-0D36F195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786" y="4602307"/>
            <a:ext cx="2696114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8" name="shape-617">
            <a:extLst xmlns:a="http://schemas.openxmlformats.org/drawingml/2006/main">
              <a:ext uri="{FF2B5EF4-FFF2-40B4-BE49-F238E27FC236}">
                <a16:creationId xmlns:a16="http://schemas.microsoft.com/office/drawing/2014/main" id="{FEE50F50-CC1E-4382-AD41-F5635699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986" y="4668982"/>
            <a:ext cx="2543714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扫码签到</a:t>
            </a:r>
          </a:p>
        </p:txBody>
      </p:sp>
      <p:sp>
        <p:nvSpPr>
          <p:cNvPr id="59" name="shape-618">
            <a:extLst xmlns:a="http://schemas.openxmlformats.org/drawingml/2006/main">
              <a:ext uri="{FF2B5EF4-FFF2-40B4-BE49-F238E27FC236}">
                <a16:creationId xmlns:a16="http://schemas.microsoft.com/office/drawing/2014/main" id="{08262522-206B-48D9-B41F-ACB2EEFC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7330"/>
            <a:ext cx="1659147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0" name="shape-619">
            <a:extLst xmlns:a="http://schemas.openxmlformats.org/drawingml/2006/main">
              <a:ext uri="{FF2B5EF4-FFF2-40B4-BE49-F238E27FC236}">
                <a16:creationId xmlns:a16="http://schemas.microsoft.com/office/drawing/2014/main" id="{FC597CBF-E399-4148-ABE7-90098689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24005"/>
            <a:ext cx="1506747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POST</a:t>
            </a:r>
          </a:p>
        </p:txBody>
      </p:sp>
      <p:sp>
        <p:nvSpPr>
          <p:cNvPr id="61" name="shape-620">
            <a:extLst xmlns:a="http://schemas.openxmlformats.org/drawingml/2006/main">
              <a:ext uri="{FF2B5EF4-FFF2-40B4-BE49-F238E27FC236}">
                <a16:creationId xmlns:a16="http://schemas.microsoft.com/office/drawing/2014/main" id="{E43F3B47-786C-44C6-B794-BFE7BAA9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4957330"/>
            <a:ext cx="6636589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2" name="shape-621">
            <a:extLst xmlns:a="http://schemas.openxmlformats.org/drawingml/2006/main">
              <a:ext uri="{FF2B5EF4-FFF2-40B4-BE49-F238E27FC236}">
                <a16:creationId xmlns:a16="http://schemas.microsoft.com/office/drawing/2014/main" id="{4F0F8342-94E4-46EF-BDB4-FC87ADEB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5024005"/>
            <a:ext cx="6484189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/check-in-sessions/{id}/manual-check-ins</a:t>
            </a:r>
          </a:p>
        </p:txBody>
      </p:sp>
      <p:sp>
        <p:nvSpPr>
          <p:cNvPr id="63" name="shape-622">
            <a:extLst xmlns:a="http://schemas.openxmlformats.org/drawingml/2006/main">
              <a:ext uri="{FF2B5EF4-FFF2-40B4-BE49-F238E27FC236}">
                <a16:creationId xmlns:a16="http://schemas.microsoft.com/office/drawing/2014/main" id="{4F5EECCF-AA94-4989-A11B-4D9C4C9E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786" y="4957330"/>
            <a:ext cx="2696114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4" name="shape-623">
            <a:extLst xmlns:a="http://schemas.openxmlformats.org/drawingml/2006/main">
              <a:ext uri="{FF2B5EF4-FFF2-40B4-BE49-F238E27FC236}">
                <a16:creationId xmlns:a16="http://schemas.microsoft.com/office/drawing/2014/main" id="{4FBC4D4B-B83F-4699-8754-D19354F0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986" y="5024005"/>
            <a:ext cx="2543714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人工补签</a:t>
            </a:r>
          </a:p>
        </p:txBody>
      </p:sp>
      <p:sp>
        <p:nvSpPr>
          <p:cNvPr id="65" name="shape-624">
            <a:extLst xmlns:a="http://schemas.openxmlformats.org/drawingml/2006/main">
              <a:ext uri="{FF2B5EF4-FFF2-40B4-BE49-F238E27FC236}">
                <a16:creationId xmlns:a16="http://schemas.microsoft.com/office/drawing/2014/main" id="{11974905-4BC5-4C29-AD3F-FA3BDD9A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2352"/>
            <a:ext cx="1659147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6" name="shape-625">
            <a:extLst xmlns:a="http://schemas.openxmlformats.org/drawingml/2006/main">
              <a:ext uri="{FF2B5EF4-FFF2-40B4-BE49-F238E27FC236}">
                <a16:creationId xmlns:a16="http://schemas.microsoft.com/office/drawing/2014/main" id="{ADBD4B92-73CD-49B4-8AD1-D84392D4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79027"/>
            <a:ext cx="1506747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GET</a:t>
            </a:r>
          </a:p>
        </p:txBody>
      </p:sp>
      <p:sp>
        <p:nvSpPr>
          <p:cNvPr id="67" name="shape-626">
            <a:extLst xmlns:a="http://schemas.openxmlformats.org/drawingml/2006/main">
              <a:ext uri="{FF2B5EF4-FFF2-40B4-BE49-F238E27FC236}">
                <a16:creationId xmlns:a16="http://schemas.microsoft.com/office/drawing/2014/main" id="{FC631919-5F18-4708-815D-422A8F17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197" y="5312352"/>
            <a:ext cx="6636589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8" name="shape-627">
            <a:extLst xmlns:a="http://schemas.openxmlformats.org/drawingml/2006/main">
              <a:ext uri="{FF2B5EF4-FFF2-40B4-BE49-F238E27FC236}">
                <a16:creationId xmlns:a16="http://schemas.microsoft.com/office/drawing/2014/main" id="{20B4E571-8E3F-4C6B-A5F3-58B38236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5397" y="5379027"/>
            <a:ext cx="6484189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/users/me/notifications | /organizations/{id}/audit-logs</a:t>
            </a:r>
          </a:p>
        </p:txBody>
      </p:sp>
      <p:sp>
        <p:nvSpPr>
          <p:cNvPr id="69" name="shape-628">
            <a:extLst xmlns:a="http://schemas.openxmlformats.org/drawingml/2006/main">
              <a:ext uri="{FF2B5EF4-FFF2-40B4-BE49-F238E27FC236}">
                <a16:creationId xmlns:a16="http://schemas.microsoft.com/office/drawing/2014/main" id="{CB9F7830-9EF8-4B94-A53C-5B41D053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786" y="5312352"/>
            <a:ext cx="2696114" cy="3550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0" name="shape-629">
            <a:extLst xmlns:a="http://schemas.openxmlformats.org/drawingml/2006/main">
              <a:ext uri="{FF2B5EF4-FFF2-40B4-BE49-F238E27FC236}">
                <a16:creationId xmlns:a16="http://schemas.microsoft.com/office/drawing/2014/main" id="{DC77A3D1-418F-4BA5-8C55-F2AFC621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1986" y="5379027"/>
            <a:ext cx="2543714" cy="2216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通知/审计</a:t>
            </a:r>
          </a:p>
        </p:txBody>
      </p:sp>
    </p:spTree>
    <p:extLst>
      <p:ext uri="{BB962C8B-B14F-4D97-AF65-F5344CB8AC3E}">
        <p14:creationId xmlns:p14="http://schemas.microsoft.com/office/powerpoint/2010/main" val="171234223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shape-630">
            <a:extLst xmlns:a="http://schemas.openxmlformats.org/drawingml/2006/main">
              <a:ext uri="{FF2B5EF4-FFF2-40B4-BE49-F238E27FC236}">
                <a16:creationId xmlns:a16="http://schemas.microsoft.com/office/drawing/2014/main" id="{D05A85D5-5022-465B-8F6A-891BE9EE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API与安全</a:t>
            </a:r>
          </a:p>
        </p:txBody>
      </p:sp>
      <p:sp>
        <p:nvSpPr>
          <p:cNvPr id="2" name="shape-631">
            <a:extLst xmlns:a="http://schemas.openxmlformats.org/drawingml/2006/main">
              <a:ext uri="{FF2B5EF4-FFF2-40B4-BE49-F238E27FC236}">
                <a16:creationId xmlns:a16="http://schemas.microsoft.com/office/drawing/2014/main" id="{48DA577B-998A-470A-8D67-2C8ADC56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HTTP状态与RFC 7807错误让前后端说同一种语言</a:t>
            </a:r>
          </a:p>
        </p:txBody>
      </p:sp>
      <p:cxnSp>
        <p:nvCxnSpPr>
          <p:cNvPr id="62" name="shape-632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633">
            <a:extLst xmlns:a="http://schemas.openxmlformats.org/drawingml/2006/main">
              <a:ext uri="{FF2B5EF4-FFF2-40B4-BE49-F238E27FC236}">
                <a16:creationId xmlns:a16="http://schemas.microsoft.com/office/drawing/2014/main" id="{A49268B0-CB6B-4C6C-BF36-9C6C8280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5" name="shape-634">
            <a:extLst xmlns:a="http://schemas.openxmlformats.org/drawingml/2006/main">
              <a:ext uri="{FF2B5EF4-FFF2-40B4-BE49-F238E27FC236}">
                <a16:creationId xmlns:a16="http://schemas.microsoft.com/office/drawing/2014/main" id="{A651D075-C004-4F0F-BF23-CA88ABF4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95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错误体包含type、title、status、detail、instance、稳定code和requestId；生产环境不返回SQL或堆栈。</a:t>
            </a:r>
          </a:p>
        </p:txBody>
      </p:sp>
      <p:sp>
        <p:nvSpPr>
          <p:cNvPr id="6" name="shape-635">
            <a:extLst xmlns:a="http://schemas.openxmlformats.org/drawingml/2006/main">
              <a:ext uri="{FF2B5EF4-FFF2-40B4-BE49-F238E27FC236}">
                <a16:creationId xmlns:a16="http://schemas.microsoft.com/office/drawing/2014/main" id="{F837304D-0FE4-4512-BDFA-7CE9276F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6284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shape-636">
            <a:extLst xmlns:a="http://schemas.openxmlformats.org/drawingml/2006/main">
              <a:ext uri="{FF2B5EF4-FFF2-40B4-BE49-F238E27FC236}">
                <a16:creationId xmlns:a16="http://schemas.microsoft.com/office/drawing/2014/main" id="{C531FFC4-8692-4FC1-92A0-C36B91A3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71700"/>
            <a:ext cx="1476022" cy="2815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8" name="shape-637">
            <a:extLst xmlns:a="http://schemas.openxmlformats.org/drawingml/2006/main">
              <a:ext uri="{FF2B5EF4-FFF2-40B4-BE49-F238E27FC236}">
                <a16:creationId xmlns:a16="http://schemas.microsoft.com/office/drawing/2014/main" id="{7C54CA84-2449-495E-BADD-8F2D62F0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472" y="2095500"/>
            <a:ext cx="447816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shape-638">
            <a:extLst xmlns:a="http://schemas.openxmlformats.org/drawingml/2006/main">
              <a:ext uri="{FF2B5EF4-FFF2-40B4-BE49-F238E27FC236}">
                <a16:creationId xmlns:a16="http://schemas.microsoft.com/office/drawing/2014/main" id="{E01AE283-49AB-4B31-BFE8-3BD9B577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672" y="2171700"/>
            <a:ext cx="4325761" cy="2815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10" name="shape-639">
            <a:extLst xmlns:a="http://schemas.openxmlformats.org/drawingml/2006/main">
              <a:ext uri="{FF2B5EF4-FFF2-40B4-BE49-F238E27FC236}">
                <a16:creationId xmlns:a16="http://schemas.microsoft.com/office/drawing/2014/main" id="{03606850-FF5B-4D22-8E5C-AC1EACBF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33" y="2095500"/>
            <a:ext cx="4885267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shape-640">
            <a:extLst xmlns:a="http://schemas.openxmlformats.org/drawingml/2006/main">
              <a:ext uri="{FF2B5EF4-FFF2-40B4-BE49-F238E27FC236}">
                <a16:creationId xmlns:a16="http://schemas.microsoft.com/office/drawing/2014/main" id="{9DB28010-EFF7-427C-A5AB-58922E55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833" y="2171700"/>
            <a:ext cx="4732867" cy="2815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2" name="shape-641">
            <a:extLst xmlns:a="http://schemas.openxmlformats.org/drawingml/2006/main">
              <a:ext uri="{FF2B5EF4-FFF2-40B4-BE49-F238E27FC236}">
                <a16:creationId xmlns:a16="http://schemas.microsoft.com/office/drawing/2014/main" id="{35E05C78-8420-4C4E-AD28-8FBBEB93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29417"/>
            <a:ext cx="16284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hape-642">
            <a:extLst xmlns:a="http://schemas.openxmlformats.org/drawingml/2006/main">
              <a:ext uri="{FF2B5EF4-FFF2-40B4-BE49-F238E27FC236}">
                <a16:creationId xmlns:a16="http://schemas.microsoft.com/office/drawing/2014/main" id="{9001547F-2266-45F5-B1D2-7A895F36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96092"/>
            <a:ext cx="147602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400</a:t>
            </a:r>
          </a:p>
        </p:txBody>
      </p:sp>
      <p:sp>
        <p:nvSpPr>
          <p:cNvPr id="14" name="shape-643">
            <a:extLst xmlns:a="http://schemas.openxmlformats.org/drawingml/2006/main">
              <a:ext uri="{FF2B5EF4-FFF2-40B4-BE49-F238E27FC236}">
                <a16:creationId xmlns:a16="http://schemas.microsoft.com/office/drawing/2014/main" id="{374073DD-97F7-4160-A6F2-B1FE0EFF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472" y="2529417"/>
            <a:ext cx="447816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hape-644">
            <a:extLst xmlns:a="http://schemas.openxmlformats.org/drawingml/2006/main">
              <a:ext uri="{FF2B5EF4-FFF2-40B4-BE49-F238E27FC236}">
                <a16:creationId xmlns:a16="http://schemas.microsoft.com/office/drawing/2014/main" id="{941D9D39-9FA0-46E8-B920-6A36442A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672" y="2596092"/>
            <a:ext cx="4325761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格式或参数错误</a:t>
            </a:r>
          </a:p>
        </p:txBody>
      </p:sp>
      <p:sp>
        <p:nvSpPr>
          <p:cNvPr id="16" name="shape-645">
            <a:extLst xmlns:a="http://schemas.openxmlformats.org/drawingml/2006/main">
              <a:ext uri="{FF2B5EF4-FFF2-40B4-BE49-F238E27FC236}">
                <a16:creationId xmlns:a16="http://schemas.microsoft.com/office/drawing/2014/main" id="{C4861962-2C03-4A04-90B5-BC2DC2C0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33" y="2529417"/>
            <a:ext cx="4885267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hape-646">
            <a:extLst xmlns:a="http://schemas.openxmlformats.org/drawingml/2006/main">
              <a:ext uri="{FF2B5EF4-FFF2-40B4-BE49-F238E27FC236}">
                <a16:creationId xmlns:a16="http://schemas.microsoft.com/office/drawing/2014/main" id="{49203732-8A03-46D3-A4B5-93C0365B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833" y="2596092"/>
            <a:ext cx="4732867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字段校验失败</a:t>
            </a:r>
          </a:p>
        </p:txBody>
      </p:sp>
      <p:sp>
        <p:nvSpPr>
          <p:cNvPr id="18" name="shape-647">
            <a:extLst xmlns:a="http://schemas.openxmlformats.org/drawingml/2006/main">
              <a:ext uri="{FF2B5EF4-FFF2-40B4-BE49-F238E27FC236}">
                <a16:creationId xmlns:a16="http://schemas.microsoft.com/office/drawing/2014/main" id="{4AEE430B-6ACA-4114-9A15-7492227D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3333"/>
            <a:ext cx="16284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hape-648">
            <a:extLst xmlns:a="http://schemas.openxmlformats.org/drawingml/2006/main">
              <a:ext uri="{FF2B5EF4-FFF2-40B4-BE49-F238E27FC236}">
                <a16:creationId xmlns:a16="http://schemas.microsoft.com/office/drawing/2014/main" id="{0AD6F4F7-541A-4FAB-B183-3A8E721C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30008"/>
            <a:ext cx="147602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401</a:t>
            </a:r>
          </a:p>
        </p:txBody>
      </p:sp>
      <p:sp>
        <p:nvSpPr>
          <p:cNvPr id="20" name="shape-649">
            <a:extLst xmlns:a="http://schemas.openxmlformats.org/drawingml/2006/main">
              <a:ext uri="{FF2B5EF4-FFF2-40B4-BE49-F238E27FC236}">
                <a16:creationId xmlns:a16="http://schemas.microsoft.com/office/drawing/2014/main" id="{E3B09643-4BE0-4389-A046-B7A24819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472" y="2963333"/>
            <a:ext cx="447816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hape-650">
            <a:extLst xmlns:a="http://schemas.openxmlformats.org/drawingml/2006/main">
              <a:ext uri="{FF2B5EF4-FFF2-40B4-BE49-F238E27FC236}">
                <a16:creationId xmlns:a16="http://schemas.microsoft.com/office/drawing/2014/main" id="{EAC05336-1F02-479E-835A-7D3346DE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672" y="3030008"/>
            <a:ext cx="4325761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未登录或令牌无效</a:t>
            </a:r>
          </a:p>
        </p:txBody>
      </p:sp>
      <p:sp>
        <p:nvSpPr>
          <p:cNvPr id="22" name="shape-651">
            <a:extLst xmlns:a="http://schemas.openxmlformats.org/drawingml/2006/main">
              <a:ext uri="{FF2B5EF4-FFF2-40B4-BE49-F238E27FC236}">
                <a16:creationId xmlns:a16="http://schemas.microsoft.com/office/drawing/2014/main" id="{5EDB836B-2199-4484-972A-7AA46AF0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33" y="2963333"/>
            <a:ext cx="4885267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hape-652">
            <a:extLst xmlns:a="http://schemas.openxmlformats.org/drawingml/2006/main">
              <a:ext uri="{FF2B5EF4-FFF2-40B4-BE49-F238E27FC236}">
                <a16:creationId xmlns:a16="http://schemas.microsoft.com/office/drawing/2014/main" id="{2721756C-C608-4487-8DDF-70146229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833" y="3030008"/>
            <a:ext cx="4732867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过期、篡改JWT</a:t>
            </a:r>
          </a:p>
        </p:txBody>
      </p:sp>
      <p:sp>
        <p:nvSpPr>
          <p:cNvPr id="24" name="shape-653">
            <a:extLst xmlns:a="http://schemas.openxmlformats.org/drawingml/2006/main">
              <a:ext uri="{FF2B5EF4-FFF2-40B4-BE49-F238E27FC236}">
                <a16:creationId xmlns:a16="http://schemas.microsoft.com/office/drawing/2014/main" id="{E845E5DD-2E91-4962-9671-CA0FCF7B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7250"/>
            <a:ext cx="16284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hape-654">
            <a:extLst xmlns:a="http://schemas.openxmlformats.org/drawingml/2006/main">
              <a:ext uri="{FF2B5EF4-FFF2-40B4-BE49-F238E27FC236}">
                <a16:creationId xmlns:a16="http://schemas.microsoft.com/office/drawing/2014/main" id="{FBEE849E-3978-41C6-B4EA-D8B3EC5F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3925"/>
            <a:ext cx="147602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403</a:t>
            </a:r>
          </a:p>
        </p:txBody>
      </p:sp>
      <p:sp>
        <p:nvSpPr>
          <p:cNvPr id="26" name="shape-655">
            <a:extLst xmlns:a="http://schemas.openxmlformats.org/drawingml/2006/main">
              <a:ext uri="{FF2B5EF4-FFF2-40B4-BE49-F238E27FC236}">
                <a16:creationId xmlns:a16="http://schemas.microsoft.com/office/drawing/2014/main" id="{792C8700-F11D-4E13-A25B-2D38836F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472" y="3397250"/>
            <a:ext cx="447816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hape-656">
            <a:extLst xmlns:a="http://schemas.openxmlformats.org/drawingml/2006/main">
              <a:ext uri="{FF2B5EF4-FFF2-40B4-BE49-F238E27FC236}">
                <a16:creationId xmlns:a16="http://schemas.microsoft.com/office/drawing/2014/main" id="{13B678CC-ADB4-4FFA-B99B-F50EF4DF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672" y="3463925"/>
            <a:ext cx="4325761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角色无权操作</a:t>
            </a:r>
          </a:p>
        </p:txBody>
      </p:sp>
      <p:sp>
        <p:nvSpPr>
          <p:cNvPr id="28" name="shape-657">
            <a:extLst xmlns:a="http://schemas.openxmlformats.org/drawingml/2006/main">
              <a:ext uri="{FF2B5EF4-FFF2-40B4-BE49-F238E27FC236}">
                <a16:creationId xmlns:a16="http://schemas.microsoft.com/office/drawing/2014/main" id="{0287AA24-B61B-4792-A641-FDAD1071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33" y="3397250"/>
            <a:ext cx="4885267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shape-658">
            <a:extLst xmlns:a="http://schemas.openxmlformats.org/drawingml/2006/main">
              <a:ext uri="{FF2B5EF4-FFF2-40B4-BE49-F238E27FC236}">
                <a16:creationId xmlns:a16="http://schemas.microsoft.com/office/drawing/2014/main" id="{B14EF4F1-B6A3-4762-B032-68DA5B2F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833" y="3463925"/>
            <a:ext cx="4732867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普通成员发布活动</a:t>
            </a:r>
          </a:p>
        </p:txBody>
      </p:sp>
      <p:sp>
        <p:nvSpPr>
          <p:cNvPr id="30" name="shape-659">
            <a:extLst xmlns:a="http://schemas.openxmlformats.org/drawingml/2006/main">
              <a:ext uri="{FF2B5EF4-FFF2-40B4-BE49-F238E27FC236}">
                <a16:creationId xmlns:a16="http://schemas.microsoft.com/office/drawing/2014/main" id="{0132B943-D899-4AF1-A297-7DA36E84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31167"/>
            <a:ext cx="16284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shape-660">
            <a:extLst xmlns:a="http://schemas.openxmlformats.org/drawingml/2006/main">
              <a:ext uri="{FF2B5EF4-FFF2-40B4-BE49-F238E27FC236}">
                <a16:creationId xmlns:a16="http://schemas.microsoft.com/office/drawing/2014/main" id="{58EC0D2D-531D-4123-88C5-37B4A908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97842"/>
            <a:ext cx="147602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404</a:t>
            </a:r>
          </a:p>
        </p:txBody>
      </p:sp>
      <p:sp>
        <p:nvSpPr>
          <p:cNvPr id="32" name="shape-661">
            <a:extLst xmlns:a="http://schemas.openxmlformats.org/drawingml/2006/main">
              <a:ext uri="{FF2B5EF4-FFF2-40B4-BE49-F238E27FC236}">
                <a16:creationId xmlns:a16="http://schemas.microsoft.com/office/drawing/2014/main" id="{5FFA16D0-84CA-4BF9-BCA3-2DFF63D0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472" y="3831167"/>
            <a:ext cx="447816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shape-662">
            <a:extLst xmlns:a="http://schemas.openxmlformats.org/drawingml/2006/main">
              <a:ext uri="{FF2B5EF4-FFF2-40B4-BE49-F238E27FC236}">
                <a16:creationId xmlns:a16="http://schemas.microsoft.com/office/drawing/2014/main" id="{733467B4-EFAB-43DB-9E2C-8AF921BA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672" y="3897842"/>
            <a:ext cx="4325761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不存在或跨组织不可见</a:t>
            </a:r>
          </a:p>
        </p:txBody>
      </p:sp>
      <p:sp>
        <p:nvSpPr>
          <p:cNvPr id="34" name="shape-663">
            <a:extLst xmlns:a="http://schemas.openxmlformats.org/drawingml/2006/main">
              <a:ext uri="{FF2B5EF4-FFF2-40B4-BE49-F238E27FC236}">
                <a16:creationId xmlns:a16="http://schemas.microsoft.com/office/drawing/2014/main" id="{49FEDE19-658B-4ABE-87BB-C5B7A185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33" y="3831167"/>
            <a:ext cx="4885267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shape-664">
            <a:extLst xmlns:a="http://schemas.openxmlformats.org/drawingml/2006/main">
              <a:ext uri="{FF2B5EF4-FFF2-40B4-BE49-F238E27FC236}">
                <a16:creationId xmlns:a16="http://schemas.microsoft.com/office/drawing/2014/main" id="{AED9431F-3426-4185-8E50-913C1C33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833" y="3897842"/>
            <a:ext cx="4732867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防止泄露资源存在</a:t>
            </a:r>
          </a:p>
        </p:txBody>
      </p:sp>
      <p:sp>
        <p:nvSpPr>
          <p:cNvPr id="36" name="shape-665">
            <a:extLst xmlns:a="http://schemas.openxmlformats.org/drawingml/2006/main">
              <a:ext uri="{FF2B5EF4-FFF2-40B4-BE49-F238E27FC236}">
                <a16:creationId xmlns:a16="http://schemas.microsoft.com/office/drawing/2014/main" id="{EAE17466-985B-4ED8-92A0-BF637880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5083"/>
            <a:ext cx="16284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shape-666">
            <a:extLst xmlns:a="http://schemas.openxmlformats.org/drawingml/2006/main">
              <a:ext uri="{FF2B5EF4-FFF2-40B4-BE49-F238E27FC236}">
                <a16:creationId xmlns:a16="http://schemas.microsoft.com/office/drawing/2014/main" id="{DFCBD4AD-E7E7-479A-A607-36D793F6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31758"/>
            <a:ext cx="147602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409</a:t>
            </a:r>
          </a:p>
        </p:txBody>
      </p:sp>
      <p:sp>
        <p:nvSpPr>
          <p:cNvPr id="38" name="shape-667">
            <a:extLst xmlns:a="http://schemas.openxmlformats.org/drawingml/2006/main">
              <a:ext uri="{FF2B5EF4-FFF2-40B4-BE49-F238E27FC236}">
                <a16:creationId xmlns:a16="http://schemas.microsoft.com/office/drawing/2014/main" id="{30E52FA8-0636-4116-8F9D-D78BB551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472" y="4265083"/>
            <a:ext cx="447816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shape-668">
            <a:extLst xmlns:a="http://schemas.openxmlformats.org/drawingml/2006/main">
              <a:ext uri="{FF2B5EF4-FFF2-40B4-BE49-F238E27FC236}">
                <a16:creationId xmlns:a16="http://schemas.microsoft.com/office/drawing/2014/main" id="{F1410184-68D7-4047-BDA7-FE74E09F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672" y="4331758"/>
            <a:ext cx="4325761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当前状态冲突</a:t>
            </a:r>
          </a:p>
        </p:txBody>
      </p:sp>
      <p:sp>
        <p:nvSpPr>
          <p:cNvPr id="40" name="shape-669">
            <a:extLst xmlns:a="http://schemas.openxmlformats.org/drawingml/2006/main">
              <a:ext uri="{FF2B5EF4-FFF2-40B4-BE49-F238E27FC236}">
                <a16:creationId xmlns:a16="http://schemas.microsoft.com/office/drawing/2014/main" id="{58964BCC-A125-4289-99E1-C3DBA9BE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33" y="4265083"/>
            <a:ext cx="4885267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shape-670">
            <a:extLst xmlns:a="http://schemas.openxmlformats.org/drawingml/2006/main">
              <a:ext uri="{FF2B5EF4-FFF2-40B4-BE49-F238E27FC236}">
                <a16:creationId xmlns:a16="http://schemas.microsoft.com/office/drawing/2014/main" id="{FD1F03C6-9A0C-4707-BFAE-6DE64EAB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833" y="4331758"/>
            <a:ext cx="4732867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重复报名、邀请过期</a:t>
            </a:r>
          </a:p>
        </p:txBody>
      </p:sp>
      <p:sp>
        <p:nvSpPr>
          <p:cNvPr id="42" name="shape-671">
            <a:extLst xmlns:a="http://schemas.openxmlformats.org/drawingml/2006/main">
              <a:ext uri="{FF2B5EF4-FFF2-40B4-BE49-F238E27FC236}">
                <a16:creationId xmlns:a16="http://schemas.microsoft.com/office/drawing/2014/main" id="{F1392A0E-9ECD-42BB-80A0-071C8697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9000"/>
            <a:ext cx="16284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shape-672">
            <a:extLst xmlns:a="http://schemas.openxmlformats.org/drawingml/2006/main">
              <a:ext uri="{FF2B5EF4-FFF2-40B4-BE49-F238E27FC236}">
                <a16:creationId xmlns:a16="http://schemas.microsoft.com/office/drawing/2014/main" id="{1605A7F3-DD3F-4EF2-B512-7C748B87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5675"/>
            <a:ext cx="147602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422</a:t>
            </a:r>
          </a:p>
        </p:txBody>
      </p:sp>
      <p:sp>
        <p:nvSpPr>
          <p:cNvPr id="44" name="shape-673">
            <a:extLst xmlns:a="http://schemas.openxmlformats.org/drawingml/2006/main">
              <a:ext uri="{FF2B5EF4-FFF2-40B4-BE49-F238E27FC236}">
                <a16:creationId xmlns:a16="http://schemas.microsoft.com/office/drawing/2014/main" id="{64A70498-1DFA-4CDC-A1C8-BC7C4A7A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472" y="4699000"/>
            <a:ext cx="447816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shape-674">
            <a:extLst xmlns:a="http://schemas.openxmlformats.org/drawingml/2006/main">
              <a:ext uri="{FF2B5EF4-FFF2-40B4-BE49-F238E27FC236}">
                <a16:creationId xmlns:a16="http://schemas.microsoft.com/office/drawing/2014/main" id="{A59FE73B-A070-43AD-A5CB-D7172003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672" y="4765675"/>
            <a:ext cx="4325761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语义本身不成立</a:t>
            </a:r>
          </a:p>
        </p:txBody>
      </p:sp>
      <p:sp>
        <p:nvSpPr>
          <p:cNvPr id="46" name="shape-675">
            <a:extLst xmlns:a="http://schemas.openxmlformats.org/drawingml/2006/main">
              <a:ext uri="{FF2B5EF4-FFF2-40B4-BE49-F238E27FC236}">
                <a16:creationId xmlns:a16="http://schemas.microsoft.com/office/drawing/2014/main" id="{D3ABDD0B-E0BD-414B-8F4D-4F776FFD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33" y="4699000"/>
            <a:ext cx="4885267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shape-676">
            <a:extLst xmlns:a="http://schemas.openxmlformats.org/drawingml/2006/main">
              <a:ext uri="{FF2B5EF4-FFF2-40B4-BE49-F238E27FC236}">
                <a16:creationId xmlns:a16="http://schemas.microsoft.com/office/drawing/2014/main" id="{B003AAF8-9ACC-4DA1-B51C-B2BE9E2F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833" y="4765675"/>
            <a:ext cx="4732867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时间组合不合法</a:t>
            </a:r>
          </a:p>
        </p:txBody>
      </p:sp>
      <p:sp>
        <p:nvSpPr>
          <p:cNvPr id="48" name="shape-677">
            <a:extLst xmlns:a="http://schemas.openxmlformats.org/drawingml/2006/main">
              <a:ext uri="{FF2B5EF4-FFF2-40B4-BE49-F238E27FC236}">
                <a16:creationId xmlns:a16="http://schemas.microsoft.com/office/drawing/2014/main" id="{BC4FBAA9-A628-4AD8-A511-FE5BD3F3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32917"/>
            <a:ext cx="16284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shape-678">
            <a:extLst xmlns:a="http://schemas.openxmlformats.org/drawingml/2006/main">
              <a:ext uri="{FF2B5EF4-FFF2-40B4-BE49-F238E27FC236}">
                <a16:creationId xmlns:a16="http://schemas.microsoft.com/office/drawing/2014/main" id="{6228FAFD-488B-4093-8ADD-4E8E36FF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9592"/>
            <a:ext cx="147602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429</a:t>
            </a:r>
          </a:p>
        </p:txBody>
      </p:sp>
      <p:sp>
        <p:nvSpPr>
          <p:cNvPr id="50" name="shape-679">
            <a:extLst xmlns:a="http://schemas.openxmlformats.org/drawingml/2006/main">
              <a:ext uri="{FF2B5EF4-FFF2-40B4-BE49-F238E27FC236}">
                <a16:creationId xmlns:a16="http://schemas.microsoft.com/office/drawing/2014/main" id="{404A2F55-23C0-49CF-B228-071BC0A7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472" y="5132917"/>
            <a:ext cx="447816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shape-680">
            <a:extLst xmlns:a="http://schemas.openxmlformats.org/drawingml/2006/main">
              <a:ext uri="{FF2B5EF4-FFF2-40B4-BE49-F238E27FC236}">
                <a16:creationId xmlns:a16="http://schemas.microsoft.com/office/drawing/2014/main" id="{2FDE3697-C8B4-4704-84FB-5C3BA079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672" y="5199592"/>
            <a:ext cx="4325761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请求过于频繁</a:t>
            </a:r>
          </a:p>
        </p:txBody>
      </p:sp>
      <p:sp>
        <p:nvSpPr>
          <p:cNvPr id="52" name="shape-681">
            <a:extLst xmlns:a="http://schemas.openxmlformats.org/drawingml/2006/main">
              <a:ext uri="{FF2B5EF4-FFF2-40B4-BE49-F238E27FC236}">
                <a16:creationId xmlns:a16="http://schemas.microsoft.com/office/drawing/2014/main" id="{1518E06B-0C61-40B9-B600-FAD4C40E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33" y="5132917"/>
            <a:ext cx="4885267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shape-682">
            <a:extLst xmlns:a="http://schemas.openxmlformats.org/drawingml/2006/main">
              <a:ext uri="{FF2B5EF4-FFF2-40B4-BE49-F238E27FC236}">
                <a16:creationId xmlns:a16="http://schemas.microsoft.com/office/drawing/2014/main" id="{568F0CD8-DAC4-4752-B025-84FB1344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833" y="5199592"/>
            <a:ext cx="4732867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登录或报名限流</a:t>
            </a:r>
          </a:p>
        </p:txBody>
      </p:sp>
      <p:sp>
        <p:nvSpPr>
          <p:cNvPr id="54" name="shape-683">
            <a:extLst xmlns:a="http://schemas.openxmlformats.org/drawingml/2006/main">
              <a:ext uri="{FF2B5EF4-FFF2-40B4-BE49-F238E27FC236}">
                <a16:creationId xmlns:a16="http://schemas.microsoft.com/office/drawing/2014/main" id="{7C7E91A7-E3BE-416A-9575-07694857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6833"/>
            <a:ext cx="16284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shape-684">
            <a:extLst xmlns:a="http://schemas.openxmlformats.org/drawingml/2006/main">
              <a:ext uri="{FF2B5EF4-FFF2-40B4-BE49-F238E27FC236}">
                <a16:creationId xmlns:a16="http://schemas.microsoft.com/office/drawing/2014/main" id="{0C5C496C-6923-4693-96D4-95A6D315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33508"/>
            <a:ext cx="147602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503</a:t>
            </a:r>
          </a:p>
        </p:txBody>
      </p:sp>
      <p:sp>
        <p:nvSpPr>
          <p:cNvPr id="56" name="shape-685">
            <a:extLst xmlns:a="http://schemas.openxmlformats.org/drawingml/2006/main">
              <a:ext uri="{FF2B5EF4-FFF2-40B4-BE49-F238E27FC236}">
                <a16:creationId xmlns:a16="http://schemas.microsoft.com/office/drawing/2014/main" id="{6C1720B5-7888-433C-B7D7-732CDAE97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472" y="5566833"/>
            <a:ext cx="447816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shape-686">
            <a:extLst xmlns:a="http://schemas.openxmlformats.org/drawingml/2006/main">
              <a:ext uri="{FF2B5EF4-FFF2-40B4-BE49-F238E27FC236}">
                <a16:creationId xmlns:a16="http://schemas.microsoft.com/office/drawing/2014/main" id="{A4E4AE47-6E66-40C8-BDB2-1131BBB6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672" y="5633508"/>
            <a:ext cx="4325761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非核心依赖暂不可用</a:t>
            </a:r>
          </a:p>
        </p:txBody>
      </p:sp>
      <p:sp>
        <p:nvSpPr>
          <p:cNvPr id="58" name="shape-687">
            <a:extLst xmlns:a="http://schemas.openxmlformats.org/drawingml/2006/main">
              <a:ext uri="{FF2B5EF4-FFF2-40B4-BE49-F238E27FC236}">
                <a16:creationId xmlns:a16="http://schemas.microsoft.com/office/drawing/2014/main" id="{7352BB0D-9467-4487-8245-22D5A7EE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633" y="5566833"/>
            <a:ext cx="4885267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shape-688">
            <a:extLst xmlns:a="http://schemas.openxmlformats.org/drawingml/2006/main">
              <a:ext uri="{FF2B5EF4-FFF2-40B4-BE49-F238E27FC236}">
                <a16:creationId xmlns:a16="http://schemas.microsoft.com/office/drawing/2014/main" id="{FB103F89-3320-4759-BE43-78C23006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2833" y="5633508"/>
            <a:ext cx="4732867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动态签到服务降级</a:t>
            </a:r>
          </a:p>
        </p:txBody>
      </p:sp>
    </p:spTree>
    <p:extLst>
      <p:ext uri="{BB962C8B-B14F-4D97-AF65-F5344CB8AC3E}">
        <p14:creationId xmlns:p14="http://schemas.microsoft.com/office/powerpoint/2010/main" val="138206234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hape-689">
            <a:extLst xmlns:a="http://schemas.openxmlformats.org/drawingml/2006/main">
              <a:ext uri="{FF2B5EF4-FFF2-40B4-BE49-F238E27FC236}">
                <a16:creationId xmlns:a16="http://schemas.microsoft.com/office/drawing/2014/main" id="{DE4B4FCD-F0A2-4636-B777-0C3235D3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API与安全</a:t>
            </a:r>
          </a:p>
        </p:txBody>
      </p:sp>
      <p:sp>
        <p:nvSpPr>
          <p:cNvPr id="2" name="shape-690">
            <a:extLst xmlns:a="http://schemas.openxmlformats.org/drawingml/2006/main">
              <a:ext uri="{FF2B5EF4-FFF2-40B4-BE49-F238E27FC236}">
                <a16:creationId xmlns:a16="http://schemas.microsoft.com/office/drawing/2014/main" id="{5AD0D15D-6BA6-433E-9055-3429DB41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短期JWT与可撤销刷新令牌兼顾体验和安全</a:t>
            </a:r>
          </a:p>
        </p:txBody>
      </p:sp>
      <p:cxnSp>
        <p:nvCxnSpPr>
          <p:cNvPr id="24" name="shape-691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692">
            <a:extLst xmlns:a="http://schemas.openxmlformats.org/drawingml/2006/main">
              <a:ext uri="{FF2B5EF4-FFF2-40B4-BE49-F238E27FC236}">
                <a16:creationId xmlns:a16="http://schemas.microsoft.com/office/drawing/2014/main" id="{5407FA6A-DA80-4673-8852-BA6B3157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cxnSp>
        <p:nvCxnSpPr>
          <p:cNvPr id="26" name="shape-693"/>
          <p:cNvCxnSpPr/>
          <p:nvPr/>
        </p:nvCxnSpPr>
        <p:spPr>
          <a:xfrm xmlns:a="http://schemas.openxmlformats.org/drawingml/2006/main">
            <a:off x="514350" y="3571875"/>
            <a:ext cx="111633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shape-694">
            <a:extLst xmlns:a="http://schemas.openxmlformats.org/drawingml/2006/main">
              <a:ext uri="{FF2B5EF4-FFF2-40B4-BE49-F238E27FC236}">
                <a16:creationId xmlns:a16="http://schemas.microsoft.com/office/drawing/2014/main" id="{8C287B21-F90E-4D52-B8AE-7AB71A19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695">
            <a:extLst xmlns:a="http://schemas.openxmlformats.org/drawingml/2006/main">
              <a:ext uri="{FF2B5EF4-FFF2-40B4-BE49-F238E27FC236}">
                <a16:creationId xmlns:a16="http://schemas.microsoft.com/office/drawing/2014/main" id="{FAF044C0-5DA6-4374-87ED-3A429C7B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登录</a:t>
            </a:r>
          </a:p>
        </p:txBody>
      </p:sp>
      <p:sp>
        <p:nvSpPr>
          <p:cNvPr id="8" name="shape-696">
            <a:extLst xmlns:a="http://schemas.openxmlformats.org/drawingml/2006/main">
              <a:ext uri="{FF2B5EF4-FFF2-40B4-BE49-F238E27FC236}">
                <a16:creationId xmlns:a16="http://schemas.microsoft.com/office/drawing/2014/main" id="{1ECF34CD-55BD-40BB-86AE-DC2A5A58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验证BCrypt密码</a:t>
            </a:r>
          </a:p>
        </p:txBody>
      </p:sp>
      <p:sp>
        <p:nvSpPr>
          <p:cNvPr id="9" name="shape-697">
            <a:extLst xmlns:a="http://schemas.openxmlformats.org/drawingml/2006/main">
              <a:ext uri="{FF2B5EF4-FFF2-40B4-BE49-F238E27FC236}">
                <a16:creationId xmlns:a16="http://schemas.microsoft.com/office/drawing/2014/main" id="{9F1223BF-D016-4862-B07D-3EDB6F54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698">
            <a:extLst xmlns:a="http://schemas.openxmlformats.org/drawingml/2006/main">
              <a:ext uri="{FF2B5EF4-FFF2-40B4-BE49-F238E27FC236}">
                <a16:creationId xmlns:a16="http://schemas.microsoft.com/office/drawing/2014/main" id="{FC887154-6145-440C-B2AE-476BDB37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Access JWT</a:t>
            </a:r>
          </a:p>
        </p:txBody>
      </p:sp>
      <p:sp>
        <p:nvSpPr>
          <p:cNvPr id="11" name="shape-699">
            <a:extLst xmlns:a="http://schemas.openxmlformats.org/drawingml/2006/main">
              <a:ext uri="{FF2B5EF4-FFF2-40B4-BE49-F238E27FC236}">
                <a16:creationId xmlns:a16="http://schemas.microsoft.com/office/drawing/2014/main" id="{473A7943-A55F-49B3-AEFB-30362278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约30分钟</a:t>
            </a:r>
          </a:p>
        </p:txBody>
      </p:sp>
      <p:sp>
        <p:nvSpPr>
          <p:cNvPr id="12" name="shape-700">
            <a:extLst xmlns:a="http://schemas.openxmlformats.org/drawingml/2006/main">
              <a:ext uri="{FF2B5EF4-FFF2-40B4-BE49-F238E27FC236}">
                <a16:creationId xmlns:a16="http://schemas.microsoft.com/office/drawing/2014/main" id="{847583E1-5839-4AFD-A869-84DFAE96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-701">
            <a:extLst xmlns:a="http://schemas.openxmlformats.org/drawingml/2006/main">
              <a:ext uri="{FF2B5EF4-FFF2-40B4-BE49-F238E27FC236}">
                <a16:creationId xmlns:a16="http://schemas.microsoft.com/office/drawing/2014/main" id="{29938079-0508-41C7-BBAF-4103CF33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Bearer调用</a:t>
            </a:r>
          </a:p>
        </p:txBody>
      </p:sp>
      <p:sp>
        <p:nvSpPr>
          <p:cNvPr id="14" name="shape-702">
            <a:extLst xmlns:a="http://schemas.openxmlformats.org/drawingml/2006/main">
              <a:ext uri="{FF2B5EF4-FFF2-40B4-BE49-F238E27FC236}">
                <a16:creationId xmlns:a16="http://schemas.microsoft.com/office/drawing/2014/main" id="{7BF5D916-6A6B-4843-9ACF-C27314D4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放在内存</a:t>
            </a:r>
          </a:p>
        </p:txBody>
      </p:sp>
      <p:sp>
        <p:nvSpPr>
          <p:cNvPr id="15" name="shape-703">
            <a:extLst xmlns:a="http://schemas.openxmlformats.org/drawingml/2006/main">
              <a:ext uri="{FF2B5EF4-FFF2-40B4-BE49-F238E27FC236}">
                <a16:creationId xmlns:a16="http://schemas.microsoft.com/office/drawing/2014/main" id="{31FEF2CE-8108-4465-919E-EB734E14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-704">
            <a:extLst xmlns:a="http://schemas.openxmlformats.org/drawingml/2006/main">
              <a:ext uri="{FF2B5EF4-FFF2-40B4-BE49-F238E27FC236}">
                <a16:creationId xmlns:a16="http://schemas.microsoft.com/office/drawing/2014/main" id="{1674F7DD-E534-433F-9C24-99BCE6AB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6931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Refresh Cookie</a:t>
            </a:r>
          </a:p>
        </p:txBody>
      </p:sp>
      <p:sp>
        <p:nvSpPr>
          <p:cNvPr id="17" name="shape-705">
            <a:extLst xmlns:a="http://schemas.openxmlformats.org/drawingml/2006/main">
              <a:ext uri="{FF2B5EF4-FFF2-40B4-BE49-F238E27FC236}">
                <a16:creationId xmlns:a16="http://schemas.microsoft.com/office/drawing/2014/main" id="{618DEC8A-1199-495D-B6AF-B425BF45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HttpOnly/Secure</a:t>
            </a:r>
          </a:p>
        </p:txBody>
      </p:sp>
      <p:sp>
        <p:nvSpPr>
          <p:cNvPr id="18" name="shape-706">
            <a:extLst xmlns:a="http://schemas.openxmlformats.org/drawingml/2006/main">
              <a:ext uri="{FF2B5EF4-FFF2-40B4-BE49-F238E27FC236}">
                <a16:creationId xmlns:a16="http://schemas.microsoft.com/office/drawing/2014/main" id="{C4B83487-2A8E-476E-9DFE-7E4F63A2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-707">
            <a:extLst xmlns:a="http://schemas.openxmlformats.org/drawingml/2006/main">
              <a:ext uri="{FF2B5EF4-FFF2-40B4-BE49-F238E27FC236}">
                <a16:creationId xmlns:a16="http://schemas.microsoft.com/office/drawing/2014/main" id="{53310687-6D0E-4C67-B875-E1AAEC37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轮换与撤销</a:t>
            </a:r>
          </a:p>
        </p:txBody>
      </p:sp>
      <p:sp>
        <p:nvSpPr>
          <p:cNvPr id="20" name="shape-708">
            <a:extLst xmlns:a="http://schemas.openxmlformats.org/drawingml/2006/main">
              <a:ext uri="{FF2B5EF4-FFF2-40B4-BE49-F238E27FC236}">
                <a16:creationId xmlns:a16="http://schemas.microsoft.com/office/drawing/2014/main" id="{0ECA8D1E-0175-40C9-A2F9-8184A9F1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退出立即失效</a:t>
            </a:r>
          </a:p>
        </p:txBody>
      </p:sp>
      <p:sp>
        <p:nvSpPr>
          <p:cNvPr id="21" name="shape-709">
            <a:extLst xmlns:a="http://schemas.openxmlformats.org/drawingml/2006/main">
              <a:ext uri="{FF2B5EF4-FFF2-40B4-BE49-F238E27FC236}">
                <a16:creationId xmlns:a16="http://schemas.microsoft.com/office/drawing/2014/main" id="{23259D90-17C3-4C03-B296-D9EB9F60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服务端只保存刷新令牌摘要；同站点部署配合SameSite，长期刷新令牌不放localStorage。登录失败统一提示。</a:t>
            </a:r>
          </a:p>
        </p:txBody>
      </p:sp>
    </p:spTree>
    <p:extLst>
      <p:ext uri="{BB962C8B-B14F-4D97-AF65-F5344CB8AC3E}">
        <p14:creationId xmlns:p14="http://schemas.microsoft.com/office/powerpoint/2010/main" val="172305654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-710">
            <a:extLst xmlns:a="http://schemas.openxmlformats.org/drawingml/2006/main">
              <a:ext uri="{FF2B5EF4-FFF2-40B4-BE49-F238E27FC236}">
                <a16:creationId xmlns:a16="http://schemas.microsoft.com/office/drawing/2014/main" id="{CAA86D4A-AB17-4313-B140-E635D6D1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API与安全</a:t>
            </a:r>
          </a:p>
        </p:txBody>
      </p:sp>
      <p:sp>
        <p:nvSpPr>
          <p:cNvPr id="2" name="shape-711">
            <a:extLst xmlns:a="http://schemas.openxmlformats.org/drawingml/2006/main">
              <a:ext uri="{FF2B5EF4-FFF2-40B4-BE49-F238E27FC236}">
                <a16:creationId xmlns:a16="http://schemas.microsoft.com/office/drawing/2014/main" id="{2C8366F6-270C-4450-9C60-7DC39793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多组织权限必须落在每一次后端查询中</a:t>
            </a:r>
          </a:p>
        </p:txBody>
      </p:sp>
      <p:cxnSp>
        <p:nvCxnSpPr>
          <p:cNvPr id="13" name="shape-712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713">
            <a:extLst xmlns:a="http://schemas.openxmlformats.org/drawingml/2006/main">
              <a:ext uri="{FF2B5EF4-FFF2-40B4-BE49-F238E27FC236}">
                <a16:creationId xmlns:a16="http://schemas.microsoft.com/office/drawing/2014/main" id="{5E59371B-5F2B-4507-A470-A35AE638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5" name="shape-714">
            <a:extLst xmlns:a="http://schemas.openxmlformats.org/drawingml/2006/main">
              <a:ext uri="{FF2B5EF4-FFF2-40B4-BE49-F238E27FC236}">
                <a16:creationId xmlns:a16="http://schemas.microsoft.com/office/drawing/2014/main" id="{BF1E7194-5576-4774-BF54-570EEC41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授权检查</a:t>
            </a:r>
          </a:p>
        </p:txBody>
      </p:sp>
      <p:sp>
        <p:nvSpPr>
          <p:cNvPr id="6" name="shape-715">
            <a:extLst xmlns:a="http://schemas.openxmlformats.org/drawingml/2006/main">
              <a:ext uri="{FF2B5EF4-FFF2-40B4-BE49-F238E27FC236}">
                <a16:creationId xmlns:a16="http://schemas.microsoft.com/office/drawing/2014/main" id="{5D5655B6-1F8E-4099-B53C-5B2AA7ED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从令牌确定当前用户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验证组织成员关系与角色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验证目标资源属于该组织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资源查询同时带id和organization_id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跨组织访问统一返回404</a:t>
            </a:r>
          </a:p>
        </p:txBody>
      </p:sp>
      <p:sp>
        <p:nvSpPr>
          <p:cNvPr id="7" name="shape-716">
            <a:extLst xmlns:a="http://schemas.openxmlformats.org/drawingml/2006/main">
              <a:ext uri="{FF2B5EF4-FFF2-40B4-BE49-F238E27FC236}">
                <a16:creationId xmlns:a16="http://schemas.microsoft.com/office/drawing/2014/main" id="{EBDBF798-2D66-4E7F-AE21-44541886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4288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717">
            <a:extLst xmlns:a="http://schemas.openxmlformats.org/drawingml/2006/main">
              <a:ext uri="{FF2B5EF4-FFF2-40B4-BE49-F238E27FC236}">
                <a16:creationId xmlns:a16="http://schemas.microsoft.com/office/drawing/2014/main" id="{1D5AEA28-43C9-4913-91BA-317C56B2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输入与运行安全</a:t>
            </a:r>
          </a:p>
        </p:txBody>
      </p:sp>
      <p:sp>
        <p:nvSpPr>
          <p:cNvPr id="9" name="shape-718">
            <a:extLst xmlns:a="http://schemas.openxmlformats.org/drawingml/2006/main">
              <a:ext uri="{FF2B5EF4-FFF2-40B4-BE49-F238E27FC236}">
                <a16:creationId xmlns:a16="http://schemas.microsoft.com/office/drawing/2014/main" id="{2768B939-2AA2-4792-AD7C-FD354BD5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Bean Validation和字段长度限制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MyBatis参数绑定，禁止用户输入进入${}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排序字段白名单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CORS白名单与HTTPS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安全随机邀请码、令牌、签到码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日志脱敏、密钥不进Git、关键操作审计</a:t>
            </a:r>
          </a:p>
        </p:txBody>
      </p:sp>
      <p:sp>
        <p:nvSpPr>
          <p:cNvPr id="10" name="shape-719">
            <a:extLst xmlns:a="http://schemas.openxmlformats.org/drawingml/2006/main">
              <a:ext uri="{FF2B5EF4-FFF2-40B4-BE49-F238E27FC236}">
                <a16:creationId xmlns:a16="http://schemas.microsoft.com/office/drawing/2014/main" id="{6D775D85-1CAA-440F-A9B6-AAC5CC76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登录、报名、候补确认和签到分别限流；活动介绍第一版只接受纯文本。</a:t>
            </a:r>
          </a:p>
        </p:txBody>
      </p:sp>
    </p:spTree>
    <p:extLst>
      <p:ext uri="{BB962C8B-B14F-4D97-AF65-F5344CB8AC3E}">
        <p14:creationId xmlns:p14="http://schemas.microsoft.com/office/powerpoint/2010/main" val="181213688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720">
            <a:extLst xmlns:a="http://schemas.openxmlformats.org/drawingml/2006/main">
              <a:ext uri="{FF2B5EF4-FFF2-40B4-BE49-F238E27FC236}">
                <a16:creationId xmlns:a16="http://schemas.microsoft.com/office/drawing/2014/main" id="{7911499C-95B5-4DF8-BC9D-E6DD1828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PART 6</a:t>
            </a:r>
          </a:p>
        </p:txBody>
      </p:sp>
      <p:sp>
        <p:nvSpPr>
          <p:cNvPr id="2" name="shape-721">
            <a:extLst xmlns:a="http://schemas.openxmlformats.org/drawingml/2006/main">
              <a:ext uri="{FF2B5EF4-FFF2-40B4-BE49-F238E27FC236}">
                <a16:creationId xmlns:a16="http://schemas.microsoft.com/office/drawing/2014/main" id="{0833017B-F9F2-4745-99E8-355C30E1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52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前端页面与关键交互</a:t>
            </a:r>
          </a:p>
        </p:txBody>
      </p:sp>
      <p:sp>
        <p:nvSpPr>
          <p:cNvPr id="3" name="shape-722">
            <a:extLst xmlns:a="http://schemas.openxmlformats.org/drawingml/2006/main">
              <a:ext uri="{FF2B5EF4-FFF2-40B4-BE49-F238E27FC236}">
                <a16:creationId xmlns:a16="http://schemas.microsoft.com/office/drawing/2014/main" id="{55291A0E-CC5A-4698-B27C-B5F9AD7B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成员从QQ链接进入后，每一步都应该知道“我现在是什么状态，下一步做什么”。</a:t>
            </a:r>
          </a:p>
        </p:txBody>
      </p:sp>
      <p:cxnSp>
        <p:nvCxnSpPr>
          <p:cNvPr id="9" name="shape-723"/>
          <p:cNvCxnSpPr/>
          <p:nvPr/>
        </p:nvCxnSpPr>
        <p:spPr>
          <a:xfrm xmlns:a="http://schemas.openxmlformats.org/drawingml/2006/main">
            <a:off x="400050" y="57150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5" name="shape-724">
            <a:extLst xmlns:a="http://schemas.openxmlformats.org/drawingml/2006/main">
              <a:ext uri="{FF2B5EF4-FFF2-40B4-BE49-F238E27FC236}">
                <a16:creationId xmlns:a16="http://schemas.microsoft.com/office/drawing/2014/main" id="{71BC0598-2FB8-456A-AF65-CEE2385A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9626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75886073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hape-725">
            <a:extLst xmlns:a="http://schemas.openxmlformats.org/drawingml/2006/main">
              <a:ext uri="{FF2B5EF4-FFF2-40B4-BE49-F238E27FC236}">
                <a16:creationId xmlns:a16="http://schemas.microsoft.com/office/drawing/2014/main" id="{4AD3E35E-6921-4D6C-81C7-F090DE27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前端体验</a:t>
            </a:r>
          </a:p>
        </p:txBody>
      </p:sp>
      <p:sp>
        <p:nvSpPr>
          <p:cNvPr id="2" name="shape-726">
            <a:extLst xmlns:a="http://schemas.openxmlformats.org/drawingml/2006/main">
              <a:ext uri="{FF2B5EF4-FFF2-40B4-BE49-F238E27FC236}">
                <a16:creationId xmlns:a16="http://schemas.microsoft.com/office/drawing/2014/main" id="{ECDBA79F-14EC-4B28-8C9A-31140BA7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一个Vue项目同时服务手机成员和电脑管理</a:t>
            </a:r>
          </a:p>
        </p:txBody>
      </p:sp>
      <p:cxnSp>
        <p:nvCxnSpPr>
          <p:cNvPr id="15" name="shape-727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728">
            <a:extLst xmlns:a="http://schemas.openxmlformats.org/drawingml/2006/main">
              <a:ext uri="{FF2B5EF4-FFF2-40B4-BE49-F238E27FC236}">
                <a16:creationId xmlns:a16="http://schemas.microsoft.com/office/drawing/2014/main" id="{6B45F5A0-AF2A-4012-B488-83C1030B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5" name="shape-729">
            <a:extLst xmlns:a="http://schemas.openxmlformats.org/drawingml/2006/main">
              <a:ext uri="{FF2B5EF4-FFF2-40B4-BE49-F238E27FC236}">
                <a16:creationId xmlns:a16="http://schemas.microsoft.com/office/drawing/2014/main" id="{0B91801A-E3EF-40FA-BE95-C8625D2C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公开入口</a:t>
            </a:r>
          </a:p>
        </p:txBody>
      </p:sp>
      <p:sp>
        <p:nvSpPr>
          <p:cNvPr id="6" name="shape-730">
            <a:extLst xmlns:a="http://schemas.openxmlformats.org/drawingml/2006/main">
              <a:ext uri="{FF2B5EF4-FFF2-40B4-BE49-F238E27FC236}">
                <a16:creationId xmlns:a16="http://schemas.microsoft.com/office/drawing/2014/main" id="{D1C994B5-37D9-4EFB-AE48-4BC7C6911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登录、注册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邀请码或链接加入组织</a:t>
            </a:r>
          </a:p>
        </p:txBody>
      </p:sp>
      <p:sp>
        <p:nvSpPr>
          <p:cNvPr id="7" name="shape-731">
            <a:extLst xmlns:a="http://schemas.openxmlformats.org/drawingml/2006/main">
              <a:ext uri="{FF2B5EF4-FFF2-40B4-BE49-F238E27FC236}">
                <a16:creationId xmlns:a16="http://schemas.microsoft.com/office/drawing/2014/main" id="{1B896B76-D579-4BE2-9A5A-BD044869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732">
            <a:extLst xmlns:a="http://schemas.openxmlformats.org/drawingml/2006/main">
              <a:ext uri="{FF2B5EF4-FFF2-40B4-BE49-F238E27FC236}">
                <a16:creationId xmlns:a16="http://schemas.microsoft.com/office/drawing/2014/main" id="{4040C111-2989-4549-ADC8-D8841774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成员端</a:t>
            </a:r>
          </a:p>
        </p:txBody>
      </p:sp>
      <p:sp>
        <p:nvSpPr>
          <p:cNvPr id="9" name="shape-733">
            <a:extLst xmlns:a="http://schemas.openxmlformats.org/drawingml/2006/main">
              <a:ext uri="{FF2B5EF4-FFF2-40B4-BE49-F238E27FC236}">
                <a16:creationId xmlns:a16="http://schemas.microsoft.com/office/drawing/2014/main" id="{4D7F85A4-E2C2-4B06-B5BB-E3FA208C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活动广场与详情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报名、我的活动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候补邀请、签到、通知、资料</a:t>
            </a:r>
          </a:p>
        </p:txBody>
      </p:sp>
      <p:sp>
        <p:nvSpPr>
          <p:cNvPr id="10" name="shape-734">
            <a:extLst xmlns:a="http://schemas.openxmlformats.org/drawingml/2006/main">
              <a:ext uri="{FF2B5EF4-FFF2-40B4-BE49-F238E27FC236}">
                <a16:creationId xmlns:a16="http://schemas.microsoft.com/office/drawing/2014/main" id="{DC51C881-CC19-492C-906C-E14825CC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-735">
            <a:extLst xmlns:a="http://schemas.openxmlformats.org/drawingml/2006/main">
              <a:ext uri="{FF2B5EF4-FFF2-40B4-BE49-F238E27FC236}">
                <a16:creationId xmlns:a16="http://schemas.microsoft.com/office/drawing/2014/main" id="{917EF195-3BF9-456D-9E49-C008F3C8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管理端</a:t>
            </a:r>
          </a:p>
        </p:txBody>
      </p:sp>
      <p:sp>
        <p:nvSpPr>
          <p:cNvPr id="12" name="shape-736">
            <a:extLst xmlns:a="http://schemas.openxmlformats.org/drawingml/2006/main">
              <a:ext uri="{FF2B5EF4-FFF2-40B4-BE49-F238E27FC236}">
                <a16:creationId xmlns:a16="http://schemas.microsoft.com/office/drawing/2014/main" id="{A698BD1E-845E-43A3-9208-89E55197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概览与活动管理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名单、候补、签到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成员角色、组织设置、审计</a:t>
            </a:r>
          </a:p>
        </p:txBody>
      </p:sp>
    </p:spTree>
    <p:extLst>
      <p:ext uri="{BB962C8B-B14F-4D97-AF65-F5344CB8AC3E}">
        <p14:creationId xmlns:p14="http://schemas.microsoft.com/office/powerpoint/2010/main" val="49121797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hape-737">
            <a:extLst xmlns:a="http://schemas.openxmlformats.org/drawingml/2006/main">
              <a:ext uri="{FF2B5EF4-FFF2-40B4-BE49-F238E27FC236}">
                <a16:creationId xmlns:a16="http://schemas.microsoft.com/office/drawing/2014/main" id="{C9CC8234-84EA-4509-885F-7AB57239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前端体验</a:t>
            </a:r>
          </a:p>
        </p:txBody>
      </p:sp>
      <p:sp>
        <p:nvSpPr>
          <p:cNvPr id="2" name="shape-738">
            <a:extLst xmlns:a="http://schemas.openxmlformats.org/drawingml/2006/main">
              <a:ext uri="{FF2B5EF4-FFF2-40B4-BE49-F238E27FC236}">
                <a16:creationId xmlns:a16="http://schemas.microsoft.com/office/drawing/2014/main" id="{737CBF87-F12E-4FD1-AB2F-716E2FBF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成员核心流程围绕状态变化展开</a:t>
            </a:r>
          </a:p>
        </p:txBody>
      </p:sp>
      <p:cxnSp>
        <p:nvCxnSpPr>
          <p:cNvPr id="27" name="shape-739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740">
            <a:extLst xmlns:a="http://schemas.openxmlformats.org/drawingml/2006/main">
              <a:ext uri="{FF2B5EF4-FFF2-40B4-BE49-F238E27FC236}">
                <a16:creationId xmlns:a16="http://schemas.microsoft.com/office/drawing/2014/main" id="{93A908CC-D21C-48C7-95F0-D532FD20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cxnSp>
        <p:nvCxnSpPr>
          <p:cNvPr id="29" name="shape-741"/>
          <p:cNvCxnSpPr/>
          <p:nvPr/>
        </p:nvCxnSpPr>
        <p:spPr>
          <a:xfrm xmlns:a="http://schemas.openxmlformats.org/drawingml/2006/main">
            <a:off x="514350" y="3571875"/>
            <a:ext cx="111633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shape-742">
            <a:extLst xmlns:a="http://schemas.openxmlformats.org/drawingml/2006/main">
              <a:ext uri="{FF2B5EF4-FFF2-40B4-BE49-F238E27FC236}">
                <a16:creationId xmlns:a16="http://schemas.microsoft.com/office/drawing/2014/main" id="{79A8849F-2139-452C-AC74-49782111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743">
            <a:extLst xmlns:a="http://schemas.openxmlformats.org/drawingml/2006/main">
              <a:ext uri="{FF2B5EF4-FFF2-40B4-BE49-F238E27FC236}">
                <a16:creationId xmlns:a16="http://schemas.microsoft.com/office/drawing/2014/main" id="{CDA1BF58-B217-43F2-81C1-5AD5E6B2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QQ链接</a:t>
            </a:r>
          </a:p>
        </p:txBody>
      </p:sp>
      <p:sp>
        <p:nvSpPr>
          <p:cNvPr id="8" name="shape-744">
            <a:extLst xmlns:a="http://schemas.openxmlformats.org/drawingml/2006/main">
              <a:ext uri="{FF2B5EF4-FFF2-40B4-BE49-F238E27FC236}">
                <a16:creationId xmlns:a16="http://schemas.microsoft.com/office/drawing/2014/main" id="{E5F94A73-BA2C-4DD6-BF56-B3E0AEEA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进入平台</a:t>
            </a:r>
          </a:p>
        </p:txBody>
      </p:sp>
      <p:sp>
        <p:nvSpPr>
          <p:cNvPr id="9" name="shape-745">
            <a:extLst xmlns:a="http://schemas.openxmlformats.org/drawingml/2006/main">
              <a:ext uri="{FF2B5EF4-FFF2-40B4-BE49-F238E27FC236}">
                <a16:creationId xmlns:a16="http://schemas.microsoft.com/office/drawing/2014/main" id="{E7DFFE4B-ACF7-480C-87FB-4C7AA131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21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746">
            <a:extLst xmlns:a="http://schemas.openxmlformats.org/drawingml/2006/main">
              <a:ext uri="{FF2B5EF4-FFF2-40B4-BE49-F238E27FC236}">
                <a16:creationId xmlns:a16="http://schemas.microsoft.com/office/drawing/2014/main" id="{0CE4E35F-D754-4906-8574-87E72E5F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加入组织</a:t>
            </a:r>
          </a:p>
        </p:txBody>
      </p:sp>
      <p:sp>
        <p:nvSpPr>
          <p:cNvPr id="11" name="shape-747">
            <a:extLst xmlns:a="http://schemas.openxmlformats.org/drawingml/2006/main">
              <a:ext uri="{FF2B5EF4-FFF2-40B4-BE49-F238E27FC236}">
                <a16:creationId xmlns:a16="http://schemas.microsoft.com/office/drawing/2014/main" id="{B78CA967-5011-410E-8924-72A4E740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登录/注册</a:t>
            </a:r>
          </a:p>
        </p:txBody>
      </p:sp>
      <p:sp>
        <p:nvSpPr>
          <p:cNvPr id="12" name="shape-748">
            <a:extLst xmlns:a="http://schemas.openxmlformats.org/drawingml/2006/main">
              <a:ext uri="{FF2B5EF4-FFF2-40B4-BE49-F238E27FC236}">
                <a16:creationId xmlns:a16="http://schemas.microsoft.com/office/drawing/2014/main" id="{CEDC908A-8FE9-4529-BB7F-689FCBDA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07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-749">
            <a:extLst xmlns:a="http://schemas.openxmlformats.org/drawingml/2006/main">
              <a:ext uri="{FF2B5EF4-FFF2-40B4-BE49-F238E27FC236}">
                <a16:creationId xmlns:a16="http://schemas.microsoft.com/office/drawing/2014/main" id="{0F638490-F326-4C3F-B8CA-9BBE2820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42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查看活动</a:t>
            </a:r>
          </a:p>
        </p:txBody>
      </p:sp>
      <p:sp>
        <p:nvSpPr>
          <p:cNvPr id="14" name="shape-750">
            <a:extLst xmlns:a="http://schemas.openxmlformats.org/drawingml/2006/main">
              <a:ext uri="{FF2B5EF4-FFF2-40B4-BE49-F238E27FC236}">
                <a16:creationId xmlns:a16="http://schemas.microsoft.com/office/drawing/2014/main" id="{68EA83A0-058E-4FD1-972F-565CD99C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42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规则与名额</a:t>
            </a:r>
          </a:p>
        </p:txBody>
      </p:sp>
      <p:sp>
        <p:nvSpPr>
          <p:cNvPr id="15" name="shape-751">
            <a:extLst xmlns:a="http://schemas.openxmlformats.org/drawingml/2006/main">
              <a:ext uri="{FF2B5EF4-FFF2-40B4-BE49-F238E27FC236}">
                <a16:creationId xmlns:a16="http://schemas.microsoft.com/office/drawing/2014/main" id="{B960B112-1F34-4EEB-93EB-F858A5A0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93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-752">
            <a:extLst xmlns:a="http://schemas.openxmlformats.org/drawingml/2006/main">
              <a:ext uri="{FF2B5EF4-FFF2-40B4-BE49-F238E27FC236}">
                <a16:creationId xmlns:a16="http://schemas.microsoft.com/office/drawing/2014/main" id="{340730C5-F228-4BE7-A653-1AD0D60E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28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报名</a:t>
            </a:r>
          </a:p>
        </p:txBody>
      </p:sp>
      <p:sp>
        <p:nvSpPr>
          <p:cNvPr id="17" name="shape-753">
            <a:extLst xmlns:a="http://schemas.openxmlformats.org/drawingml/2006/main">
              <a:ext uri="{FF2B5EF4-FFF2-40B4-BE49-F238E27FC236}">
                <a16:creationId xmlns:a16="http://schemas.microsoft.com/office/drawing/2014/main" id="{5F903D3D-2E9D-4532-8032-8EC07ED2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28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确认/审核/候补</a:t>
            </a:r>
          </a:p>
        </p:txBody>
      </p:sp>
      <p:sp>
        <p:nvSpPr>
          <p:cNvPr id="18" name="shape-754">
            <a:extLst xmlns:a="http://schemas.openxmlformats.org/drawingml/2006/main">
              <a:ext uri="{FF2B5EF4-FFF2-40B4-BE49-F238E27FC236}">
                <a16:creationId xmlns:a16="http://schemas.microsoft.com/office/drawing/2014/main" id="{B54C94C8-8EC4-4167-922E-3E807C44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79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-755">
            <a:extLst xmlns:a="http://schemas.openxmlformats.org/drawingml/2006/main">
              <a:ext uri="{FF2B5EF4-FFF2-40B4-BE49-F238E27FC236}">
                <a16:creationId xmlns:a16="http://schemas.microsoft.com/office/drawing/2014/main" id="{93657897-70A3-4C29-805E-8E513B6C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14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处理邀请</a:t>
            </a:r>
          </a:p>
        </p:txBody>
      </p:sp>
      <p:sp>
        <p:nvSpPr>
          <p:cNvPr id="20" name="shape-756">
            <a:extLst xmlns:a="http://schemas.openxmlformats.org/drawingml/2006/main">
              <a:ext uri="{FF2B5EF4-FFF2-40B4-BE49-F238E27FC236}">
                <a16:creationId xmlns:a16="http://schemas.microsoft.com/office/drawing/2014/main" id="{525F63AC-72B5-41F3-A95A-1D9A2189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14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接受/拒绝</a:t>
            </a:r>
          </a:p>
        </p:txBody>
      </p:sp>
      <p:sp>
        <p:nvSpPr>
          <p:cNvPr id="21" name="shape-757">
            <a:extLst xmlns:a="http://schemas.openxmlformats.org/drawingml/2006/main">
              <a:ext uri="{FF2B5EF4-FFF2-40B4-BE49-F238E27FC236}">
                <a16:creationId xmlns:a16="http://schemas.microsoft.com/office/drawing/2014/main" id="{0A50BA19-CC41-48E8-A1A0-FD816FEC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-758">
            <a:extLst xmlns:a="http://schemas.openxmlformats.org/drawingml/2006/main">
              <a:ext uri="{FF2B5EF4-FFF2-40B4-BE49-F238E27FC236}">
                <a16:creationId xmlns:a16="http://schemas.microsoft.com/office/drawing/2014/main" id="{007EB220-1CDC-4585-A8EF-BC77BE22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现场签到</a:t>
            </a:r>
          </a:p>
        </p:txBody>
      </p:sp>
      <p:sp>
        <p:nvSpPr>
          <p:cNvPr id="23" name="shape-759">
            <a:extLst xmlns:a="http://schemas.openxmlformats.org/drawingml/2006/main">
              <a:ext uri="{FF2B5EF4-FFF2-40B4-BE49-F238E27FC236}">
                <a16:creationId xmlns:a16="http://schemas.microsoft.com/office/drawing/2014/main" id="{FB23AB0A-D415-4FAC-8E09-E77AFF6C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完成活动</a:t>
            </a:r>
          </a:p>
        </p:txBody>
      </p:sp>
      <p:sp>
        <p:nvSpPr>
          <p:cNvPr id="24" name="shape-760">
            <a:extLst xmlns:a="http://schemas.openxmlformats.org/drawingml/2006/main">
              <a:ext uri="{FF2B5EF4-FFF2-40B4-BE49-F238E27FC236}">
                <a16:creationId xmlns:a16="http://schemas.microsoft.com/office/drawing/2014/main" id="{57F417C7-E253-4816-875C-9EF206AC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详情页直接展示时间、地点、负责人、容量、确认/候补人数、取消期限、递补规则和自己的状态。</a:t>
            </a:r>
          </a:p>
        </p:txBody>
      </p:sp>
    </p:spTree>
    <p:extLst>
      <p:ext uri="{BB962C8B-B14F-4D97-AF65-F5344CB8AC3E}">
        <p14:creationId xmlns:p14="http://schemas.microsoft.com/office/powerpoint/2010/main" val="207529858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shape-761">
            <a:extLst xmlns:a="http://schemas.openxmlformats.org/drawingml/2006/main">
              <a:ext uri="{FF2B5EF4-FFF2-40B4-BE49-F238E27FC236}">
                <a16:creationId xmlns:a16="http://schemas.microsoft.com/office/drawing/2014/main" id="{D491F420-0532-4209-8303-AD8038C3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前端体验</a:t>
            </a:r>
          </a:p>
        </p:txBody>
      </p:sp>
      <p:sp>
        <p:nvSpPr>
          <p:cNvPr id="2" name="shape-762">
            <a:extLst xmlns:a="http://schemas.openxmlformats.org/drawingml/2006/main">
              <a:ext uri="{FF2B5EF4-FFF2-40B4-BE49-F238E27FC236}">
                <a16:creationId xmlns:a16="http://schemas.microsoft.com/office/drawing/2014/main" id="{8CE5546C-7517-4930-A8C2-F1B98374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“我的活动”卡片必须给出下一步动作</a:t>
            </a:r>
          </a:p>
        </p:txBody>
      </p:sp>
      <p:cxnSp>
        <p:nvCxnSpPr>
          <p:cNvPr id="62" name="shape-763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764">
            <a:extLst xmlns:a="http://schemas.openxmlformats.org/drawingml/2006/main">
              <a:ext uri="{FF2B5EF4-FFF2-40B4-BE49-F238E27FC236}">
                <a16:creationId xmlns:a16="http://schemas.microsoft.com/office/drawing/2014/main" id="{5EEB423C-268E-4D01-A63F-288B6F44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5" name="shape-765">
            <a:extLst xmlns:a="http://schemas.openxmlformats.org/drawingml/2006/main">
              <a:ext uri="{FF2B5EF4-FFF2-40B4-BE49-F238E27FC236}">
                <a16:creationId xmlns:a16="http://schemas.microsoft.com/office/drawing/2014/main" id="{072BF1BC-1BF6-4F28-BA1E-D4026EF5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95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倒计时使用服务端expiresAt，刷新页面后仍正确。</a:t>
            </a:r>
          </a:p>
        </p:txBody>
      </p:sp>
      <p:sp>
        <p:nvSpPr>
          <p:cNvPr id="6" name="shape-766">
            <a:extLst xmlns:a="http://schemas.openxmlformats.org/drawingml/2006/main">
              <a:ext uri="{FF2B5EF4-FFF2-40B4-BE49-F238E27FC236}">
                <a16:creationId xmlns:a16="http://schemas.microsoft.com/office/drawing/2014/main" id="{6122FA1C-4B2A-4C79-8E39-39AC3B7A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274176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shape-767">
            <a:extLst xmlns:a="http://schemas.openxmlformats.org/drawingml/2006/main">
              <a:ext uri="{FF2B5EF4-FFF2-40B4-BE49-F238E27FC236}">
                <a16:creationId xmlns:a16="http://schemas.microsoft.com/office/drawing/2014/main" id="{DF1E60BC-BC5D-450C-9815-C9D432FC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71700"/>
            <a:ext cx="2121776" cy="2815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8" name="shape-768">
            <a:extLst xmlns:a="http://schemas.openxmlformats.org/drawingml/2006/main">
              <a:ext uri="{FF2B5EF4-FFF2-40B4-BE49-F238E27FC236}">
                <a16:creationId xmlns:a16="http://schemas.microsoft.com/office/drawing/2014/main" id="{60FDFBD2-C261-410E-8EC5-5A4F45DC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226" y="2095500"/>
            <a:ext cx="41693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shape-769">
            <a:extLst xmlns:a="http://schemas.openxmlformats.org/drawingml/2006/main">
              <a:ext uri="{FF2B5EF4-FFF2-40B4-BE49-F238E27FC236}">
                <a16:creationId xmlns:a16="http://schemas.microsoft.com/office/drawing/2014/main" id="{72B95B34-6DD6-4B27-9145-73B54074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26" y="2171700"/>
            <a:ext cx="4016922" cy="2815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提示</a:t>
            </a:r>
          </a:p>
        </p:txBody>
      </p:sp>
      <p:sp>
        <p:nvSpPr>
          <p:cNvPr id="10" name="shape-770">
            <a:extLst xmlns:a="http://schemas.openxmlformats.org/drawingml/2006/main">
              <a:ext uri="{FF2B5EF4-FFF2-40B4-BE49-F238E27FC236}">
                <a16:creationId xmlns:a16="http://schemas.microsoft.com/office/drawing/2014/main" id="{560841E5-D811-4029-8F81-4003CE6B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548" y="2095500"/>
            <a:ext cx="454835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shape-771">
            <a:extLst xmlns:a="http://schemas.openxmlformats.org/drawingml/2006/main">
              <a:ext uri="{FF2B5EF4-FFF2-40B4-BE49-F238E27FC236}">
                <a16:creationId xmlns:a16="http://schemas.microsoft.com/office/drawing/2014/main" id="{561E32B5-239C-4D97-988B-37022B7F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748" y="2171700"/>
            <a:ext cx="4395952" cy="2815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sp>
        <p:nvSpPr>
          <p:cNvPr id="12" name="shape-772">
            <a:extLst xmlns:a="http://schemas.openxmlformats.org/drawingml/2006/main">
              <a:ext uri="{FF2B5EF4-FFF2-40B4-BE49-F238E27FC236}">
                <a16:creationId xmlns:a16="http://schemas.microsoft.com/office/drawing/2014/main" id="{F19D8344-CB4F-444A-B3D1-A0DE5796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29417"/>
            <a:ext cx="2274176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hape-773">
            <a:extLst xmlns:a="http://schemas.openxmlformats.org/drawingml/2006/main">
              <a:ext uri="{FF2B5EF4-FFF2-40B4-BE49-F238E27FC236}">
                <a16:creationId xmlns:a16="http://schemas.microsoft.com/office/drawing/2014/main" id="{A7E2689A-2EA1-4242-850E-7C960F79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96092"/>
            <a:ext cx="2121776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待审核</a:t>
            </a:r>
          </a:p>
        </p:txBody>
      </p:sp>
      <p:sp>
        <p:nvSpPr>
          <p:cNvPr id="14" name="shape-774">
            <a:extLst xmlns:a="http://schemas.openxmlformats.org/drawingml/2006/main">
              <a:ext uri="{FF2B5EF4-FFF2-40B4-BE49-F238E27FC236}">
                <a16:creationId xmlns:a16="http://schemas.microsoft.com/office/drawing/2014/main" id="{4F0D11C7-FE41-41E5-9654-A64E1443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226" y="2529417"/>
            <a:ext cx="41693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hape-775">
            <a:extLst xmlns:a="http://schemas.openxmlformats.org/drawingml/2006/main">
              <a:ext uri="{FF2B5EF4-FFF2-40B4-BE49-F238E27FC236}">
                <a16:creationId xmlns:a16="http://schemas.microsoft.com/office/drawing/2014/main" id="{E0DBBA20-38AA-44B1-8771-0DDBD6EA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26" y="2596092"/>
            <a:ext cx="401692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等待负责人审核</a:t>
            </a:r>
          </a:p>
        </p:txBody>
      </p:sp>
      <p:sp>
        <p:nvSpPr>
          <p:cNvPr id="16" name="shape-776">
            <a:extLst xmlns:a="http://schemas.openxmlformats.org/drawingml/2006/main">
              <a:ext uri="{FF2B5EF4-FFF2-40B4-BE49-F238E27FC236}">
                <a16:creationId xmlns:a16="http://schemas.microsoft.com/office/drawing/2014/main" id="{A11EF885-2C53-4C56-85DE-D777CC97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548" y="2529417"/>
            <a:ext cx="454835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hape-777">
            <a:extLst xmlns:a="http://schemas.openxmlformats.org/drawingml/2006/main">
              <a:ext uri="{FF2B5EF4-FFF2-40B4-BE49-F238E27FC236}">
                <a16:creationId xmlns:a16="http://schemas.microsoft.com/office/drawing/2014/main" id="{4F199B2B-F228-430D-86F8-B7CDA16E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748" y="2596092"/>
            <a:ext cx="439595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查看、取消</a:t>
            </a:r>
          </a:p>
        </p:txBody>
      </p:sp>
      <p:sp>
        <p:nvSpPr>
          <p:cNvPr id="18" name="shape-778">
            <a:extLst xmlns:a="http://schemas.openxmlformats.org/drawingml/2006/main">
              <a:ext uri="{FF2B5EF4-FFF2-40B4-BE49-F238E27FC236}">
                <a16:creationId xmlns:a16="http://schemas.microsoft.com/office/drawing/2014/main" id="{E511372E-B6F9-453B-A9DD-33BD7CB6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63333"/>
            <a:ext cx="2274176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hape-779">
            <a:extLst xmlns:a="http://schemas.openxmlformats.org/drawingml/2006/main">
              <a:ext uri="{FF2B5EF4-FFF2-40B4-BE49-F238E27FC236}">
                <a16:creationId xmlns:a16="http://schemas.microsoft.com/office/drawing/2014/main" id="{D2B296BE-9875-40E3-BD92-B22D3342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30008"/>
            <a:ext cx="2121776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已确认</a:t>
            </a:r>
          </a:p>
        </p:txBody>
      </p:sp>
      <p:sp>
        <p:nvSpPr>
          <p:cNvPr id="20" name="shape-780">
            <a:extLst xmlns:a="http://schemas.openxmlformats.org/drawingml/2006/main">
              <a:ext uri="{FF2B5EF4-FFF2-40B4-BE49-F238E27FC236}">
                <a16:creationId xmlns:a16="http://schemas.microsoft.com/office/drawing/2014/main" id="{E7527007-2CFE-4BFB-86A9-1976EB7A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226" y="2963333"/>
            <a:ext cx="41693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hape-781">
            <a:extLst xmlns:a="http://schemas.openxmlformats.org/drawingml/2006/main">
              <a:ext uri="{FF2B5EF4-FFF2-40B4-BE49-F238E27FC236}">
                <a16:creationId xmlns:a16="http://schemas.microsoft.com/office/drawing/2014/main" id="{5E14B1B0-2BC7-4314-857D-A6CE4B00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26" y="3030008"/>
            <a:ext cx="401692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已获得名额</a:t>
            </a:r>
          </a:p>
        </p:txBody>
      </p:sp>
      <p:sp>
        <p:nvSpPr>
          <p:cNvPr id="22" name="shape-782">
            <a:extLst xmlns:a="http://schemas.openxmlformats.org/drawingml/2006/main">
              <a:ext uri="{FF2B5EF4-FFF2-40B4-BE49-F238E27FC236}">
                <a16:creationId xmlns:a16="http://schemas.microsoft.com/office/drawing/2014/main" id="{DC9B68F9-B918-40F2-8C28-AEA74E27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548" y="2963333"/>
            <a:ext cx="454835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hape-783">
            <a:extLst xmlns:a="http://schemas.openxmlformats.org/drawingml/2006/main">
              <a:ext uri="{FF2B5EF4-FFF2-40B4-BE49-F238E27FC236}">
                <a16:creationId xmlns:a16="http://schemas.microsoft.com/office/drawing/2014/main" id="{7DAA7EC4-A77E-4922-8CC2-3CD0FB9C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748" y="3030008"/>
            <a:ext cx="439595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签到、取消</a:t>
            </a:r>
          </a:p>
        </p:txBody>
      </p:sp>
      <p:sp>
        <p:nvSpPr>
          <p:cNvPr id="24" name="shape-784">
            <a:extLst xmlns:a="http://schemas.openxmlformats.org/drawingml/2006/main">
              <a:ext uri="{FF2B5EF4-FFF2-40B4-BE49-F238E27FC236}">
                <a16:creationId xmlns:a16="http://schemas.microsoft.com/office/drawing/2014/main" id="{814FED2C-99F0-4B7E-879A-CBF656DB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7250"/>
            <a:ext cx="2274176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hape-785">
            <a:extLst xmlns:a="http://schemas.openxmlformats.org/drawingml/2006/main">
              <a:ext uri="{FF2B5EF4-FFF2-40B4-BE49-F238E27FC236}">
                <a16:creationId xmlns:a16="http://schemas.microsoft.com/office/drawing/2014/main" id="{24FAC01D-5A56-444B-855F-60F09E3A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63925"/>
            <a:ext cx="2121776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候补中</a:t>
            </a:r>
          </a:p>
        </p:txBody>
      </p:sp>
      <p:sp>
        <p:nvSpPr>
          <p:cNvPr id="26" name="shape-786">
            <a:extLst xmlns:a="http://schemas.openxmlformats.org/drawingml/2006/main">
              <a:ext uri="{FF2B5EF4-FFF2-40B4-BE49-F238E27FC236}">
                <a16:creationId xmlns:a16="http://schemas.microsoft.com/office/drawing/2014/main" id="{A53A3FA6-4876-4726-A75B-1B77BAE3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226" y="3397250"/>
            <a:ext cx="41693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hape-787">
            <a:extLst xmlns:a="http://schemas.openxmlformats.org/drawingml/2006/main">
              <a:ext uri="{FF2B5EF4-FFF2-40B4-BE49-F238E27FC236}">
                <a16:creationId xmlns:a16="http://schemas.microsoft.com/office/drawing/2014/main" id="{38711826-160B-4D84-A9B5-3F3C53F1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26" y="3463925"/>
            <a:ext cx="401692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当前候补第N位</a:t>
            </a:r>
          </a:p>
        </p:txBody>
      </p:sp>
      <p:sp>
        <p:nvSpPr>
          <p:cNvPr id="28" name="shape-788">
            <a:extLst xmlns:a="http://schemas.openxmlformats.org/drawingml/2006/main">
              <a:ext uri="{FF2B5EF4-FFF2-40B4-BE49-F238E27FC236}">
                <a16:creationId xmlns:a16="http://schemas.microsoft.com/office/drawing/2014/main" id="{0D88F838-E73F-4533-AF2A-120C8BB8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548" y="3397250"/>
            <a:ext cx="454835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shape-789">
            <a:extLst xmlns:a="http://schemas.openxmlformats.org/drawingml/2006/main">
              <a:ext uri="{FF2B5EF4-FFF2-40B4-BE49-F238E27FC236}">
                <a16:creationId xmlns:a16="http://schemas.microsoft.com/office/drawing/2014/main" id="{1FA57834-DB06-4595-98F9-16BE9D14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748" y="3463925"/>
            <a:ext cx="439595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查看规则、退出</a:t>
            </a:r>
          </a:p>
        </p:txBody>
      </p:sp>
      <p:sp>
        <p:nvSpPr>
          <p:cNvPr id="30" name="shape-790">
            <a:extLst xmlns:a="http://schemas.openxmlformats.org/drawingml/2006/main">
              <a:ext uri="{FF2B5EF4-FFF2-40B4-BE49-F238E27FC236}">
                <a16:creationId xmlns:a16="http://schemas.microsoft.com/office/drawing/2014/main" id="{FC82313E-35C6-4928-8E68-330CEAD2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31167"/>
            <a:ext cx="2274176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shape-791">
            <a:extLst xmlns:a="http://schemas.openxmlformats.org/drawingml/2006/main">
              <a:ext uri="{FF2B5EF4-FFF2-40B4-BE49-F238E27FC236}">
                <a16:creationId xmlns:a16="http://schemas.microsoft.com/office/drawing/2014/main" id="{D7BB0168-EC70-40E2-B568-85169BA0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97842"/>
            <a:ext cx="2121776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待确认</a:t>
            </a:r>
          </a:p>
        </p:txBody>
      </p:sp>
      <p:sp>
        <p:nvSpPr>
          <p:cNvPr id="32" name="shape-792">
            <a:extLst xmlns:a="http://schemas.openxmlformats.org/drawingml/2006/main">
              <a:ext uri="{FF2B5EF4-FFF2-40B4-BE49-F238E27FC236}">
                <a16:creationId xmlns:a16="http://schemas.microsoft.com/office/drawing/2014/main" id="{86968C98-1023-403D-824C-FD18ACE7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226" y="3831167"/>
            <a:ext cx="41693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shape-793">
            <a:extLst xmlns:a="http://schemas.openxmlformats.org/drawingml/2006/main">
              <a:ext uri="{FF2B5EF4-FFF2-40B4-BE49-F238E27FC236}">
                <a16:creationId xmlns:a16="http://schemas.microsoft.com/office/drawing/2014/main" id="{294E6931-579C-4D69-A4A4-8AD78CEF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26" y="3897842"/>
            <a:ext cx="401692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名额已保留</a:t>
            </a:r>
          </a:p>
        </p:txBody>
      </p:sp>
      <p:sp>
        <p:nvSpPr>
          <p:cNvPr id="34" name="shape-794">
            <a:extLst xmlns:a="http://schemas.openxmlformats.org/drawingml/2006/main">
              <a:ext uri="{FF2B5EF4-FFF2-40B4-BE49-F238E27FC236}">
                <a16:creationId xmlns:a16="http://schemas.microsoft.com/office/drawing/2014/main" id="{1A870D8A-92F9-43F4-A1EA-57A43A86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548" y="3831167"/>
            <a:ext cx="454835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shape-795">
            <a:extLst xmlns:a="http://schemas.openxmlformats.org/drawingml/2006/main">
              <a:ext uri="{FF2B5EF4-FFF2-40B4-BE49-F238E27FC236}">
                <a16:creationId xmlns:a16="http://schemas.microsoft.com/office/drawing/2014/main" id="{E4C610C7-B456-4853-B71B-F063EAC8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748" y="3897842"/>
            <a:ext cx="439595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接受/拒绝、看倒计时</a:t>
            </a:r>
          </a:p>
        </p:txBody>
      </p:sp>
      <p:sp>
        <p:nvSpPr>
          <p:cNvPr id="36" name="shape-796">
            <a:extLst xmlns:a="http://schemas.openxmlformats.org/drawingml/2006/main">
              <a:ext uri="{FF2B5EF4-FFF2-40B4-BE49-F238E27FC236}">
                <a16:creationId xmlns:a16="http://schemas.microsoft.com/office/drawing/2014/main" id="{C7888CBE-651C-457B-BB7A-66615B5A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5083"/>
            <a:ext cx="2274176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shape-797">
            <a:extLst xmlns:a="http://schemas.openxmlformats.org/drawingml/2006/main">
              <a:ext uri="{FF2B5EF4-FFF2-40B4-BE49-F238E27FC236}">
                <a16:creationId xmlns:a16="http://schemas.microsoft.com/office/drawing/2014/main" id="{ABC5EDBF-0BAA-4AF6-8B8E-9BB3C0F9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31758"/>
            <a:ext cx="2121776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已取消</a:t>
            </a:r>
          </a:p>
        </p:txBody>
      </p:sp>
      <p:sp>
        <p:nvSpPr>
          <p:cNvPr id="38" name="shape-798">
            <a:extLst xmlns:a="http://schemas.openxmlformats.org/drawingml/2006/main">
              <a:ext uri="{FF2B5EF4-FFF2-40B4-BE49-F238E27FC236}">
                <a16:creationId xmlns:a16="http://schemas.microsoft.com/office/drawing/2014/main" id="{21E8C9B4-888F-419E-8FB8-696EFDE5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226" y="4265083"/>
            <a:ext cx="41693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shape-799">
            <a:extLst xmlns:a="http://schemas.openxmlformats.org/drawingml/2006/main">
              <a:ext uri="{FF2B5EF4-FFF2-40B4-BE49-F238E27FC236}">
                <a16:creationId xmlns:a16="http://schemas.microsoft.com/office/drawing/2014/main" id="{0168E239-B055-478C-9377-856A9DA4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26" y="4331758"/>
            <a:ext cx="401692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报名已取消</a:t>
            </a:r>
          </a:p>
        </p:txBody>
      </p:sp>
      <p:sp>
        <p:nvSpPr>
          <p:cNvPr id="40" name="shape-800">
            <a:extLst xmlns:a="http://schemas.openxmlformats.org/drawingml/2006/main">
              <a:ext uri="{FF2B5EF4-FFF2-40B4-BE49-F238E27FC236}">
                <a16:creationId xmlns:a16="http://schemas.microsoft.com/office/drawing/2014/main" id="{77BFE96B-9B8B-4562-86AE-D77F1DBD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548" y="4265083"/>
            <a:ext cx="454835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shape-801">
            <a:extLst xmlns:a="http://schemas.openxmlformats.org/drawingml/2006/main">
              <a:ext uri="{FF2B5EF4-FFF2-40B4-BE49-F238E27FC236}">
                <a16:creationId xmlns:a16="http://schemas.microsoft.com/office/drawing/2014/main" id="{F5B3D6D5-65D5-4C39-BC0A-2A9DBA4A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748" y="4331758"/>
            <a:ext cx="439595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允许时重新报名</a:t>
            </a:r>
          </a:p>
        </p:txBody>
      </p:sp>
      <p:sp>
        <p:nvSpPr>
          <p:cNvPr id="42" name="shape-802">
            <a:extLst xmlns:a="http://schemas.openxmlformats.org/drawingml/2006/main">
              <a:ext uri="{FF2B5EF4-FFF2-40B4-BE49-F238E27FC236}">
                <a16:creationId xmlns:a16="http://schemas.microsoft.com/office/drawing/2014/main" id="{C19DE63A-6F5B-4789-84FC-434326F7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9000"/>
            <a:ext cx="2274176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shape-803">
            <a:extLst xmlns:a="http://schemas.openxmlformats.org/drawingml/2006/main">
              <a:ext uri="{FF2B5EF4-FFF2-40B4-BE49-F238E27FC236}">
                <a16:creationId xmlns:a16="http://schemas.microsoft.com/office/drawing/2014/main" id="{FDA0FD8C-CB7C-42AA-A369-E9DFDF53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5675"/>
            <a:ext cx="2121776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迟取消</a:t>
            </a:r>
          </a:p>
        </p:txBody>
      </p:sp>
      <p:sp>
        <p:nvSpPr>
          <p:cNvPr id="44" name="shape-804">
            <a:extLst xmlns:a="http://schemas.openxmlformats.org/drawingml/2006/main">
              <a:ext uri="{FF2B5EF4-FFF2-40B4-BE49-F238E27FC236}">
                <a16:creationId xmlns:a16="http://schemas.microsoft.com/office/drawing/2014/main" id="{6CCEA59A-6313-4629-BD94-BD7466B2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226" y="4699000"/>
            <a:ext cx="41693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shape-805">
            <a:extLst xmlns:a="http://schemas.openxmlformats.org/drawingml/2006/main">
              <a:ext uri="{FF2B5EF4-FFF2-40B4-BE49-F238E27FC236}">
                <a16:creationId xmlns:a16="http://schemas.microsoft.com/office/drawing/2014/main" id="{3ADFCF9F-FC8E-487B-9E22-6D653924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26" y="4765675"/>
            <a:ext cx="401692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已记录迟取消</a:t>
            </a:r>
          </a:p>
        </p:txBody>
      </p:sp>
      <p:sp>
        <p:nvSpPr>
          <p:cNvPr id="46" name="shape-806">
            <a:extLst xmlns:a="http://schemas.openxmlformats.org/drawingml/2006/main">
              <a:ext uri="{FF2B5EF4-FFF2-40B4-BE49-F238E27FC236}">
                <a16:creationId xmlns:a16="http://schemas.microsoft.com/office/drawing/2014/main" id="{17C65306-90CF-433D-B6AF-BA320E20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548" y="4699000"/>
            <a:ext cx="454835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shape-807">
            <a:extLst xmlns:a="http://schemas.openxmlformats.org/drawingml/2006/main">
              <a:ext uri="{FF2B5EF4-FFF2-40B4-BE49-F238E27FC236}">
                <a16:creationId xmlns:a16="http://schemas.microsoft.com/office/drawing/2014/main" id="{800D99CD-EAEC-49F2-8984-660F8781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748" y="4765675"/>
            <a:ext cx="439595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查看记录</a:t>
            </a:r>
          </a:p>
        </p:txBody>
      </p:sp>
      <p:sp>
        <p:nvSpPr>
          <p:cNvPr id="48" name="shape-808">
            <a:extLst xmlns:a="http://schemas.openxmlformats.org/drawingml/2006/main">
              <a:ext uri="{FF2B5EF4-FFF2-40B4-BE49-F238E27FC236}">
                <a16:creationId xmlns:a16="http://schemas.microsoft.com/office/drawing/2014/main" id="{259F3489-DF41-44D9-AEE9-EDC2119B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32917"/>
            <a:ext cx="2274176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shape-809">
            <a:extLst xmlns:a="http://schemas.openxmlformats.org/drawingml/2006/main">
              <a:ext uri="{FF2B5EF4-FFF2-40B4-BE49-F238E27FC236}">
                <a16:creationId xmlns:a16="http://schemas.microsoft.com/office/drawing/2014/main" id="{5CAFEC9E-007B-4B6A-BA91-FD4C532E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9592"/>
            <a:ext cx="2121776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已签到</a:t>
            </a:r>
          </a:p>
        </p:txBody>
      </p:sp>
      <p:sp>
        <p:nvSpPr>
          <p:cNvPr id="50" name="shape-810">
            <a:extLst xmlns:a="http://schemas.openxmlformats.org/drawingml/2006/main">
              <a:ext uri="{FF2B5EF4-FFF2-40B4-BE49-F238E27FC236}">
                <a16:creationId xmlns:a16="http://schemas.microsoft.com/office/drawing/2014/main" id="{83B29572-273F-43BF-878E-52001B27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226" y="5132917"/>
            <a:ext cx="41693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shape-811">
            <a:extLst xmlns:a="http://schemas.openxmlformats.org/drawingml/2006/main">
              <a:ext uri="{FF2B5EF4-FFF2-40B4-BE49-F238E27FC236}">
                <a16:creationId xmlns:a16="http://schemas.microsoft.com/office/drawing/2014/main" id="{F23224E8-61DA-463A-B2AA-EAA3978D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26" y="5199592"/>
            <a:ext cx="401692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已完成签到</a:t>
            </a:r>
          </a:p>
        </p:txBody>
      </p:sp>
      <p:sp>
        <p:nvSpPr>
          <p:cNvPr id="52" name="shape-812">
            <a:extLst xmlns:a="http://schemas.openxmlformats.org/drawingml/2006/main">
              <a:ext uri="{FF2B5EF4-FFF2-40B4-BE49-F238E27FC236}">
                <a16:creationId xmlns:a16="http://schemas.microsoft.com/office/drawing/2014/main" id="{24F82181-3689-460B-9979-1A2613DA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548" y="5132917"/>
            <a:ext cx="454835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shape-813">
            <a:extLst xmlns:a="http://schemas.openxmlformats.org/drawingml/2006/main">
              <a:ext uri="{FF2B5EF4-FFF2-40B4-BE49-F238E27FC236}">
                <a16:creationId xmlns:a16="http://schemas.microsoft.com/office/drawing/2014/main" id="{8674A3C1-BCC6-49F9-9F55-54D5079A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748" y="5199592"/>
            <a:ext cx="439595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查看活动结果</a:t>
            </a:r>
          </a:p>
        </p:txBody>
      </p:sp>
      <p:sp>
        <p:nvSpPr>
          <p:cNvPr id="54" name="shape-814">
            <a:extLst xmlns:a="http://schemas.openxmlformats.org/drawingml/2006/main">
              <a:ext uri="{FF2B5EF4-FFF2-40B4-BE49-F238E27FC236}">
                <a16:creationId xmlns:a16="http://schemas.microsoft.com/office/drawing/2014/main" id="{F4DDEF8D-7F1D-4E5F-982A-7EAF0EC2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6833"/>
            <a:ext cx="2274176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5" name="shape-815">
            <a:extLst xmlns:a="http://schemas.openxmlformats.org/drawingml/2006/main">
              <a:ext uri="{FF2B5EF4-FFF2-40B4-BE49-F238E27FC236}">
                <a16:creationId xmlns:a16="http://schemas.microsoft.com/office/drawing/2014/main" id="{D1BB46C5-BE02-4845-AE5E-78CBA5E7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33508"/>
            <a:ext cx="2121776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未到场</a:t>
            </a:r>
          </a:p>
        </p:txBody>
      </p:sp>
      <p:sp>
        <p:nvSpPr>
          <p:cNvPr id="56" name="shape-816">
            <a:extLst xmlns:a="http://schemas.openxmlformats.org/drawingml/2006/main">
              <a:ext uri="{FF2B5EF4-FFF2-40B4-BE49-F238E27FC236}">
                <a16:creationId xmlns:a16="http://schemas.microsoft.com/office/drawing/2014/main" id="{67C7F3F2-3DE8-4216-B938-5676BF0C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226" y="5566833"/>
            <a:ext cx="416932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7" name="shape-817">
            <a:extLst xmlns:a="http://schemas.openxmlformats.org/drawingml/2006/main">
              <a:ext uri="{FF2B5EF4-FFF2-40B4-BE49-F238E27FC236}">
                <a16:creationId xmlns:a16="http://schemas.microsoft.com/office/drawing/2014/main" id="{D8381D2D-F19F-4462-9DA0-52279F51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26" y="5633508"/>
            <a:ext cx="401692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结束时未签到</a:t>
            </a:r>
          </a:p>
        </p:txBody>
      </p:sp>
      <p:sp>
        <p:nvSpPr>
          <p:cNvPr id="58" name="shape-818">
            <a:extLst xmlns:a="http://schemas.openxmlformats.org/drawingml/2006/main">
              <a:ext uri="{FF2B5EF4-FFF2-40B4-BE49-F238E27FC236}">
                <a16:creationId xmlns:a16="http://schemas.microsoft.com/office/drawing/2014/main" id="{68DE306C-D391-4DBE-AA10-A4705904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3548" y="5566833"/>
            <a:ext cx="4548352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9" name="shape-819">
            <a:extLst xmlns:a="http://schemas.openxmlformats.org/drawingml/2006/main">
              <a:ext uri="{FF2B5EF4-FFF2-40B4-BE49-F238E27FC236}">
                <a16:creationId xmlns:a16="http://schemas.microsoft.com/office/drawing/2014/main" id="{1D113E20-B07A-4E5A-AC38-47B2FE10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748" y="5633508"/>
            <a:ext cx="4395952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查看记录</a:t>
            </a:r>
          </a:p>
        </p:txBody>
      </p:sp>
    </p:spTree>
    <p:extLst>
      <p:ext uri="{BB962C8B-B14F-4D97-AF65-F5344CB8AC3E}">
        <p14:creationId xmlns:p14="http://schemas.microsoft.com/office/powerpoint/2010/main" val="40133014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hape-820">
            <a:extLst xmlns:a="http://schemas.openxmlformats.org/drawingml/2006/main">
              <a:ext uri="{FF2B5EF4-FFF2-40B4-BE49-F238E27FC236}">
                <a16:creationId xmlns:a16="http://schemas.microsoft.com/office/drawing/2014/main" id="{222A5E74-FD0E-4D6F-B5FB-D4ECCE5F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前端体验</a:t>
            </a:r>
          </a:p>
        </p:txBody>
      </p:sp>
      <p:sp>
        <p:nvSpPr>
          <p:cNvPr id="2" name="shape-821">
            <a:extLst xmlns:a="http://schemas.openxmlformats.org/drawingml/2006/main">
              <a:ext uri="{FF2B5EF4-FFF2-40B4-BE49-F238E27FC236}">
                <a16:creationId xmlns:a16="http://schemas.microsoft.com/office/drawing/2014/main" id="{68896ECC-A0C3-4DCD-AE09-46E3BB61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活动创建采用六步向导和发布前检查</a:t>
            </a:r>
          </a:p>
        </p:txBody>
      </p:sp>
      <p:cxnSp>
        <p:nvCxnSpPr>
          <p:cNvPr id="27" name="shape-822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823">
            <a:extLst xmlns:a="http://schemas.openxmlformats.org/drawingml/2006/main">
              <a:ext uri="{FF2B5EF4-FFF2-40B4-BE49-F238E27FC236}">
                <a16:creationId xmlns:a16="http://schemas.microsoft.com/office/drawing/2014/main" id="{3B449CE6-B4D5-4709-A581-C0A67AFC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cxnSp>
        <p:nvCxnSpPr>
          <p:cNvPr id="29" name="shape-824"/>
          <p:cNvCxnSpPr/>
          <p:nvPr/>
        </p:nvCxnSpPr>
        <p:spPr>
          <a:xfrm xmlns:a="http://schemas.openxmlformats.org/drawingml/2006/main">
            <a:off x="514350" y="3571875"/>
            <a:ext cx="111633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shape-825">
            <a:extLst xmlns:a="http://schemas.openxmlformats.org/drawingml/2006/main">
              <a:ext uri="{FF2B5EF4-FFF2-40B4-BE49-F238E27FC236}">
                <a16:creationId xmlns:a16="http://schemas.microsoft.com/office/drawing/2014/main" id="{928C81F4-5065-4200-ABCC-F4EC5820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826">
            <a:extLst xmlns:a="http://schemas.openxmlformats.org/drawingml/2006/main">
              <a:ext uri="{FF2B5EF4-FFF2-40B4-BE49-F238E27FC236}">
                <a16:creationId xmlns:a16="http://schemas.microsoft.com/office/drawing/2014/main" id="{CB2DAA91-B6E1-41F6-B18E-4E83D800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基本信息</a:t>
            </a:r>
          </a:p>
        </p:txBody>
      </p:sp>
      <p:sp>
        <p:nvSpPr>
          <p:cNvPr id="8" name="shape-827">
            <a:extLst xmlns:a="http://schemas.openxmlformats.org/drawingml/2006/main">
              <a:ext uri="{FF2B5EF4-FFF2-40B4-BE49-F238E27FC236}">
                <a16:creationId xmlns:a16="http://schemas.microsoft.com/office/drawing/2014/main" id="{25BCC40E-A070-4FAA-99FA-3854581F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名称/时间/地点</a:t>
            </a:r>
          </a:p>
        </p:txBody>
      </p:sp>
      <p:sp>
        <p:nvSpPr>
          <p:cNvPr id="9" name="shape-828">
            <a:extLst xmlns:a="http://schemas.openxmlformats.org/drawingml/2006/main">
              <a:ext uri="{FF2B5EF4-FFF2-40B4-BE49-F238E27FC236}">
                <a16:creationId xmlns:a16="http://schemas.microsoft.com/office/drawing/2014/main" id="{EF4AFA90-8094-44DC-B7CD-7F2D0027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21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829">
            <a:extLst xmlns:a="http://schemas.openxmlformats.org/drawingml/2006/main">
              <a:ext uri="{FF2B5EF4-FFF2-40B4-BE49-F238E27FC236}">
                <a16:creationId xmlns:a16="http://schemas.microsoft.com/office/drawing/2014/main" id="{4C5FEFD9-7C54-4F5A-846F-EAA0E203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报名设置</a:t>
            </a:r>
          </a:p>
        </p:txBody>
      </p:sp>
      <p:sp>
        <p:nvSpPr>
          <p:cNvPr id="11" name="shape-830">
            <a:extLst xmlns:a="http://schemas.openxmlformats.org/drawingml/2006/main">
              <a:ext uri="{FF2B5EF4-FFF2-40B4-BE49-F238E27FC236}">
                <a16:creationId xmlns:a16="http://schemas.microsoft.com/office/drawing/2014/main" id="{3556BCDF-467F-4C09-8BB6-2DDE276E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56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模式/名额/时间</a:t>
            </a:r>
          </a:p>
        </p:txBody>
      </p:sp>
      <p:sp>
        <p:nvSpPr>
          <p:cNvPr id="12" name="shape-831">
            <a:extLst xmlns:a="http://schemas.openxmlformats.org/drawingml/2006/main">
              <a:ext uri="{FF2B5EF4-FFF2-40B4-BE49-F238E27FC236}">
                <a16:creationId xmlns:a16="http://schemas.microsoft.com/office/drawing/2014/main" id="{2F75F27D-A771-42D1-9988-2C605ED2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07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-832">
            <a:extLst xmlns:a="http://schemas.openxmlformats.org/drawingml/2006/main">
              <a:ext uri="{FF2B5EF4-FFF2-40B4-BE49-F238E27FC236}">
                <a16:creationId xmlns:a16="http://schemas.microsoft.com/office/drawing/2014/main" id="{C79FEC1D-67C4-4CC0-97F3-A832D011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42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取消候补</a:t>
            </a:r>
          </a:p>
        </p:txBody>
      </p:sp>
      <p:sp>
        <p:nvSpPr>
          <p:cNvPr id="14" name="shape-833">
            <a:extLst xmlns:a="http://schemas.openxmlformats.org/drawingml/2006/main">
              <a:ext uri="{FF2B5EF4-FFF2-40B4-BE49-F238E27FC236}">
                <a16:creationId xmlns:a16="http://schemas.microsoft.com/office/drawing/2014/main" id="{B8B5DF34-4289-4B5C-943D-AE315F6F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42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截止/确认期限</a:t>
            </a:r>
          </a:p>
        </p:txBody>
      </p:sp>
      <p:sp>
        <p:nvSpPr>
          <p:cNvPr id="15" name="shape-834">
            <a:extLst xmlns:a="http://schemas.openxmlformats.org/drawingml/2006/main">
              <a:ext uri="{FF2B5EF4-FFF2-40B4-BE49-F238E27FC236}">
                <a16:creationId xmlns:a16="http://schemas.microsoft.com/office/drawing/2014/main" id="{B6335346-3A66-49D0-8C38-2D7FD59D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93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-835">
            <a:extLst xmlns:a="http://schemas.openxmlformats.org/drawingml/2006/main">
              <a:ext uri="{FF2B5EF4-FFF2-40B4-BE49-F238E27FC236}">
                <a16:creationId xmlns:a16="http://schemas.microsoft.com/office/drawing/2014/main" id="{2B562B0A-A639-4EA5-B263-E9649DDB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28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自定义问题</a:t>
            </a:r>
          </a:p>
        </p:txBody>
      </p:sp>
      <p:sp>
        <p:nvSpPr>
          <p:cNvPr id="17" name="shape-836">
            <a:extLst xmlns:a="http://schemas.openxmlformats.org/drawingml/2006/main">
              <a:ext uri="{FF2B5EF4-FFF2-40B4-BE49-F238E27FC236}">
                <a16:creationId xmlns:a16="http://schemas.microsoft.com/office/drawing/2014/main" id="{521B9AF5-A383-4F37-824F-860AB6CD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28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最多5个</a:t>
            </a:r>
          </a:p>
        </p:txBody>
      </p:sp>
      <p:sp>
        <p:nvSpPr>
          <p:cNvPr id="18" name="shape-837">
            <a:extLst xmlns:a="http://schemas.openxmlformats.org/drawingml/2006/main">
              <a:ext uri="{FF2B5EF4-FFF2-40B4-BE49-F238E27FC236}">
                <a16:creationId xmlns:a16="http://schemas.microsoft.com/office/drawing/2014/main" id="{B7EE1CD5-CE2E-4C15-9232-05E664B5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79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-838">
            <a:extLst xmlns:a="http://schemas.openxmlformats.org/drawingml/2006/main">
              <a:ext uri="{FF2B5EF4-FFF2-40B4-BE49-F238E27FC236}">
                <a16:creationId xmlns:a16="http://schemas.microsoft.com/office/drawing/2014/main" id="{FF39F4B3-A4DA-4D4D-BCBA-CF41B463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14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签到设置</a:t>
            </a:r>
          </a:p>
        </p:txBody>
      </p:sp>
      <p:sp>
        <p:nvSpPr>
          <p:cNvPr id="20" name="shape-839">
            <a:extLst xmlns:a="http://schemas.openxmlformats.org/drawingml/2006/main">
              <a:ext uri="{FF2B5EF4-FFF2-40B4-BE49-F238E27FC236}">
                <a16:creationId xmlns:a16="http://schemas.microsoft.com/office/drawing/2014/main" id="{82F3A1B9-4361-4ED4-A324-F8A52BEA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14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开放时间</a:t>
            </a:r>
          </a:p>
        </p:txBody>
      </p:sp>
      <p:sp>
        <p:nvSpPr>
          <p:cNvPr id="21" name="shape-840">
            <a:extLst xmlns:a="http://schemas.openxmlformats.org/drawingml/2006/main">
              <a:ext uri="{FF2B5EF4-FFF2-40B4-BE49-F238E27FC236}">
                <a16:creationId xmlns:a16="http://schemas.microsoft.com/office/drawing/2014/main" id="{5451A81B-463B-479E-936C-F37C9C14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-841">
            <a:extLst xmlns:a="http://schemas.openxmlformats.org/drawingml/2006/main">
              <a:ext uri="{FF2B5EF4-FFF2-40B4-BE49-F238E27FC236}">
                <a16:creationId xmlns:a16="http://schemas.microsoft.com/office/drawing/2014/main" id="{C3794D73-667C-4666-9803-6A987224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预览发布</a:t>
            </a:r>
          </a:p>
        </p:txBody>
      </p:sp>
      <p:sp>
        <p:nvSpPr>
          <p:cNvPr id="23" name="shape-842">
            <a:extLst xmlns:a="http://schemas.openxmlformats.org/drawingml/2006/main">
              <a:ext uri="{FF2B5EF4-FFF2-40B4-BE49-F238E27FC236}">
                <a16:creationId xmlns:a16="http://schemas.microsoft.com/office/drawing/2014/main" id="{94D0D5A2-231D-4A57-92FB-490C8E22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检查清单</a:t>
            </a:r>
          </a:p>
        </p:txBody>
      </p:sp>
      <p:sp>
        <p:nvSpPr>
          <p:cNvPr id="24" name="shape-843">
            <a:extLst xmlns:a="http://schemas.openxmlformats.org/drawingml/2006/main">
              <a:ext uri="{FF2B5EF4-FFF2-40B4-BE49-F238E27FC236}">
                <a16:creationId xmlns:a16="http://schemas.microsoft.com/office/drawing/2014/main" id="{4AAE02D4-C101-4D51-9ABD-4BB20428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检查时间关系、容量、候补期限、问题选项和取消规则。发布后关键字段只能通过活动变更流程修改。</a:t>
            </a:r>
          </a:p>
        </p:txBody>
      </p:sp>
    </p:spTree>
    <p:extLst>
      <p:ext uri="{BB962C8B-B14F-4D97-AF65-F5344CB8AC3E}">
        <p14:creationId xmlns:p14="http://schemas.microsoft.com/office/powerpoint/2010/main" val="148287831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-844">
            <a:extLst xmlns:a="http://schemas.openxmlformats.org/drawingml/2006/main">
              <a:ext uri="{FF2B5EF4-FFF2-40B4-BE49-F238E27FC236}">
                <a16:creationId xmlns:a16="http://schemas.microsoft.com/office/drawing/2014/main" id="{2E403696-70B1-44AA-AD1E-6C4D7951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前端体验</a:t>
            </a:r>
          </a:p>
        </p:txBody>
      </p:sp>
      <p:sp>
        <p:nvSpPr>
          <p:cNvPr id="2" name="shape-845">
            <a:extLst xmlns:a="http://schemas.openxmlformats.org/drawingml/2006/main">
              <a:ext uri="{FF2B5EF4-FFF2-40B4-BE49-F238E27FC236}">
                <a16:creationId xmlns:a16="http://schemas.microsoft.com/office/drawing/2014/main" id="{BCFF9D0D-5FF3-469A-A8A6-4326514E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名单管理既要高效，也要保护公平</a:t>
            </a:r>
          </a:p>
        </p:txBody>
      </p:sp>
      <p:cxnSp>
        <p:nvCxnSpPr>
          <p:cNvPr id="13" name="shape-846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847">
            <a:extLst xmlns:a="http://schemas.openxmlformats.org/drawingml/2006/main">
              <a:ext uri="{FF2B5EF4-FFF2-40B4-BE49-F238E27FC236}">
                <a16:creationId xmlns:a16="http://schemas.microsoft.com/office/drawing/2014/main" id="{2E169B09-4F67-4452-A79D-9362935D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5" name="shape-848">
            <a:extLst xmlns:a="http://schemas.openxmlformats.org/drawingml/2006/main">
              <a:ext uri="{FF2B5EF4-FFF2-40B4-BE49-F238E27FC236}">
                <a16:creationId xmlns:a16="http://schemas.microsoft.com/office/drawing/2014/main" id="{83B01BA6-EF40-470D-9853-41CDCF2A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负责人视图</a:t>
            </a:r>
          </a:p>
        </p:txBody>
      </p:sp>
      <p:sp>
        <p:nvSpPr>
          <p:cNvPr id="6" name="shape-849">
            <a:extLst xmlns:a="http://schemas.openxmlformats.org/drawingml/2006/main">
              <a:ext uri="{FF2B5EF4-FFF2-40B4-BE49-F238E27FC236}">
                <a16:creationId xmlns:a16="http://schemas.microsoft.com/office/drawing/2014/main" id="{5C328B74-5021-4813-B844-A1307A7E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已确认、待审核、候补、已取消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已签到和未到场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审核答案：通过/候选池/拒绝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查看报名者必要资料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操作写入审计日志</a:t>
            </a:r>
          </a:p>
        </p:txBody>
      </p:sp>
      <p:sp>
        <p:nvSpPr>
          <p:cNvPr id="7" name="shape-850">
            <a:extLst xmlns:a="http://schemas.openxmlformats.org/drawingml/2006/main">
              <a:ext uri="{FF2B5EF4-FFF2-40B4-BE49-F238E27FC236}">
                <a16:creationId xmlns:a16="http://schemas.microsoft.com/office/drawing/2014/main" id="{24DBB26C-67A9-4F59-989D-CBE61474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4288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851">
            <a:extLst xmlns:a="http://schemas.openxmlformats.org/drawingml/2006/main">
              <a:ext uri="{FF2B5EF4-FFF2-40B4-BE49-F238E27FC236}">
                <a16:creationId xmlns:a16="http://schemas.microsoft.com/office/drawing/2014/main" id="{F92F330B-712A-4D1F-9933-07667081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成员可见范围</a:t>
            </a:r>
          </a:p>
        </p:txBody>
      </p:sp>
      <p:sp>
        <p:nvSpPr>
          <p:cNvPr id="9" name="shape-852">
            <a:extLst xmlns:a="http://schemas.openxmlformats.org/drawingml/2006/main">
              <a:ext uri="{FF2B5EF4-FFF2-40B4-BE49-F238E27FC236}">
                <a16:creationId xmlns:a16="http://schemas.microsoft.com/office/drawing/2014/main" id="{8F30730D-6DA6-494D-8BF9-07838F9D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活动规则和人数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自己的报名状态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自己的候补位次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看不到其他候补者姓名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看不到他人联系方式</a:t>
            </a:r>
          </a:p>
        </p:txBody>
      </p:sp>
      <p:sp>
        <p:nvSpPr>
          <p:cNvPr id="10" name="shape-853">
            <a:extLst xmlns:a="http://schemas.openxmlformats.org/drawingml/2006/main">
              <a:ext uri="{FF2B5EF4-FFF2-40B4-BE49-F238E27FC236}">
                <a16:creationId xmlns:a16="http://schemas.microsoft.com/office/drawing/2014/main" id="{21A5A914-6E5C-43FC-8840-69696C47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FIRST_COME不支持拖拽改队列；REVIEW允许负责人从候选池选择递补。</a:t>
            </a:r>
          </a:p>
        </p:txBody>
      </p:sp>
    </p:spTree>
    <p:extLst>
      <p:ext uri="{BB962C8B-B14F-4D97-AF65-F5344CB8AC3E}">
        <p14:creationId xmlns:p14="http://schemas.microsoft.com/office/powerpoint/2010/main" val="60911688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-854">
            <a:extLst xmlns:a="http://schemas.openxmlformats.org/drawingml/2006/main">
              <a:ext uri="{FF2B5EF4-FFF2-40B4-BE49-F238E27FC236}">
                <a16:creationId xmlns:a16="http://schemas.microsoft.com/office/drawing/2014/main" id="{0AB385D6-9766-454E-ABB4-57B7549D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前端体验</a:t>
            </a:r>
          </a:p>
        </p:txBody>
      </p:sp>
      <p:sp>
        <p:nvSpPr>
          <p:cNvPr id="2" name="shape-855">
            <a:extLst xmlns:a="http://schemas.openxmlformats.org/drawingml/2006/main">
              <a:ext uri="{FF2B5EF4-FFF2-40B4-BE49-F238E27FC236}">
                <a16:creationId xmlns:a16="http://schemas.microsoft.com/office/drawing/2014/main" id="{2D5B9226-495D-422A-98BC-180FD20E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现场签到和通知中心解决两个高频时刻</a:t>
            </a:r>
          </a:p>
        </p:txBody>
      </p:sp>
      <p:cxnSp>
        <p:nvCxnSpPr>
          <p:cNvPr id="14" name="shape-856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857">
            <a:extLst xmlns:a="http://schemas.openxmlformats.org/drawingml/2006/main">
              <a:ext uri="{FF2B5EF4-FFF2-40B4-BE49-F238E27FC236}">
                <a16:creationId xmlns:a16="http://schemas.microsoft.com/office/drawing/2014/main" id="{163B3477-3EC1-4B6B-ADF4-C395A10E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5" name="shape-858">
            <a:extLst xmlns:a="http://schemas.openxmlformats.org/drawingml/2006/main">
              <a:ext uri="{FF2B5EF4-FFF2-40B4-BE49-F238E27FC236}">
                <a16:creationId xmlns:a16="http://schemas.microsoft.com/office/drawing/2014/main" id="{798F041C-A287-44B1-9D28-21FD1EF0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现场签到</a:t>
            </a:r>
          </a:p>
        </p:txBody>
      </p:sp>
      <p:sp>
        <p:nvSpPr>
          <p:cNvPr id="6" name="shape-859">
            <a:extLst xmlns:a="http://schemas.openxmlformats.org/drawingml/2006/main">
              <a:ext uri="{FF2B5EF4-FFF2-40B4-BE49-F238E27FC236}">
                <a16:creationId xmlns:a16="http://schemas.microsoft.com/office/drawing/2014/main" id="{FF392A15-EBF2-4572-931F-3CAAB9AD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5143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860">
            <a:extLst xmlns:a="http://schemas.openxmlformats.org/drawingml/2006/main">
              <a:ext uri="{FF2B5EF4-FFF2-40B4-BE49-F238E27FC236}">
                <a16:creationId xmlns:a16="http://schemas.microsoft.com/office/drawing/2014/main" id="{058D99EF-652F-4476-BF85-74BE4CE9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4667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动态二维码与剩余时间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已签到/应到人数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最近5条签到记录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姓名或学号搜索补签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人工补签必须填写原因</a:t>
            </a:r>
          </a:p>
        </p:txBody>
      </p:sp>
      <p:sp>
        <p:nvSpPr>
          <p:cNvPr id="8" name="shape-861">
            <a:extLst xmlns:a="http://schemas.openxmlformats.org/drawingml/2006/main">
              <a:ext uri="{FF2B5EF4-FFF2-40B4-BE49-F238E27FC236}">
                <a16:creationId xmlns:a16="http://schemas.microsoft.com/office/drawing/2014/main" id="{C51F9A5D-6ADD-48A4-B6B0-F34A3A23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通知中心</a:t>
            </a:r>
          </a:p>
        </p:txBody>
      </p:sp>
      <p:sp>
        <p:nvSpPr>
          <p:cNvPr id="9" name="shape-862">
            <a:extLst xmlns:a="http://schemas.openxmlformats.org/drawingml/2006/main">
              <a:ext uri="{FF2B5EF4-FFF2-40B4-BE49-F238E27FC236}">
                <a16:creationId xmlns:a16="http://schemas.microsoft.com/office/drawing/2014/main" id="{7B7335BC-B640-4CA4-B615-AD6A8316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5143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863">
            <a:extLst xmlns:a="http://schemas.openxmlformats.org/drawingml/2006/main">
              <a:ext uri="{FF2B5EF4-FFF2-40B4-BE49-F238E27FC236}">
                <a16:creationId xmlns:a16="http://schemas.microsoft.com/office/drawing/2014/main" id="{7D0AB91A-A0E5-4855-83FC-08569809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667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报名结果、候补邀请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活动变更、签到提醒、系统通知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高优先级候补和取消样式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变更前后内容同时展示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数据库通知是最终依据</a:t>
            </a:r>
          </a:p>
        </p:txBody>
      </p:sp>
      <p:sp>
        <p:nvSpPr>
          <p:cNvPr id="11" name="shape-864">
            <a:extLst xmlns:a="http://schemas.openxmlformats.org/drawingml/2006/main">
              <a:ext uri="{FF2B5EF4-FFF2-40B4-BE49-F238E27FC236}">
                <a16:creationId xmlns:a16="http://schemas.microsoft.com/office/drawing/2014/main" id="{9A0CB07B-64D1-400A-AC76-47B10374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991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第一版使用轮询；聊天室阶段再统一引入WebSocket。</a:t>
            </a:r>
          </a:p>
        </p:txBody>
      </p:sp>
    </p:spTree>
    <p:extLst>
      <p:ext uri="{BB962C8B-B14F-4D97-AF65-F5344CB8AC3E}">
        <p14:creationId xmlns:p14="http://schemas.microsoft.com/office/powerpoint/2010/main" val="257060326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865">
            <a:extLst xmlns:a="http://schemas.openxmlformats.org/drawingml/2006/main">
              <a:ext uri="{FF2B5EF4-FFF2-40B4-BE49-F238E27FC236}">
                <a16:creationId xmlns:a16="http://schemas.microsoft.com/office/drawing/2014/main" id="{7AA1E690-440C-4F24-BBEB-363AA0F1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前端体验</a:t>
            </a:r>
          </a:p>
        </p:txBody>
      </p:sp>
      <p:sp>
        <p:nvSpPr>
          <p:cNvPr id="2" name="shape-866">
            <a:extLst xmlns:a="http://schemas.openxmlformats.org/drawingml/2006/main">
              <a:ext uri="{FF2B5EF4-FFF2-40B4-BE49-F238E27FC236}">
                <a16:creationId xmlns:a16="http://schemas.microsoft.com/office/drawing/2014/main" id="{2AE52F11-9568-4810-AF6D-3E005B6A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前端状态要克制，也要覆盖失败路径</a:t>
            </a:r>
          </a:p>
        </p:txBody>
      </p:sp>
      <p:cxnSp>
        <p:nvCxnSpPr>
          <p:cNvPr id="12" name="shape-867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868">
            <a:extLst xmlns:a="http://schemas.openxmlformats.org/drawingml/2006/main">
              <a:ext uri="{FF2B5EF4-FFF2-40B4-BE49-F238E27FC236}">
                <a16:creationId xmlns:a16="http://schemas.microsoft.com/office/drawing/2014/main" id="{CCB9AC72-FFD2-4FCC-B600-FF98C8D7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5" name="shape-869">
            <a:extLst xmlns:a="http://schemas.openxmlformats.org/drawingml/2006/main">
              <a:ext uri="{FF2B5EF4-FFF2-40B4-BE49-F238E27FC236}">
                <a16:creationId xmlns:a16="http://schemas.microsoft.com/office/drawing/2014/main" id="{79AB4FAA-B2E7-4F99-8C3F-9D2C4A6B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状态管理与请求</a:t>
            </a:r>
          </a:p>
        </p:txBody>
      </p:sp>
      <p:sp>
        <p:nvSpPr>
          <p:cNvPr id="6" name="shape-870">
            <a:extLst xmlns:a="http://schemas.openxmlformats.org/drawingml/2006/main">
              <a:ext uri="{FF2B5EF4-FFF2-40B4-BE49-F238E27FC236}">
                <a16:creationId xmlns:a16="http://schemas.microsoft.com/office/drawing/2014/main" id="{4002E8DE-5100-473A-9BB0-82980A58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Pinia只存用户、组织、登录状态、未读数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表单、查询和弹窗留在组件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Axios附加Access Token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过期只尝试刷新一次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刷新失败跳转登录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统一转换错误并携带requestId</a:t>
            </a:r>
          </a:p>
        </p:txBody>
      </p:sp>
      <p:sp>
        <p:nvSpPr>
          <p:cNvPr id="7" name="shape-871">
            <a:extLst xmlns:a="http://schemas.openxmlformats.org/drawingml/2006/main">
              <a:ext uri="{FF2B5EF4-FFF2-40B4-BE49-F238E27FC236}">
                <a16:creationId xmlns:a16="http://schemas.microsoft.com/office/drawing/2014/main" id="{8D7F5F33-82F1-42A2-B509-B742FB2E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4288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872">
            <a:extLst xmlns:a="http://schemas.openxmlformats.org/drawingml/2006/main">
              <a:ext uri="{FF2B5EF4-FFF2-40B4-BE49-F238E27FC236}">
                <a16:creationId xmlns:a16="http://schemas.microsoft.com/office/drawing/2014/main" id="{6C9AECB7-B44D-450D-9EAF-78FB0831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每个核心页面必须有</a:t>
            </a:r>
          </a:p>
        </p:txBody>
      </p:sp>
      <p:sp>
        <p:nvSpPr>
          <p:cNvPr id="9" name="shape-873">
            <a:extLst xmlns:a="http://schemas.openxmlformats.org/drawingml/2006/main">
              <a:ext uri="{FF2B5EF4-FFF2-40B4-BE49-F238E27FC236}">
                <a16:creationId xmlns:a16="http://schemas.microsoft.com/office/drawing/2014/main" id="{10639E6B-331D-467C-AB5B-AC60AE6F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加载中、空数据、请求失败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权限不足、活动不存在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网络断开、重复提交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并发后状态已改变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路由守卫只改善体验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真正权限仍由后端判断</a:t>
            </a:r>
          </a:p>
        </p:txBody>
      </p:sp>
    </p:spTree>
    <p:extLst>
      <p:ext uri="{BB962C8B-B14F-4D97-AF65-F5344CB8AC3E}">
        <p14:creationId xmlns:p14="http://schemas.microsoft.com/office/powerpoint/2010/main" val="1526244323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874">
            <a:extLst xmlns:a="http://schemas.openxmlformats.org/drawingml/2006/main">
              <a:ext uri="{FF2B5EF4-FFF2-40B4-BE49-F238E27FC236}">
                <a16:creationId xmlns:a16="http://schemas.microsoft.com/office/drawing/2014/main" id="{E4210D6A-2D8B-4210-BCC3-6F8D559C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PART 7</a:t>
            </a:r>
          </a:p>
        </p:txBody>
      </p:sp>
      <p:sp>
        <p:nvSpPr>
          <p:cNvPr id="2" name="shape-875">
            <a:extLst xmlns:a="http://schemas.openxmlformats.org/drawingml/2006/main">
              <a:ext uri="{FF2B5EF4-FFF2-40B4-BE49-F238E27FC236}">
                <a16:creationId xmlns:a16="http://schemas.microsoft.com/office/drawing/2014/main" id="{16692842-F0A2-487E-923D-25C3627B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52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测试、监控、部署与真实验收</a:t>
            </a:r>
          </a:p>
        </p:txBody>
      </p:sp>
      <p:sp>
        <p:nvSpPr>
          <p:cNvPr id="3" name="shape-876">
            <a:extLst xmlns:a="http://schemas.openxmlformats.org/drawingml/2006/main">
              <a:ext uri="{FF2B5EF4-FFF2-40B4-BE49-F238E27FC236}">
                <a16:creationId xmlns:a16="http://schemas.microsoft.com/office/drawing/2014/main" id="{8D9794CB-B5EF-447C-930F-58E6DCEF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能运行只是起点；可验证、可恢复、可观察才是工程项目。</a:t>
            </a:r>
          </a:p>
        </p:txBody>
      </p:sp>
      <p:cxnSp>
        <p:nvCxnSpPr>
          <p:cNvPr id="9" name="shape-877"/>
          <p:cNvCxnSpPr/>
          <p:nvPr/>
        </p:nvCxnSpPr>
        <p:spPr>
          <a:xfrm xmlns:a="http://schemas.openxmlformats.org/drawingml/2006/main">
            <a:off x="400050" y="57150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5" name="shape-878">
            <a:extLst xmlns:a="http://schemas.openxmlformats.org/drawingml/2006/main">
              <a:ext uri="{FF2B5EF4-FFF2-40B4-BE49-F238E27FC236}">
                <a16:creationId xmlns:a16="http://schemas.microsoft.com/office/drawing/2014/main" id="{080C2F86-7362-4C40-AC1E-F6DA7F9D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9626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53383017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hape-879">
            <a:extLst xmlns:a="http://schemas.openxmlformats.org/drawingml/2006/main">
              <a:ext uri="{FF2B5EF4-FFF2-40B4-BE49-F238E27FC236}">
                <a16:creationId xmlns:a16="http://schemas.microsoft.com/office/drawing/2014/main" id="{7DBBF02C-DAD7-4F55-9E0F-F6B0B41A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验证上线</a:t>
            </a:r>
          </a:p>
        </p:txBody>
      </p:sp>
      <p:sp>
        <p:nvSpPr>
          <p:cNvPr id="2" name="shape-880">
            <a:extLst xmlns:a="http://schemas.openxmlformats.org/drawingml/2006/main">
              <a:ext uri="{FF2B5EF4-FFF2-40B4-BE49-F238E27FC236}">
                <a16:creationId xmlns:a16="http://schemas.microsoft.com/office/drawing/2014/main" id="{D1A78557-A427-4A80-B48B-44F5737E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六层测试各自验证不同风险</a:t>
            </a:r>
          </a:p>
        </p:txBody>
      </p:sp>
      <p:cxnSp>
        <p:nvCxnSpPr>
          <p:cNvPr id="50" name="shape-881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882">
            <a:extLst xmlns:a="http://schemas.openxmlformats.org/drawingml/2006/main">
              <a:ext uri="{FF2B5EF4-FFF2-40B4-BE49-F238E27FC236}">
                <a16:creationId xmlns:a16="http://schemas.microsoft.com/office/drawing/2014/main" id="{23E10B15-4EAF-44E7-9DD8-BF338BB0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5" name="shape-883">
            <a:extLst xmlns:a="http://schemas.openxmlformats.org/drawingml/2006/main">
              <a:ext uri="{FF2B5EF4-FFF2-40B4-BE49-F238E27FC236}">
                <a16:creationId xmlns:a16="http://schemas.microsoft.com/office/drawing/2014/main" id="{B26E78E5-81A7-4DD4-8930-7CEF2744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95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核心领域建议约80%分支覆盖率；测试使用工厂数据，不能使用真实同学资料。</a:t>
            </a:r>
          </a:p>
        </p:txBody>
      </p:sp>
      <p:sp>
        <p:nvSpPr>
          <p:cNvPr id="6" name="shape-884">
            <a:extLst xmlns:a="http://schemas.openxmlformats.org/drawingml/2006/main">
              <a:ext uri="{FF2B5EF4-FFF2-40B4-BE49-F238E27FC236}">
                <a16:creationId xmlns:a16="http://schemas.microsoft.com/office/drawing/2014/main" id="{E3F85D27-15F9-414F-918B-607C16F7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04932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shape-885">
            <a:extLst xmlns:a="http://schemas.openxmlformats.org/drawingml/2006/main">
              <a:ext uri="{FF2B5EF4-FFF2-40B4-BE49-F238E27FC236}">
                <a16:creationId xmlns:a16="http://schemas.microsoft.com/office/drawing/2014/main" id="{C65A3CC7-28F2-4A1B-B2CA-22D69454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71700"/>
            <a:ext cx="1896928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层级</a:t>
            </a:r>
          </a:p>
        </p:txBody>
      </p:sp>
      <p:sp>
        <p:nvSpPr>
          <p:cNvPr id="8" name="shape-886">
            <a:extLst xmlns:a="http://schemas.openxmlformats.org/drawingml/2006/main">
              <a:ext uri="{FF2B5EF4-FFF2-40B4-BE49-F238E27FC236}">
                <a16:creationId xmlns:a16="http://schemas.microsoft.com/office/drawing/2014/main" id="{BC7DDA41-F76D-482A-9CB0-E395473F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378" y="2095500"/>
            <a:ext cx="316714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shape-887">
            <a:extLst xmlns:a="http://schemas.openxmlformats.org/drawingml/2006/main">
              <a:ext uri="{FF2B5EF4-FFF2-40B4-BE49-F238E27FC236}">
                <a16:creationId xmlns:a16="http://schemas.microsoft.com/office/drawing/2014/main" id="{DCD75FE7-1778-4D58-B42B-F6C62C1C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578" y="2171700"/>
            <a:ext cx="301474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10" name="shape-888">
            <a:extLst xmlns:a="http://schemas.openxmlformats.org/drawingml/2006/main">
              <a:ext uri="{FF2B5EF4-FFF2-40B4-BE49-F238E27FC236}">
                <a16:creationId xmlns:a16="http://schemas.microsoft.com/office/drawing/2014/main" id="{5A1942CE-3E7B-4DCF-AE57-8FCD8B55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521" y="2095500"/>
            <a:ext cx="5775379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shape-889">
            <a:extLst xmlns:a="http://schemas.openxmlformats.org/drawingml/2006/main">
              <a:ext uri="{FF2B5EF4-FFF2-40B4-BE49-F238E27FC236}">
                <a16:creationId xmlns:a16="http://schemas.microsoft.com/office/drawing/2014/main" id="{A85F8D93-C844-483A-948F-42E31F54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721" y="2171700"/>
            <a:ext cx="5622979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重点</a:t>
            </a:r>
          </a:p>
        </p:txBody>
      </p:sp>
      <p:sp>
        <p:nvSpPr>
          <p:cNvPr id="12" name="shape-890">
            <a:extLst xmlns:a="http://schemas.openxmlformats.org/drawingml/2006/main">
              <a:ext uri="{FF2B5EF4-FFF2-40B4-BE49-F238E27FC236}">
                <a16:creationId xmlns:a16="http://schemas.microsoft.com/office/drawing/2014/main" id="{F69F84DC-AE79-4E7B-AF16-E070AB2A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204932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hape-891">
            <a:extLst xmlns:a="http://schemas.openxmlformats.org/drawingml/2006/main">
              <a:ext uri="{FF2B5EF4-FFF2-40B4-BE49-F238E27FC236}">
                <a16:creationId xmlns:a16="http://schemas.microsoft.com/office/drawing/2014/main" id="{E9BAA7D1-1257-43EB-B4C3-296F2651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189692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单元测试</a:t>
            </a:r>
          </a:p>
        </p:txBody>
      </p:sp>
      <p:sp>
        <p:nvSpPr>
          <p:cNvPr id="14" name="shape-892">
            <a:extLst xmlns:a="http://schemas.openxmlformats.org/drawingml/2006/main">
              <a:ext uri="{FF2B5EF4-FFF2-40B4-BE49-F238E27FC236}">
                <a16:creationId xmlns:a16="http://schemas.microsoft.com/office/drawing/2014/main" id="{C8AF8A84-CDFF-4D65-A269-6007CA2B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378" y="2619375"/>
            <a:ext cx="316714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hape-893">
            <a:extLst xmlns:a="http://schemas.openxmlformats.org/drawingml/2006/main">
              <a:ext uri="{FF2B5EF4-FFF2-40B4-BE49-F238E27FC236}">
                <a16:creationId xmlns:a16="http://schemas.microsoft.com/office/drawing/2014/main" id="{5064FEAF-3725-4DAC-A9DC-70459304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578" y="2686050"/>
            <a:ext cx="3014743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JUnit 5 / Mockito</a:t>
            </a:r>
          </a:p>
        </p:txBody>
      </p:sp>
      <p:sp>
        <p:nvSpPr>
          <p:cNvPr id="16" name="shape-894">
            <a:extLst xmlns:a="http://schemas.openxmlformats.org/drawingml/2006/main">
              <a:ext uri="{FF2B5EF4-FFF2-40B4-BE49-F238E27FC236}">
                <a16:creationId xmlns:a16="http://schemas.microsoft.com/office/drawing/2014/main" id="{3529C253-FCA4-4172-BD5E-9B3D3721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521" y="2619375"/>
            <a:ext cx="5775379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hape-895">
            <a:extLst xmlns:a="http://schemas.openxmlformats.org/drawingml/2006/main">
              <a:ext uri="{FF2B5EF4-FFF2-40B4-BE49-F238E27FC236}">
                <a16:creationId xmlns:a16="http://schemas.microsoft.com/office/drawing/2014/main" id="{31F038F7-85E6-4C83-9D7A-920D5E23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721" y="2686050"/>
            <a:ext cx="5622979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报名、候补、取消、过期规则</a:t>
            </a:r>
          </a:p>
        </p:txBody>
      </p:sp>
      <p:sp>
        <p:nvSpPr>
          <p:cNvPr id="18" name="shape-896">
            <a:extLst xmlns:a="http://schemas.openxmlformats.org/drawingml/2006/main">
              <a:ext uri="{FF2B5EF4-FFF2-40B4-BE49-F238E27FC236}">
                <a16:creationId xmlns:a16="http://schemas.microsoft.com/office/drawing/2014/main" id="{AB66B1AC-36B1-4765-87FF-A3EF584A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204932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hape-897">
            <a:extLst xmlns:a="http://schemas.openxmlformats.org/drawingml/2006/main">
              <a:ext uri="{FF2B5EF4-FFF2-40B4-BE49-F238E27FC236}">
                <a16:creationId xmlns:a16="http://schemas.microsoft.com/office/drawing/2014/main" id="{7C3478CC-2E61-43D5-BE4B-965A973F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09925"/>
            <a:ext cx="189692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集成测试</a:t>
            </a:r>
          </a:p>
        </p:txBody>
      </p:sp>
      <p:sp>
        <p:nvSpPr>
          <p:cNvPr id="20" name="shape-898">
            <a:extLst xmlns:a="http://schemas.openxmlformats.org/drawingml/2006/main">
              <a:ext uri="{FF2B5EF4-FFF2-40B4-BE49-F238E27FC236}">
                <a16:creationId xmlns:a16="http://schemas.microsoft.com/office/drawing/2014/main" id="{FA317F65-80A7-4C02-8A18-9E4488BF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378" y="3143250"/>
            <a:ext cx="316714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hape-899">
            <a:extLst xmlns:a="http://schemas.openxmlformats.org/drawingml/2006/main">
              <a:ext uri="{FF2B5EF4-FFF2-40B4-BE49-F238E27FC236}">
                <a16:creationId xmlns:a16="http://schemas.microsoft.com/office/drawing/2014/main" id="{C14479FB-2DF4-4424-A658-371215A4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578" y="3209925"/>
            <a:ext cx="3014743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Spring Boot / MockMvc / Testcontainers</a:t>
            </a:r>
          </a:p>
        </p:txBody>
      </p:sp>
      <p:sp>
        <p:nvSpPr>
          <p:cNvPr id="22" name="shape-900">
            <a:extLst xmlns:a="http://schemas.openxmlformats.org/drawingml/2006/main">
              <a:ext uri="{FF2B5EF4-FFF2-40B4-BE49-F238E27FC236}">
                <a16:creationId xmlns:a16="http://schemas.microsoft.com/office/drawing/2014/main" id="{C592E327-CA14-42E6-88FC-9F5D116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521" y="3143250"/>
            <a:ext cx="5775379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hape-901">
            <a:extLst xmlns:a="http://schemas.openxmlformats.org/drawingml/2006/main">
              <a:ext uri="{FF2B5EF4-FFF2-40B4-BE49-F238E27FC236}">
                <a16:creationId xmlns:a16="http://schemas.microsoft.com/office/drawing/2014/main" id="{FCF3FD77-AF95-462C-945D-E1D030E3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721" y="3209925"/>
            <a:ext cx="5622979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MySQL、Redis、Kafka、事务</a:t>
            </a:r>
          </a:p>
        </p:txBody>
      </p:sp>
      <p:sp>
        <p:nvSpPr>
          <p:cNvPr id="24" name="shape-902">
            <a:extLst xmlns:a="http://schemas.openxmlformats.org/drawingml/2006/main">
              <a:ext uri="{FF2B5EF4-FFF2-40B4-BE49-F238E27FC236}">
                <a16:creationId xmlns:a16="http://schemas.microsoft.com/office/drawing/2014/main" id="{4B477A67-49CB-4084-B98E-88B0E8D5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204932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hape-903">
            <a:extLst xmlns:a="http://schemas.openxmlformats.org/drawingml/2006/main">
              <a:ext uri="{FF2B5EF4-FFF2-40B4-BE49-F238E27FC236}">
                <a16:creationId xmlns:a16="http://schemas.microsoft.com/office/drawing/2014/main" id="{D28ED0D0-45B1-4F78-B36B-20A3ED5B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189692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前端测试</a:t>
            </a:r>
          </a:p>
        </p:txBody>
      </p:sp>
      <p:sp>
        <p:nvSpPr>
          <p:cNvPr id="26" name="shape-904">
            <a:extLst xmlns:a="http://schemas.openxmlformats.org/drawingml/2006/main">
              <a:ext uri="{FF2B5EF4-FFF2-40B4-BE49-F238E27FC236}">
                <a16:creationId xmlns:a16="http://schemas.microsoft.com/office/drawing/2014/main" id="{9DB28A45-1AB4-4BC0-BDE0-9B2E3A9E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378" y="3667125"/>
            <a:ext cx="316714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hape-905">
            <a:extLst xmlns:a="http://schemas.openxmlformats.org/drawingml/2006/main">
              <a:ext uri="{FF2B5EF4-FFF2-40B4-BE49-F238E27FC236}">
                <a16:creationId xmlns:a16="http://schemas.microsoft.com/office/drawing/2014/main" id="{88051564-FD32-4577-80A1-6598B4CF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578" y="3733800"/>
            <a:ext cx="3014743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Vitest</a:t>
            </a:r>
          </a:p>
        </p:txBody>
      </p:sp>
      <p:sp>
        <p:nvSpPr>
          <p:cNvPr id="28" name="shape-906">
            <a:extLst xmlns:a="http://schemas.openxmlformats.org/drawingml/2006/main">
              <a:ext uri="{FF2B5EF4-FFF2-40B4-BE49-F238E27FC236}">
                <a16:creationId xmlns:a16="http://schemas.microsoft.com/office/drawing/2014/main" id="{ECC49D8B-2536-4087-807D-9F5B86C2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521" y="3667125"/>
            <a:ext cx="5775379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shape-907">
            <a:extLst xmlns:a="http://schemas.openxmlformats.org/drawingml/2006/main">
              <a:ext uri="{FF2B5EF4-FFF2-40B4-BE49-F238E27FC236}">
                <a16:creationId xmlns:a16="http://schemas.microsoft.com/office/drawing/2014/main" id="{8051C8B6-1E6B-4098-8B4D-69B7E717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721" y="3733800"/>
            <a:ext cx="5622979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表单校验和状态转换</a:t>
            </a:r>
          </a:p>
        </p:txBody>
      </p:sp>
      <p:sp>
        <p:nvSpPr>
          <p:cNvPr id="30" name="shape-908">
            <a:extLst xmlns:a="http://schemas.openxmlformats.org/drawingml/2006/main">
              <a:ext uri="{FF2B5EF4-FFF2-40B4-BE49-F238E27FC236}">
                <a16:creationId xmlns:a16="http://schemas.microsoft.com/office/drawing/2014/main" id="{E19E7DDB-6DAB-4CE2-AF52-3C19793A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04932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shape-909">
            <a:extLst xmlns:a="http://schemas.openxmlformats.org/drawingml/2006/main">
              <a:ext uri="{FF2B5EF4-FFF2-40B4-BE49-F238E27FC236}">
                <a16:creationId xmlns:a16="http://schemas.microsoft.com/office/drawing/2014/main" id="{22963747-3342-4CD9-8BEC-14D0048D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57675"/>
            <a:ext cx="189692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端到端</a:t>
            </a:r>
          </a:p>
        </p:txBody>
      </p:sp>
      <p:sp>
        <p:nvSpPr>
          <p:cNvPr id="32" name="shape-910">
            <a:extLst xmlns:a="http://schemas.openxmlformats.org/drawingml/2006/main">
              <a:ext uri="{FF2B5EF4-FFF2-40B4-BE49-F238E27FC236}">
                <a16:creationId xmlns:a16="http://schemas.microsoft.com/office/drawing/2014/main" id="{F7203585-F9A3-4879-A903-0A4AC9E0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378" y="4191000"/>
            <a:ext cx="316714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shape-911">
            <a:extLst xmlns:a="http://schemas.openxmlformats.org/drawingml/2006/main">
              <a:ext uri="{FF2B5EF4-FFF2-40B4-BE49-F238E27FC236}">
                <a16:creationId xmlns:a16="http://schemas.microsoft.com/office/drawing/2014/main" id="{077B8989-6761-45BA-B3AC-00324DB2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578" y="4257675"/>
            <a:ext cx="3014743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Playwright</a:t>
            </a:r>
          </a:p>
        </p:txBody>
      </p:sp>
      <p:sp>
        <p:nvSpPr>
          <p:cNvPr id="34" name="shape-912">
            <a:extLst xmlns:a="http://schemas.openxmlformats.org/drawingml/2006/main">
              <a:ext uri="{FF2B5EF4-FFF2-40B4-BE49-F238E27FC236}">
                <a16:creationId xmlns:a16="http://schemas.microsoft.com/office/drawing/2014/main" id="{1EE0F8E8-34D0-445B-B029-CA1CE993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521" y="4191000"/>
            <a:ext cx="5775379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shape-913">
            <a:extLst xmlns:a="http://schemas.openxmlformats.org/drawingml/2006/main">
              <a:ext uri="{FF2B5EF4-FFF2-40B4-BE49-F238E27FC236}">
                <a16:creationId xmlns:a16="http://schemas.microsoft.com/office/drawing/2014/main" id="{6572C666-98A0-41F1-99A9-401F6EB4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721" y="4257675"/>
            <a:ext cx="5622979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完整用户流程和移动端</a:t>
            </a:r>
          </a:p>
        </p:txBody>
      </p:sp>
      <p:sp>
        <p:nvSpPr>
          <p:cNvPr id="36" name="shape-914">
            <a:extLst xmlns:a="http://schemas.openxmlformats.org/drawingml/2006/main">
              <a:ext uri="{FF2B5EF4-FFF2-40B4-BE49-F238E27FC236}">
                <a16:creationId xmlns:a16="http://schemas.microsoft.com/office/drawing/2014/main" id="{1CD3C067-D9ED-43A2-B6F8-6370A814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204932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shape-915">
            <a:extLst xmlns:a="http://schemas.openxmlformats.org/drawingml/2006/main">
              <a:ext uri="{FF2B5EF4-FFF2-40B4-BE49-F238E27FC236}">
                <a16:creationId xmlns:a16="http://schemas.microsoft.com/office/drawing/2014/main" id="{FFD7D9E8-BFD6-4547-9E67-84DC47B3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81550"/>
            <a:ext cx="189692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性能测试</a:t>
            </a:r>
          </a:p>
        </p:txBody>
      </p:sp>
      <p:sp>
        <p:nvSpPr>
          <p:cNvPr id="38" name="shape-916">
            <a:extLst xmlns:a="http://schemas.openxmlformats.org/drawingml/2006/main">
              <a:ext uri="{FF2B5EF4-FFF2-40B4-BE49-F238E27FC236}">
                <a16:creationId xmlns:a16="http://schemas.microsoft.com/office/drawing/2014/main" id="{8F8A56A5-8FB0-4BDF-820D-2FAD3EE1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378" y="4714875"/>
            <a:ext cx="316714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shape-917">
            <a:extLst xmlns:a="http://schemas.openxmlformats.org/drawingml/2006/main">
              <a:ext uri="{FF2B5EF4-FFF2-40B4-BE49-F238E27FC236}">
                <a16:creationId xmlns:a16="http://schemas.microsoft.com/office/drawing/2014/main" id="{FB02F04D-943F-4339-9E0D-9C7FCD2B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578" y="4781550"/>
            <a:ext cx="3014743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k6</a:t>
            </a:r>
          </a:p>
        </p:txBody>
      </p:sp>
      <p:sp>
        <p:nvSpPr>
          <p:cNvPr id="40" name="shape-918">
            <a:extLst xmlns:a="http://schemas.openxmlformats.org/drawingml/2006/main">
              <a:ext uri="{FF2B5EF4-FFF2-40B4-BE49-F238E27FC236}">
                <a16:creationId xmlns:a16="http://schemas.microsoft.com/office/drawing/2014/main" id="{A8E8E99F-C968-483D-A28F-F3B9AC0B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521" y="4714875"/>
            <a:ext cx="5775379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shape-919">
            <a:extLst xmlns:a="http://schemas.openxmlformats.org/drawingml/2006/main">
              <a:ext uri="{FF2B5EF4-FFF2-40B4-BE49-F238E27FC236}">
                <a16:creationId xmlns:a16="http://schemas.microsoft.com/office/drawing/2014/main" id="{C1047B1E-8B3E-42CD-908A-036EC47C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721" y="4781550"/>
            <a:ext cx="5622979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集中报名、查询和签到</a:t>
            </a:r>
          </a:p>
        </p:txBody>
      </p:sp>
      <p:sp>
        <p:nvSpPr>
          <p:cNvPr id="42" name="shape-920">
            <a:extLst xmlns:a="http://schemas.openxmlformats.org/drawingml/2006/main">
              <a:ext uri="{FF2B5EF4-FFF2-40B4-BE49-F238E27FC236}">
                <a16:creationId xmlns:a16="http://schemas.microsoft.com/office/drawing/2014/main" id="{D41B92B9-B5D5-407A-89AC-5DB9EB83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204932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shape-921">
            <a:extLst xmlns:a="http://schemas.openxmlformats.org/drawingml/2006/main">
              <a:ext uri="{FF2B5EF4-FFF2-40B4-BE49-F238E27FC236}">
                <a16:creationId xmlns:a16="http://schemas.microsoft.com/office/drawing/2014/main" id="{2C607676-68D0-4F2D-93CE-4176E004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05425"/>
            <a:ext cx="189692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安全测试</a:t>
            </a:r>
          </a:p>
        </p:txBody>
      </p:sp>
      <p:sp>
        <p:nvSpPr>
          <p:cNvPr id="44" name="shape-922">
            <a:extLst xmlns:a="http://schemas.openxmlformats.org/drawingml/2006/main">
              <a:ext uri="{FF2B5EF4-FFF2-40B4-BE49-F238E27FC236}">
                <a16:creationId xmlns:a16="http://schemas.microsoft.com/office/drawing/2014/main" id="{FC784502-11EA-42DC-BA18-24E6A5B0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378" y="5238750"/>
            <a:ext cx="316714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shape-923">
            <a:extLst xmlns:a="http://schemas.openxmlformats.org/drawingml/2006/main">
              <a:ext uri="{FF2B5EF4-FFF2-40B4-BE49-F238E27FC236}">
                <a16:creationId xmlns:a16="http://schemas.microsoft.com/office/drawing/2014/main" id="{30EA81C7-648A-4EE1-900C-AD0CA070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578" y="5305425"/>
            <a:ext cx="3014743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自动化 + 人工</a:t>
            </a:r>
          </a:p>
        </p:txBody>
      </p:sp>
      <p:sp>
        <p:nvSpPr>
          <p:cNvPr id="46" name="shape-924">
            <a:extLst xmlns:a="http://schemas.openxmlformats.org/drawingml/2006/main">
              <a:ext uri="{FF2B5EF4-FFF2-40B4-BE49-F238E27FC236}">
                <a16:creationId xmlns:a16="http://schemas.microsoft.com/office/drawing/2014/main" id="{AE607189-9FE5-4237-93D9-9B36F6F6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6521" y="5238750"/>
            <a:ext cx="5775379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shape-925">
            <a:extLst xmlns:a="http://schemas.openxmlformats.org/drawingml/2006/main">
              <a:ext uri="{FF2B5EF4-FFF2-40B4-BE49-F238E27FC236}">
                <a16:creationId xmlns:a16="http://schemas.microsoft.com/office/drawing/2014/main" id="{779D158F-A054-4462-8435-71F5FD69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721" y="5305425"/>
            <a:ext cx="5622979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认证、IDOR、注入、隐私</a:t>
            </a:r>
          </a:p>
        </p:txBody>
      </p:sp>
    </p:spTree>
    <p:extLst>
      <p:ext uri="{BB962C8B-B14F-4D97-AF65-F5344CB8AC3E}">
        <p14:creationId xmlns:p14="http://schemas.microsoft.com/office/powerpoint/2010/main" val="1285962393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926">
            <a:extLst xmlns:a="http://schemas.openxmlformats.org/drawingml/2006/main">
              <a:ext uri="{FF2B5EF4-FFF2-40B4-BE49-F238E27FC236}">
                <a16:creationId xmlns:a16="http://schemas.microsoft.com/office/drawing/2014/main" id="{03409804-0EBB-433B-BFB4-CE6F6FE9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验证上线</a:t>
            </a:r>
          </a:p>
        </p:txBody>
      </p:sp>
      <p:sp>
        <p:nvSpPr>
          <p:cNvPr id="2" name="shape-927">
            <a:extLst xmlns:a="http://schemas.openxmlformats.org/drawingml/2006/main">
              <a:ext uri="{FF2B5EF4-FFF2-40B4-BE49-F238E27FC236}">
                <a16:creationId xmlns:a16="http://schemas.microsoft.com/office/drawing/2014/main" id="{7438C7F9-7547-4C9B-A9B2-0D2E6E3B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核心测试优先覆盖边界与状态冲突</a:t>
            </a:r>
          </a:p>
        </p:txBody>
      </p:sp>
      <p:cxnSp>
        <p:nvCxnSpPr>
          <p:cNvPr id="12" name="shape-928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929">
            <a:extLst xmlns:a="http://schemas.openxmlformats.org/drawingml/2006/main">
              <a:ext uri="{FF2B5EF4-FFF2-40B4-BE49-F238E27FC236}">
                <a16:creationId xmlns:a16="http://schemas.microsoft.com/office/drawing/2014/main" id="{1C970BCB-D2E2-4D4F-A222-5242BA4F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5" name="shape-930">
            <a:extLst xmlns:a="http://schemas.openxmlformats.org/drawingml/2006/main">
              <a:ext uri="{FF2B5EF4-FFF2-40B4-BE49-F238E27FC236}">
                <a16:creationId xmlns:a16="http://schemas.microsoft.com/office/drawing/2014/main" id="{3884CF39-3E76-4A3D-BDB3-94D19DAB5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领域规则</a:t>
            </a:r>
          </a:p>
        </p:txBody>
      </p:sp>
      <p:sp>
        <p:nvSpPr>
          <p:cNvPr id="6" name="shape-931">
            <a:extLst xmlns:a="http://schemas.openxmlformats.org/drawingml/2006/main">
              <a:ext uri="{FF2B5EF4-FFF2-40B4-BE49-F238E27FC236}">
                <a16:creationId xmlns:a16="http://schemas.microsoft.com/office/drawing/2014/main" id="{82C36277-2EEC-42A5-B8D6-B979D444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最后一个名额正确确认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满员后进入候补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重复点击不产生第二条记录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截止或取消后不能报名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迟取消记录原因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审核模式不误走自动递补</a:t>
            </a:r>
          </a:p>
        </p:txBody>
      </p:sp>
      <p:sp>
        <p:nvSpPr>
          <p:cNvPr id="7" name="shape-932">
            <a:extLst xmlns:a="http://schemas.openxmlformats.org/drawingml/2006/main">
              <a:ext uri="{FF2B5EF4-FFF2-40B4-BE49-F238E27FC236}">
                <a16:creationId xmlns:a16="http://schemas.microsoft.com/office/drawing/2014/main" id="{EADDDC8C-A993-4580-AF63-950E5AED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4288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933">
            <a:extLst xmlns:a="http://schemas.openxmlformats.org/drawingml/2006/main">
              <a:ext uri="{FF2B5EF4-FFF2-40B4-BE49-F238E27FC236}">
                <a16:creationId xmlns:a16="http://schemas.microsoft.com/office/drawing/2014/main" id="{8AB284C6-DE8B-461B-BF6C-F0D6ED18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邀请与并发</a:t>
            </a:r>
          </a:p>
        </p:txBody>
      </p:sp>
      <p:sp>
        <p:nvSpPr>
          <p:cNvPr id="9" name="shape-934">
            <a:extLst xmlns:a="http://schemas.openxmlformats.org/drawingml/2006/main">
              <a:ext uri="{FF2B5EF4-FFF2-40B4-BE49-F238E27FC236}">
                <a16:creationId xmlns:a16="http://schemas.microsoft.com/office/drawing/2014/main" id="{82097BE2-5E3B-4426-B0DE-78CE0FEC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正式成员取消触发递补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接受后成为正式成员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拒绝或过期继续下一位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过期后端绝不能接受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100人争20名额无超卖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Redis正常与故障结果一致</a:t>
            </a:r>
          </a:p>
        </p:txBody>
      </p:sp>
    </p:spTree>
    <p:extLst>
      <p:ext uri="{BB962C8B-B14F-4D97-AF65-F5344CB8AC3E}">
        <p14:creationId xmlns:p14="http://schemas.microsoft.com/office/powerpoint/2010/main" val="16922706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hape-935">
            <a:extLst xmlns:a="http://schemas.openxmlformats.org/drawingml/2006/main">
              <a:ext uri="{FF2B5EF4-FFF2-40B4-BE49-F238E27FC236}">
                <a16:creationId xmlns:a16="http://schemas.microsoft.com/office/drawing/2014/main" id="{778040C7-4798-4D18-865C-21EDC6EB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验证上线</a:t>
            </a:r>
          </a:p>
        </p:txBody>
      </p:sp>
      <p:sp>
        <p:nvSpPr>
          <p:cNvPr id="2" name="shape-936">
            <a:extLst xmlns:a="http://schemas.openxmlformats.org/drawingml/2006/main">
              <a:ext uri="{FF2B5EF4-FFF2-40B4-BE49-F238E27FC236}">
                <a16:creationId xmlns:a16="http://schemas.microsoft.com/office/drawing/2014/main" id="{536B942F-C293-4994-8561-9E64ECC1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故障、安全和端到端共同形成发布门槛</a:t>
            </a:r>
          </a:p>
        </p:txBody>
      </p:sp>
      <p:cxnSp>
        <p:nvCxnSpPr>
          <p:cNvPr id="15" name="shape-937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938">
            <a:extLst xmlns:a="http://schemas.openxmlformats.org/drawingml/2006/main">
              <a:ext uri="{FF2B5EF4-FFF2-40B4-BE49-F238E27FC236}">
                <a16:creationId xmlns:a16="http://schemas.microsoft.com/office/drawing/2014/main" id="{03402DF2-701E-45E9-AD59-165618BA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  <p:sp>
        <p:nvSpPr>
          <p:cNvPr id="5" name="shape-939">
            <a:extLst xmlns:a="http://schemas.openxmlformats.org/drawingml/2006/main">
              <a:ext uri="{FF2B5EF4-FFF2-40B4-BE49-F238E27FC236}">
                <a16:creationId xmlns:a16="http://schemas.microsoft.com/office/drawing/2014/main" id="{CED93DA0-8019-4B7B-A4AC-43493B8F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故障恢复</a:t>
            </a:r>
          </a:p>
        </p:txBody>
      </p:sp>
      <p:sp>
        <p:nvSpPr>
          <p:cNvPr id="6" name="shape-940">
            <a:extLst xmlns:a="http://schemas.openxmlformats.org/drawingml/2006/main">
              <a:ext uri="{FF2B5EF4-FFF2-40B4-BE49-F238E27FC236}">
                <a16:creationId xmlns:a16="http://schemas.microsoft.com/office/drawing/2014/main" id="{321E7769-A7CB-4E65-AA32-890EB948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Redis回源数据库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Kafka停机Outbox保留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恢复后补发且不重复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事务中断整体回滚</a:t>
            </a:r>
          </a:p>
        </p:txBody>
      </p:sp>
      <p:sp>
        <p:nvSpPr>
          <p:cNvPr id="7" name="shape-941">
            <a:extLst xmlns:a="http://schemas.openxmlformats.org/drawingml/2006/main">
              <a:ext uri="{FF2B5EF4-FFF2-40B4-BE49-F238E27FC236}">
                <a16:creationId xmlns:a16="http://schemas.microsoft.com/office/drawing/2014/main" id="{84841165-D6A2-4479-938E-EE7585C9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942">
            <a:extLst xmlns:a="http://schemas.openxmlformats.org/drawingml/2006/main">
              <a:ext uri="{FF2B5EF4-FFF2-40B4-BE49-F238E27FC236}">
                <a16:creationId xmlns:a16="http://schemas.microsoft.com/office/drawing/2014/main" id="{8DC2CAC3-A99B-4686-AA35-634240A5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9" name="shape-943">
            <a:extLst xmlns:a="http://schemas.openxmlformats.org/drawingml/2006/main">
              <a:ext uri="{FF2B5EF4-FFF2-40B4-BE49-F238E27FC236}">
                <a16:creationId xmlns:a16="http://schemas.microsoft.com/office/drawing/2014/main" id="{38620263-D188-49E4-A04D-BB86CDE1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双组织IDOR测试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角色越权和他人报名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过期/篡改JWT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注入、限流、隐私</a:t>
            </a:r>
          </a:p>
        </p:txBody>
      </p:sp>
      <p:sp>
        <p:nvSpPr>
          <p:cNvPr id="10" name="shape-944">
            <a:extLst xmlns:a="http://schemas.openxmlformats.org/drawingml/2006/main">
              <a:ext uri="{FF2B5EF4-FFF2-40B4-BE49-F238E27FC236}">
                <a16:creationId xmlns:a16="http://schemas.microsoft.com/office/drawing/2014/main" id="{7C091BAA-C53D-41D4-BF74-3486DB1D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-945">
            <a:extLst xmlns:a="http://schemas.openxmlformats.org/drawingml/2006/main">
              <a:ext uri="{FF2B5EF4-FFF2-40B4-BE49-F238E27FC236}">
                <a16:creationId xmlns:a16="http://schemas.microsoft.com/office/drawing/2014/main" id="{BD8763A2-36C7-4E2E-93A7-736D4446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E2E</a:t>
            </a:r>
          </a:p>
        </p:txBody>
      </p:sp>
      <p:sp>
        <p:nvSpPr>
          <p:cNvPr id="12" name="shape-946">
            <a:extLst xmlns:a="http://schemas.openxmlformats.org/drawingml/2006/main">
              <a:ext uri="{FF2B5EF4-FFF2-40B4-BE49-F238E27FC236}">
                <a16:creationId xmlns:a16="http://schemas.microsoft.com/office/drawing/2014/main" id="{B71C049F-A61B-4D42-96E8-AD868DDD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发布并报名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满员取消递补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人工审核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动态签到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无权访问被拒绝</a:t>
            </a:r>
          </a:p>
        </p:txBody>
      </p:sp>
    </p:spTree>
    <p:extLst>
      <p:ext uri="{BB962C8B-B14F-4D97-AF65-F5344CB8AC3E}">
        <p14:creationId xmlns:p14="http://schemas.microsoft.com/office/powerpoint/2010/main" val="41002847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hape-947">
            <a:extLst xmlns:a="http://schemas.openxmlformats.org/drawingml/2006/main">
              <a:ext uri="{FF2B5EF4-FFF2-40B4-BE49-F238E27FC236}">
                <a16:creationId xmlns:a16="http://schemas.microsoft.com/office/drawing/2014/main" id="{80217592-A9FD-4351-9831-91A65444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验证上线</a:t>
            </a:r>
          </a:p>
        </p:txBody>
      </p:sp>
      <p:sp>
        <p:nvSpPr>
          <p:cNvPr id="2" name="shape-948">
            <a:extLst xmlns:a="http://schemas.openxmlformats.org/drawingml/2006/main">
              <a:ext uri="{FF2B5EF4-FFF2-40B4-BE49-F238E27FC236}">
                <a16:creationId xmlns:a16="http://schemas.microsoft.com/office/drawing/2014/main" id="{17B0FE47-D2FB-4407-BCD8-53449D22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可观测性要串起请求、事务和消息</a:t>
            </a:r>
          </a:p>
        </p:txBody>
      </p:sp>
      <p:cxnSp>
        <p:nvCxnSpPr>
          <p:cNvPr id="15" name="shape-949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950">
            <a:extLst xmlns:a="http://schemas.openxmlformats.org/drawingml/2006/main">
              <a:ext uri="{FF2B5EF4-FFF2-40B4-BE49-F238E27FC236}">
                <a16:creationId xmlns:a16="http://schemas.microsoft.com/office/drawing/2014/main" id="{2DEAA810-2EC6-434E-B0C2-769259EF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5" name="shape-951">
            <a:extLst xmlns:a="http://schemas.openxmlformats.org/drawingml/2006/main">
              <a:ext uri="{FF2B5EF4-FFF2-40B4-BE49-F238E27FC236}">
                <a16:creationId xmlns:a16="http://schemas.microsoft.com/office/drawing/2014/main" id="{EF757147-6394-45D5-82FB-CCC6710E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系统健康</a:t>
            </a:r>
          </a:p>
        </p:txBody>
      </p:sp>
      <p:sp>
        <p:nvSpPr>
          <p:cNvPr id="6" name="shape-952">
            <a:extLst xmlns:a="http://schemas.openxmlformats.org/drawingml/2006/main">
              <a:ext uri="{FF2B5EF4-FFF2-40B4-BE49-F238E27FC236}">
                <a16:creationId xmlns:a16="http://schemas.microsoft.com/office/drawing/2014/main" id="{546E8264-0F81-45EA-A2FF-D6C2C635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请求量、错误率、P95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数据库连接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Redis失败数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Kafka消费积压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Outbox未发布数</a:t>
            </a:r>
          </a:p>
        </p:txBody>
      </p:sp>
      <p:sp>
        <p:nvSpPr>
          <p:cNvPr id="7" name="shape-953">
            <a:extLst xmlns:a="http://schemas.openxmlformats.org/drawingml/2006/main">
              <a:ext uri="{FF2B5EF4-FFF2-40B4-BE49-F238E27FC236}">
                <a16:creationId xmlns:a16="http://schemas.microsoft.com/office/drawing/2014/main" id="{B36AB28B-BDE3-4B81-BF37-0C8520DD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954">
            <a:extLst xmlns:a="http://schemas.openxmlformats.org/drawingml/2006/main">
              <a:ext uri="{FF2B5EF4-FFF2-40B4-BE49-F238E27FC236}">
                <a16:creationId xmlns:a16="http://schemas.microsoft.com/office/drawing/2014/main" id="{D9DF60B0-6E59-45B0-B65B-CB48EDAA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业务指标</a:t>
            </a:r>
          </a:p>
        </p:txBody>
      </p:sp>
      <p:sp>
        <p:nvSpPr>
          <p:cNvPr id="9" name="shape-955">
            <a:extLst xmlns:a="http://schemas.openxmlformats.org/drawingml/2006/main">
              <a:ext uri="{FF2B5EF4-FFF2-40B4-BE49-F238E27FC236}">
                <a16:creationId xmlns:a16="http://schemas.microsoft.com/office/drawing/2014/main" id="{735B714F-1BE6-4667-B6FB-70412AA4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报名、候补、递补次数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邀请接受/拒绝/过期率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签到率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迟取消率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未到场率</a:t>
            </a:r>
          </a:p>
        </p:txBody>
      </p:sp>
      <p:sp>
        <p:nvSpPr>
          <p:cNvPr id="10" name="shape-956">
            <a:extLst xmlns:a="http://schemas.openxmlformats.org/drawingml/2006/main">
              <a:ext uri="{FF2B5EF4-FFF2-40B4-BE49-F238E27FC236}">
                <a16:creationId xmlns:a16="http://schemas.microsoft.com/office/drawing/2014/main" id="{8DC41967-1564-42EE-994E-6CA0DA98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-957">
            <a:extLst xmlns:a="http://schemas.openxmlformats.org/drawingml/2006/main">
              <a:ext uri="{FF2B5EF4-FFF2-40B4-BE49-F238E27FC236}">
                <a16:creationId xmlns:a16="http://schemas.microsoft.com/office/drawing/2014/main" id="{D14F4533-05D6-4D27-A15F-1A43E78C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追踪方式</a:t>
            </a:r>
          </a:p>
        </p:txBody>
      </p:sp>
      <p:sp>
        <p:nvSpPr>
          <p:cNvPr id="12" name="shape-958">
            <a:extLst xmlns:a="http://schemas.openxmlformats.org/drawingml/2006/main">
              <a:ext uri="{FF2B5EF4-FFF2-40B4-BE49-F238E27FC236}">
                <a16:creationId xmlns:a16="http://schemas.microsoft.com/office/drawing/2014/main" id="{0F4B2EA6-4134-4F90-9470-B352AFC1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Spring Boot Actuator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Micrometer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结构化日志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requestId串联全链路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Prometheus + Grafana</a:t>
            </a:r>
          </a:p>
        </p:txBody>
      </p:sp>
    </p:spTree>
    <p:extLst>
      <p:ext uri="{BB962C8B-B14F-4D97-AF65-F5344CB8AC3E}">
        <p14:creationId xmlns:p14="http://schemas.microsoft.com/office/powerpoint/2010/main" val="96897723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hape-959">
            <a:extLst xmlns:a="http://schemas.openxmlformats.org/drawingml/2006/main">
              <a:ext uri="{FF2B5EF4-FFF2-40B4-BE49-F238E27FC236}">
                <a16:creationId xmlns:a16="http://schemas.microsoft.com/office/drawing/2014/main" id="{4E2043B3-391C-48DC-AA90-0972CE25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验证上线</a:t>
            </a:r>
          </a:p>
        </p:txBody>
      </p:sp>
      <p:sp>
        <p:nvSpPr>
          <p:cNvPr id="2" name="shape-960">
            <a:extLst xmlns:a="http://schemas.openxmlformats.org/drawingml/2006/main">
              <a:ext uri="{FF2B5EF4-FFF2-40B4-BE49-F238E27FC236}">
                <a16:creationId xmlns:a16="http://schemas.microsoft.com/office/drawing/2014/main" id="{EB5149BC-0370-4E02-8923-96DBF756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Docker Compose提供可复现的演示环境</a:t>
            </a:r>
          </a:p>
        </p:txBody>
      </p:sp>
      <p:cxnSp>
        <p:nvCxnSpPr>
          <p:cNvPr id="30" name="shape-961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962">
            <a:extLst xmlns:a="http://schemas.openxmlformats.org/drawingml/2006/main">
              <a:ext uri="{FF2B5EF4-FFF2-40B4-BE49-F238E27FC236}">
                <a16:creationId xmlns:a16="http://schemas.microsoft.com/office/drawing/2014/main" id="{58BBF0AF-E429-4EC2-BBB3-7D3B6E9A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51</a:t>
            </a:r>
          </a:p>
        </p:txBody>
      </p:sp>
      <p:cxnSp>
        <p:nvCxnSpPr>
          <p:cNvPr id="32" name="shape-963"/>
          <p:cNvCxnSpPr/>
          <p:nvPr/>
        </p:nvCxnSpPr>
        <p:spPr>
          <a:xfrm xmlns:a="http://schemas.openxmlformats.org/drawingml/2006/main">
            <a:off x="2381250" y="3333750"/>
            <a:ext cx="7620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3" name="shape-964"/>
          <p:cNvCxnSpPr/>
          <p:nvPr/>
        </p:nvCxnSpPr>
        <p:spPr>
          <a:xfrm xmlns:a="http://schemas.openxmlformats.org/drawingml/2006/main">
            <a:off x="4667250" y="3333750"/>
            <a:ext cx="7620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4" name="shape-965"/>
          <p:cNvCxnSpPr/>
          <p:nvPr/>
        </p:nvCxnSpPr>
        <p:spPr>
          <a:xfrm xmlns:a="http://schemas.openxmlformats.org/drawingml/2006/main">
            <a:off x="6953250" y="3333750"/>
            <a:ext cx="85725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5" name="shape-966"/>
          <p:cNvCxnSpPr/>
          <p:nvPr/>
        </p:nvCxnSpPr>
        <p:spPr>
          <a:xfrm xmlns:a="http://schemas.openxmlformats.org/drawingml/2006/main">
            <a:off x="9334500" y="3333750"/>
            <a:ext cx="5715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9" name="shape-967">
            <a:extLst xmlns:a="http://schemas.openxmlformats.org/drawingml/2006/main">
              <a:ext uri="{FF2B5EF4-FFF2-40B4-BE49-F238E27FC236}">
                <a16:creationId xmlns:a16="http://schemas.microsoft.com/office/drawing/2014/main" id="{432FEEC0-A47D-4F7A-9B40-7260AC94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52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968">
            <a:extLst xmlns:a="http://schemas.openxmlformats.org/drawingml/2006/main">
              <a:ext uri="{FF2B5EF4-FFF2-40B4-BE49-F238E27FC236}">
                <a16:creationId xmlns:a16="http://schemas.microsoft.com/office/drawing/2014/main" id="{C88A4A60-D3DA-4994-AD90-6560950D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Vue 3</a:t>
            </a:r>
          </a:p>
        </p:txBody>
      </p:sp>
      <p:sp>
        <p:nvSpPr>
          <p:cNvPr id="11" name="shape-969">
            <a:extLst xmlns:a="http://schemas.openxmlformats.org/drawingml/2006/main">
              <a:ext uri="{FF2B5EF4-FFF2-40B4-BE49-F238E27FC236}">
                <a16:creationId xmlns:a16="http://schemas.microsoft.com/office/drawing/2014/main" id="{86D67660-CB23-4E4E-93F2-F49448D9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移动端成员 + 管理端</a:t>
            </a:r>
          </a:p>
        </p:txBody>
      </p:sp>
      <p:sp>
        <p:nvSpPr>
          <p:cNvPr id="12" name="shape-970">
            <a:extLst xmlns:a="http://schemas.openxmlformats.org/drawingml/2006/main">
              <a:ext uri="{FF2B5EF4-FFF2-40B4-BE49-F238E27FC236}">
                <a16:creationId xmlns:a16="http://schemas.microsoft.com/office/drawing/2014/main" id="{51B8DBC5-A994-4B75-80DC-F72F97FE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1524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-971">
            <a:extLst xmlns:a="http://schemas.openxmlformats.org/drawingml/2006/main">
              <a:ext uri="{FF2B5EF4-FFF2-40B4-BE49-F238E27FC236}">
                <a16:creationId xmlns:a16="http://schemas.microsoft.com/office/drawing/2014/main" id="{8199ABC0-8B85-41B3-AF99-A0DF8AE4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527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Nginx</a:t>
            </a:r>
          </a:p>
        </p:txBody>
      </p:sp>
      <p:sp>
        <p:nvSpPr>
          <p:cNvPr id="14" name="shape-972">
            <a:extLst xmlns:a="http://schemas.openxmlformats.org/drawingml/2006/main">
              <a:ext uri="{FF2B5EF4-FFF2-40B4-BE49-F238E27FC236}">
                <a16:creationId xmlns:a16="http://schemas.microsoft.com/office/drawing/2014/main" id="{EC7AA4DA-6EAB-4982-8434-4C81DE47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静态资源 + /api</a:t>
            </a:r>
          </a:p>
        </p:txBody>
      </p:sp>
      <p:sp>
        <p:nvSpPr>
          <p:cNvPr id="15" name="shape-973">
            <a:extLst xmlns:a="http://schemas.openxmlformats.org/drawingml/2006/main">
              <a:ext uri="{FF2B5EF4-FFF2-40B4-BE49-F238E27FC236}">
                <a16:creationId xmlns:a16="http://schemas.microsoft.com/office/drawing/2014/main" id="{69D4F7C7-7B98-4193-B532-D2E1F558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71750"/>
            <a:ext cx="1714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-974">
            <a:extLst xmlns:a="http://schemas.openxmlformats.org/drawingml/2006/main">
              <a:ext uri="{FF2B5EF4-FFF2-40B4-BE49-F238E27FC236}">
                <a16:creationId xmlns:a16="http://schemas.microsoft.com/office/drawing/2014/main" id="{EF12748E-C3E1-4642-93BF-65997F79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6225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Spring Boot</a:t>
            </a:r>
          </a:p>
        </p:txBody>
      </p:sp>
      <p:sp>
        <p:nvSpPr>
          <p:cNvPr id="17" name="shape-975">
            <a:extLst xmlns:a="http://schemas.openxmlformats.org/drawingml/2006/main">
              <a:ext uri="{FF2B5EF4-FFF2-40B4-BE49-F238E27FC236}">
                <a16:creationId xmlns:a16="http://schemas.microsoft.com/office/drawing/2014/main" id="{33AD987F-5C0A-4DB2-A0EE-48188335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62300"/>
            <a:ext cx="14859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模块化单体</a:t>
            </a:r>
          </a:p>
        </p:txBody>
      </p:sp>
      <p:sp>
        <p:nvSpPr>
          <p:cNvPr id="18" name="shape-976">
            <a:extLst xmlns:a="http://schemas.openxmlformats.org/drawingml/2006/main">
              <a:ext uri="{FF2B5EF4-FFF2-40B4-BE49-F238E27FC236}">
                <a16:creationId xmlns:a16="http://schemas.microsoft.com/office/drawing/2014/main" id="{C519287E-A62C-4D1C-9BA4-63729C58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-977">
            <a:extLst xmlns:a="http://schemas.openxmlformats.org/drawingml/2006/main">
              <a:ext uri="{FF2B5EF4-FFF2-40B4-BE49-F238E27FC236}">
                <a16:creationId xmlns:a16="http://schemas.microsoft.com/office/drawing/2014/main" id="{921C8723-972A-451D-A7B6-C1F231A8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20" name="shape-978">
            <a:extLst xmlns:a="http://schemas.openxmlformats.org/drawingml/2006/main">
              <a:ext uri="{FF2B5EF4-FFF2-40B4-BE49-F238E27FC236}">
                <a16:creationId xmlns:a16="http://schemas.microsoft.com/office/drawing/2014/main" id="{455B440B-D259-4823-B43B-E77509F5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最终事实来源</a:t>
            </a:r>
          </a:p>
        </p:txBody>
      </p:sp>
      <p:sp>
        <p:nvSpPr>
          <p:cNvPr id="21" name="shape-979">
            <a:extLst xmlns:a="http://schemas.openxmlformats.org/drawingml/2006/main">
              <a:ext uri="{FF2B5EF4-FFF2-40B4-BE49-F238E27FC236}">
                <a16:creationId xmlns:a16="http://schemas.microsoft.com/office/drawing/2014/main" id="{F48E0F21-ED84-43FB-BE12-E12A693D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90875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-980">
            <a:extLst xmlns:a="http://schemas.openxmlformats.org/drawingml/2006/main">
              <a:ext uri="{FF2B5EF4-FFF2-40B4-BE49-F238E27FC236}">
                <a16:creationId xmlns:a16="http://schemas.microsoft.com/office/drawing/2014/main" id="{AE7C2F04-1436-4FE9-B76F-2B92188B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81375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Redis</a:t>
            </a:r>
          </a:p>
        </p:txBody>
      </p:sp>
      <p:sp>
        <p:nvSpPr>
          <p:cNvPr id="23" name="shape-981">
            <a:extLst xmlns:a="http://schemas.openxmlformats.org/drawingml/2006/main">
              <a:ext uri="{FF2B5EF4-FFF2-40B4-BE49-F238E27FC236}">
                <a16:creationId xmlns:a16="http://schemas.microsoft.com/office/drawing/2014/main" id="{25278ABB-C2EE-4DED-91A4-57413020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814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缓存与并发增强</a:t>
            </a:r>
          </a:p>
        </p:txBody>
      </p:sp>
      <p:sp>
        <p:nvSpPr>
          <p:cNvPr id="24" name="shape-982">
            <a:extLst xmlns:a="http://schemas.openxmlformats.org/drawingml/2006/main">
              <a:ext uri="{FF2B5EF4-FFF2-40B4-BE49-F238E27FC236}">
                <a16:creationId xmlns:a16="http://schemas.microsoft.com/office/drawing/2014/main" id="{99945778-BA1E-44B0-9924-7138C7D7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47950"/>
            <a:ext cx="1524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-983">
            <a:extLst xmlns:a="http://schemas.openxmlformats.org/drawingml/2006/main">
              <a:ext uri="{FF2B5EF4-FFF2-40B4-BE49-F238E27FC236}">
                <a16:creationId xmlns:a16="http://schemas.microsoft.com/office/drawing/2014/main" id="{4BD904D0-0950-43FF-AFD7-00E6D25A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38450"/>
            <a:ext cx="129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Kafka</a:t>
            </a:r>
          </a:p>
        </p:txBody>
      </p:sp>
      <p:sp>
        <p:nvSpPr>
          <p:cNvPr id="26" name="shape-984">
            <a:extLst xmlns:a="http://schemas.openxmlformats.org/drawingml/2006/main">
              <a:ext uri="{FF2B5EF4-FFF2-40B4-BE49-F238E27FC236}">
                <a16:creationId xmlns:a16="http://schemas.microsoft.com/office/drawing/2014/main" id="{8F3C63F6-10B5-406E-A5BB-F6993A3D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38500"/>
            <a:ext cx="1295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异步事件扩展</a:t>
            </a:r>
          </a:p>
        </p:txBody>
      </p:sp>
      <p:sp>
        <p:nvSpPr>
          <p:cNvPr id="27" name="shape-985">
            <a:extLst xmlns:a="http://schemas.openxmlformats.org/drawingml/2006/main">
              <a:ext uri="{FF2B5EF4-FFF2-40B4-BE49-F238E27FC236}">
                <a16:creationId xmlns:a16="http://schemas.microsoft.com/office/drawing/2014/main" id="{4A45FF01-02A8-4826-97AC-21E9B73A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66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核心原则：MySQL 保正确，Redis 提性能，Kafka 做异步；任何中间件故障都不能破坏报名最终数据。</a:t>
            </a:r>
          </a:p>
        </p:txBody>
      </p:sp>
    </p:spTree>
    <p:extLst>
      <p:ext uri="{BB962C8B-B14F-4D97-AF65-F5344CB8AC3E}">
        <p14:creationId xmlns:p14="http://schemas.microsoft.com/office/powerpoint/2010/main" val="139978646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hape-986">
            <a:extLst xmlns:a="http://schemas.openxmlformats.org/drawingml/2006/main">
              <a:ext uri="{FF2B5EF4-FFF2-40B4-BE49-F238E27FC236}">
                <a16:creationId xmlns:a16="http://schemas.microsoft.com/office/drawing/2014/main" id="{1DC99DC0-9D5D-4674-BE81-DD281B08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验证上线</a:t>
            </a:r>
          </a:p>
        </p:txBody>
      </p:sp>
      <p:sp>
        <p:nvSpPr>
          <p:cNvPr id="2" name="shape-987">
            <a:extLst xmlns:a="http://schemas.openxmlformats.org/drawingml/2006/main">
              <a:ext uri="{FF2B5EF4-FFF2-40B4-BE49-F238E27FC236}">
                <a16:creationId xmlns:a16="http://schemas.microsoft.com/office/drawing/2014/main" id="{A342BAFA-EB81-49D7-BC48-F1F43955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真实试用用六步验证产品是否真能解决问题</a:t>
            </a:r>
          </a:p>
        </p:txBody>
      </p:sp>
      <p:cxnSp>
        <p:nvCxnSpPr>
          <p:cNvPr id="9" name="shape-988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989">
            <a:extLst xmlns:a="http://schemas.openxmlformats.org/drawingml/2006/main">
              <a:ext uri="{FF2B5EF4-FFF2-40B4-BE49-F238E27FC236}">
                <a16:creationId xmlns:a16="http://schemas.microsoft.com/office/drawing/2014/main" id="{03C79639-B60A-46EE-AAF1-2CA928DC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  <p:sp>
        <p:nvSpPr>
          <p:cNvPr id="5" name="shape-990">
            <a:extLst xmlns:a="http://schemas.openxmlformats.org/drawingml/2006/main">
              <a:ext uri="{FF2B5EF4-FFF2-40B4-BE49-F238E27FC236}">
                <a16:creationId xmlns:a16="http://schemas.microsoft.com/office/drawing/2014/main" id="{BA110DA5-1075-4F7D-87EF-43E49D8E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最终证据包括架构图、Swagger、测试、k6、Grafana和真实试用反馈。</a:t>
            </a:r>
          </a:p>
        </p:txBody>
      </p:sp>
      <p:sp>
        <p:nvSpPr>
          <p:cNvPr id="6" name="shape-991">
            <a:extLst xmlns:a="http://schemas.openxmlformats.org/drawingml/2006/main">
              <a:ext uri="{FF2B5EF4-FFF2-40B4-BE49-F238E27FC236}">
                <a16:creationId xmlns:a16="http://schemas.microsoft.com/office/drawing/2014/main" id="{DC5A3A55-D41C-4204-ACAD-F00C665E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572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你担任负责人，通过QQ分享活动链接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邀请至少10名同学参与真实或模拟活动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制造满员和候补，让一名正式成员取消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观察候补邀请、接受和递补结果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现场完成扫码签到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记录报名成功率、状态理解、变更可见性、私聊需求和最易失败步骤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根据反馈记录修改了什么，以及为什么修改</a:t>
            </a:r>
          </a:p>
        </p:txBody>
      </p:sp>
    </p:spTree>
    <p:extLst>
      <p:ext uri="{BB962C8B-B14F-4D97-AF65-F5344CB8AC3E}">
        <p14:creationId xmlns:p14="http://schemas.microsoft.com/office/powerpoint/2010/main" val="31876145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992">
            <a:extLst xmlns:a="http://schemas.openxmlformats.org/drawingml/2006/main">
              <a:ext uri="{FF2B5EF4-FFF2-40B4-BE49-F238E27FC236}">
                <a16:creationId xmlns:a16="http://schemas.microsoft.com/office/drawing/2014/main" id="{229E7E64-3E47-40A1-869A-C66CA88E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PART 8</a:t>
            </a:r>
          </a:p>
        </p:txBody>
      </p:sp>
      <p:sp>
        <p:nvSpPr>
          <p:cNvPr id="2" name="shape-993">
            <a:extLst xmlns:a="http://schemas.openxmlformats.org/drawingml/2006/main">
              <a:ext uri="{FF2B5EF4-FFF2-40B4-BE49-F238E27FC236}">
                <a16:creationId xmlns:a16="http://schemas.microsoft.com/office/drawing/2014/main" id="{1F62165A-C12B-4BD7-9551-D7E29248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52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分阶段开发路线与简历成果</a:t>
            </a:r>
          </a:p>
        </p:txBody>
      </p:sp>
      <p:sp>
        <p:nvSpPr>
          <p:cNvPr id="3" name="shape-994">
            <a:extLst xmlns:a="http://schemas.openxmlformats.org/drawingml/2006/main">
              <a:ext uri="{FF2B5EF4-FFF2-40B4-BE49-F238E27FC236}">
                <a16:creationId xmlns:a16="http://schemas.microsoft.com/office/drawing/2014/main" id="{5FC4C73E-27A0-4AC4-9578-5710D4D7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先用数据库完成闭环，再让Redis和Kafka解决已经出现的工程问题。</a:t>
            </a:r>
          </a:p>
        </p:txBody>
      </p:sp>
      <p:cxnSp>
        <p:nvCxnSpPr>
          <p:cNvPr id="9" name="shape-995"/>
          <p:cNvCxnSpPr/>
          <p:nvPr/>
        </p:nvCxnSpPr>
        <p:spPr>
          <a:xfrm xmlns:a="http://schemas.openxmlformats.org/drawingml/2006/main">
            <a:off x="400050" y="57150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5" name="shape-996">
            <a:extLst xmlns:a="http://schemas.openxmlformats.org/drawingml/2006/main">
              <a:ext uri="{FF2B5EF4-FFF2-40B4-BE49-F238E27FC236}">
                <a16:creationId xmlns:a16="http://schemas.microsoft.com/office/drawing/2014/main" id="{9216D876-A1C8-4D61-9040-D12364CE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9626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71680878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hape-997">
            <a:extLst xmlns:a="http://schemas.openxmlformats.org/drawingml/2006/main">
              <a:ext uri="{FF2B5EF4-FFF2-40B4-BE49-F238E27FC236}">
                <a16:creationId xmlns:a16="http://schemas.microsoft.com/office/drawing/2014/main" id="{F46C7ADA-8C9C-4C6D-8182-99E16899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 开发路线</a:t>
            </a:r>
          </a:p>
        </p:txBody>
      </p:sp>
      <p:sp>
        <p:nvSpPr>
          <p:cNvPr id="2" name="shape-998">
            <a:extLst xmlns:a="http://schemas.openxmlformats.org/drawingml/2006/main">
              <a:ext uri="{FF2B5EF4-FFF2-40B4-BE49-F238E27FC236}">
                <a16:creationId xmlns:a16="http://schemas.microsoft.com/office/drawing/2014/main" id="{AA669C63-DA7C-4D32-93E2-DD8AC37C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8月底前完成能让同学使用的核心版</a:t>
            </a:r>
          </a:p>
        </p:txBody>
      </p:sp>
      <p:cxnSp>
        <p:nvCxnSpPr>
          <p:cNvPr id="25" name="shape-999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000">
            <a:extLst xmlns:a="http://schemas.openxmlformats.org/drawingml/2006/main">
              <a:ext uri="{FF2B5EF4-FFF2-40B4-BE49-F238E27FC236}">
                <a16:creationId xmlns:a16="http://schemas.microsoft.com/office/drawing/2014/main" id="{8EFBD168-DCC9-450A-BF26-66A9CB06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  <p:cxnSp>
        <p:nvCxnSpPr>
          <p:cNvPr id="27" name="shape-1001"/>
          <p:cNvCxnSpPr/>
          <p:nvPr/>
        </p:nvCxnSpPr>
        <p:spPr>
          <a:xfrm xmlns:a="http://schemas.openxmlformats.org/drawingml/2006/main">
            <a:off x="1143000" y="3571875"/>
            <a:ext cx="99060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shape-1002">
            <a:extLst xmlns:a="http://schemas.openxmlformats.org/drawingml/2006/main">
              <a:ext uri="{FF2B5EF4-FFF2-40B4-BE49-F238E27FC236}">
                <a16:creationId xmlns:a16="http://schemas.microsoft.com/office/drawing/2014/main" id="{BAD8315C-3A1C-418E-98AA-BDD0676F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1003">
            <a:extLst xmlns:a="http://schemas.openxmlformats.org/drawingml/2006/main">
              <a:ext uri="{FF2B5EF4-FFF2-40B4-BE49-F238E27FC236}">
                <a16:creationId xmlns:a16="http://schemas.microsoft.com/office/drawing/2014/main" id="{AD8EAD8C-825F-463A-B51C-27FF1978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476500"/>
            <a:ext cx="1619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阶段0</a:t>
            </a:r>
          </a:p>
        </p:txBody>
      </p:sp>
      <p:sp>
        <p:nvSpPr>
          <p:cNvPr id="8" name="shape-1004">
            <a:extLst xmlns:a="http://schemas.openxmlformats.org/drawingml/2006/main">
              <a:ext uri="{FF2B5EF4-FFF2-40B4-BE49-F238E27FC236}">
                <a16:creationId xmlns:a16="http://schemas.microsoft.com/office/drawing/2014/main" id="{1647AE06-A83E-4EEB-AE60-4C6FB7BE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052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工程准备</a:t>
            </a:r>
          </a:p>
        </p:txBody>
      </p:sp>
      <p:sp>
        <p:nvSpPr>
          <p:cNvPr id="9" name="shape-1005">
            <a:extLst xmlns:a="http://schemas.openxmlformats.org/drawingml/2006/main">
              <a:ext uri="{FF2B5EF4-FFF2-40B4-BE49-F238E27FC236}">
                <a16:creationId xmlns:a16="http://schemas.microsoft.com/office/drawing/2014/main" id="{B60C9C59-D57D-49A2-8AD8-710FF48E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3865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约4小时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模块、迁移、错误、健康检查</a:t>
            </a:r>
          </a:p>
        </p:txBody>
      </p:sp>
      <p:sp>
        <p:nvSpPr>
          <p:cNvPr id="10" name="shape-1006">
            <a:extLst xmlns:a="http://schemas.openxmlformats.org/drawingml/2006/main">
              <a:ext uri="{FF2B5EF4-FFF2-40B4-BE49-F238E27FC236}">
                <a16:creationId xmlns:a16="http://schemas.microsoft.com/office/drawing/2014/main" id="{425BC57C-243D-4199-92B2-553EBB07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-1007">
            <a:extLst xmlns:a="http://schemas.openxmlformats.org/drawingml/2006/main">
              <a:ext uri="{FF2B5EF4-FFF2-40B4-BE49-F238E27FC236}">
                <a16:creationId xmlns:a16="http://schemas.microsoft.com/office/drawing/2014/main" id="{C84E864D-F0B4-473B-8A46-B17C5B219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375" y="2476500"/>
            <a:ext cx="1619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阶段1</a:t>
            </a:r>
          </a:p>
        </p:txBody>
      </p:sp>
      <p:sp>
        <p:nvSpPr>
          <p:cNvPr id="12" name="shape-1008">
            <a:extLst xmlns:a="http://schemas.openxmlformats.org/drawingml/2006/main">
              <a:ext uri="{FF2B5EF4-FFF2-40B4-BE49-F238E27FC236}">
                <a16:creationId xmlns:a16="http://schemas.microsoft.com/office/drawing/2014/main" id="{14BFA4B6-F237-4528-93AE-B5D663FE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39052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组织与活动</a:t>
            </a:r>
          </a:p>
        </p:txBody>
      </p:sp>
      <p:sp>
        <p:nvSpPr>
          <p:cNvPr id="13" name="shape-1009">
            <a:extLst xmlns:a="http://schemas.openxmlformats.org/drawingml/2006/main">
              <a:ext uri="{FF2B5EF4-FFF2-40B4-BE49-F238E27FC236}">
                <a16:creationId xmlns:a16="http://schemas.microsoft.com/office/drawing/2014/main" id="{E1992449-01A7-45A1-A2DE-BF0AD639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0" y="443865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约10小时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登录、邀请、角色、发布</a:t>
            </a:r>
          </a:p>
        </p:txBody>
      </p:sp>
      <p:sp>
        <p:nvSpPr>
          <p:cNvPr id="14" name="shape-1010">
            <a:extLst xmlns:a="http://schemas.openxmlformats.org/drawingml/2006/main">
              <a:ext uri="{FF2B5EF4-FFF2-40B4-BE49-F238E27FC236}">
                <a16:creationId xmlns:a16="http://schemas.microsoft.com/office/drawing/2014/main" id="{4DE2AF61-05D3-48D3-BC7F-6B31A982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8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-1011">
            <a:extLst xmlns:a="http://schemas.openxmlformats.org/drawingml/2006/main">
              <a:ext uri="{FF2B5EF4-FFF2-40B4-BE49-F238E27FC236}">
                <a16:creationId xmlns:a16="http://schemas.microsoft.com/office/drawing/2014/main" id="{372DD0BA-BF4B-4C9D-85FB-8E1F60C9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375" y="2476500"/>
            <a:ext cx="1619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阶段2</a:t>
            </a:r>
          </a:p>
        </p:txBody>
      </p:sp>
      <p:sp>
        <p:nvSpPr>
          <p:cNvPr id="16" name="shape-1012">
            <a:extLst xmlns:a="http://schemas.openxmlformats.org/drawingml/2006/main">
              <a:ext uri="{FF2B5EF4-FFF2-40B4-BE49-F238E27FC236}">
                <a16:creationId xmlns:a16="http://schemas.microsoft.com/office/drawing/2014/main" id="{AC08A5AB-1739-4A29-B873-9A004359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39052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报名与候补</a:t>
            </a:r>
          </a:p>
        </p:txBody>
      </p:sp>
      <p:sp>
        <p:nvSpPr>
          <p:cNvPr id="17" name="shape-1013">
            <a:extLst xmlns:a="http://schemas.openxmlformats.org/drawingml/2006/main">
              <a:ext uri="{FF2B5EF4-FFF2-40B4-BE49-F238E27FC236}">
                <a16:creationId xmlns:a16="http://schemas.microsoft.com/office/drawing/2014/main" id="{48FF7A4E-DB52-4713-870D-02EFE653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443865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约16小时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两种模式、取消、递补</a:t>
            </a:r>
          </a:p>
        </p:txBody>
      </p:sp>
      <p:sp>
        <p:nvSpPr>
          <p:cNvPr id="18" name="shape-1014">
            <a:extLst xmlns:a="http://schemas.openxmlformats.org/drawingml/2006/main">
              <a:ext uri="{FF2B5EF4-FFF2-40B4-BE49-F238E27FC236}">
                <a16:creationId xmlns:a16="http://schemas.microsoft.com/office/drawing/2014/main" id="{B14038EB-124F-4140-9A83-9588D31A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-1015">
            <a:extLst xmlns:a="http://schemas.openxmlformats.org/drawingml/2006/main">
              <a:ext uri="{FF2B5EF4-FFF2-40B4-BE49-F238E27FC236}">
                <a16:creationId xmlns:a16="http://schemas.microsoft.com/office/drawing/2014/main" id="{53DA2735-C1CA-42CD-A3B2-94A8E04D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76500"/>
            <a:ext cx="1619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阶段3</a:t>
            </a:r>
          </a:p>
        </p:txBody>
      </p:sp>
      <p:sp>
        <p:nvSpPr>
          <p:cNvPr id="20" name="shape-1016">
            <a:extLst xmlns:a="http://schemas.openxmlformats.org/drawingml/2006/main">
              <a:ext uri="{FF2B5EF4-FFF2-40B4-BE49-F238E27FC236}">
                <a16:creationId xmlns:a16="http://schemas.microsoft.com/office/drawing/2014/main" id="{BCE33CE6-9CE3-47B5-8030-98998BD5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通知与签到</a:t>
            </a:r>
          </a:p>
        </p:txBody>
      </p:sp>
      <p:sp>
        <p:nvSpPr>
          <p:cNvPr id="21" name="shape-1017">
            <a:extLst xmlns:a="http://schemas.openxmlformats.org/drawingml/2006/main">
              <a:ext uri="{FF2B5EF4-FFF2-40B4-BE49-F238E27FC236}">
                <a16:creationId xmlns:a16="http://schemas.microsoft.com/office/drawing/2014/main" id="{269F0B6C-C59F-4052-933E-7A267BD9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3865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约12小时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站内通知、签到、部署</a:t>
            </a:r>
          </a:p>
        </p:txBody>
      </p:sp>
      <p:sp>
        <p:nvSpPr>
          <p:cNvPr id="22" name="shape-1018">
            <a:extLst xmlns:a="http://schemas.openxmlformats.org/drawingml/2006/main">
              <a:ext uri="{FF2B5EF4-FFF2-40B4-BE49-F238E27FC236}">
                <a16:creationId xmlns:a16="http://schemas.microsoft.com/office/drawing/2014/main" id="{66FF54DE-C396-471D-9A7D-909F3B4B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8月每天约2小时；时间不足时动态二维码先退化为短期签到码，但保留演进接口。</a:t>
            </a:r>
          </a:p>
        </p:txBody>
      </p:sp>
    </p:spTree>
    <p:extLst>
      <p:ext uri="{BB962C8B-B14F-4D97-AF65-F5344CB8AC3E}">
        <p14:creationId xmlns:p14="http://schemas.microsoft.com/office/powerpoint/2010/main" val="184648402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hape-1019">
            <a:extLst xmlns:a="http://schemas.openxmlformats.org/drawingml/2006/main">
              <a:ext uri="{FF2B5EF4-FFF2-40B4-BE49-F238E27FC236}">
                <a16:creationId xmlns:a16="http://schemas.microsoft.com/office/drawing/2014/main" id="{816D4D69-B4A7-41E8-BD00-4FCE1780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 开发路线</a:t>
            </a:r>
          </a:p>
        </p:txBody>
      </p:sp>
      <p:sp>
        <p:nvSpPr>
          <p:cNvPr id="2" name="shape-1020">
            <a:extLst xmlns:a="http://schemas.openxmlformats.org/drawingml/2006/main">
              <a:ext uri="{FF2B5EF4-FFF2-40B4-BE49-F238E27FC236}">
                <a16:creationId xmlns:a16="http://schemas.microsoft.com/office/drawing/2014/main" id="{E3A397EE-96DC-4832-BB64-F6C96CCA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开学后把中间件、验证和真实用户补齐</a:t>
            </a:r>
          </a:p>
        </p:txBody>
      </p:sp>
      <p:cxnSp>
        <p:nvCxnSpPr>
          <p:cNvPr id="25" name="shape-1021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022">
            <a:extLst xmlns:a="http://schemas.openxmlformats.org/drawingml/2006/main">
              <a:ext uri="{FF2B5EF4-FFF2-40B4-BE49-F238E27FC236}">
                <a16:creationId xmlns:a16="http://schemas.microsoft.com/office/drawing/2014/main" id="{43FEF01B-B5BE-4041-BF95-BB229416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cxnSp>
        <p:nvCxnSpPr>
          <p:cNvPr id="27" name="shape-1023"/>
          <p:cNvCxnSpPr/>
          <p:nvPr/>
        </p:nvCxnSpPr>
        <p:spPr>
          <a:xfrm xmlns:a="http://schemas.openxmlformats.org/drawingml/2006/main">
            <a:off x="1143000" y="3571875"/>
            <a:ext cx="99060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shape-1024">
            <a:extLst xmlns:a="http://schemas.openxmlformats.org/drawingml/2006/main">
              <a:ext uri="{FF2B5EF4-FFF2-40B4-BE49-F238E27FC236}">
                <a16:creationId xmlns:a16="http://schemas.microsoft.com/office/drawing/2014/main" id="{9E48DDED-55F0-498E-A6FB-E5D5E16D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1025">
            <a:extLst xmlns:a="http://schemas.openxmlformats.org/drawingml/2006/main">
              <a:ext uri="{FF2B5EF4-FFF2-40B4-BE49-F238E27FC236}">
                <a16:creationId xmlns:a16="http://schemas.microsoft.com/office/drawing/2014/main" id="{3D20237E-1079-42EB-8C05-6F23EAE7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476500"/>
            <a:ext cx="1619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阶段4</a:t>
            </a:r>
          </a:p>
        </p:txBody>
      </p:sp>
      <p:sp>
        <p:nvSpPr>
          <p:cNvPr id="8" name="shape-1026">
            <a:extLst xmlns:a="http://schemas.openxmlformats.org/drawingml/2006/main">
              <a:ext uri="{FF2B5EF4-FFF2-40B4-BE49-F238E27FC236}">
                <a16:creationId xmlns:a16="http://schemas.microsoft.com/office/drawing/2014/main" id="{94F295ED-D452-4CFE-ABDB-52B27459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9052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Redis增强</a:t>
            </a:r>
          </a:p>
        </p:txBody>
      </p:sp>
      <p:sp>
        <p:nvSpPr>
          <p:cNvPr id="9" name="shape-1027">
            <a:extLst xmlns:a="http://schemas.openxmlformats.org/drawingml/2006/main">
              <a:ext uri="{FF2B5EF4-FFF2-40B4-BE49-F238E27FC236}">
                <a16:creationId xmlns:a16="http://schemas.microsoft.com/office/drawing/2014/main" id="{C4C211BC-1822-48A6-9C26-9CD22919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43865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12—16小时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缓存、锁、TTL、限流、压测</a:t>
            </a:r>
          </a:p>
        </p:txBody>
      </p:sp>
      <p:sp>
        <p:nvSpPr>
          <p:cNvPr id="10" name="shape-1028">
            <a:extLst xmlns:a="http://schemas.openxmlformats.org/drawingml/2006/main">
              <a:ext uri="{FF2B5EF4-FFF2-40B4-BE49-F238E27FC236}">
                <a16:creationId xmlns:a16="http://schemas.microsoft.com/office/drawing/2014/main" id="{654F04A8-F0BF-4A93-B7EC-C1DFD37E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-1029">
            <a:extLst xmlns:a="http://schemas.openxmlformats.org/drawingml/2006/main">
              <a:ext uri="{FF2B5EF4-FFF2-40B4-BE49-F238E27FC236}">
                <a16:creationId xmlns:a16="http://schemas.microsoft.com/office/drawing/2014/main" id="{1726ACD4-C276-41FC-B04D-6AD48E97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5375" y="2476500"/>
            <a:ext cx="1619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阶段5</a:t>
            </a:r>
          </a:p>
        </p:txBody>
      </p:sp>
      <p:sp>
        <p:nvSpPr>
          <p:cNvPr id="12" name="shape-1030">
            <a:extLst xmlns:a="http://schemas.openxmlformats.org/drawingml/2006/main">
              <a:ext uri="{FF2B5EF4-FFF2-40B4-BE49-F238E27FC236}">
                <a16:creationId xmlns:a16="http://schemas.microsoft.com/office/drawing/2014/main" id="{E3F18A56-F478-4D56-8C64-5B0FF5F0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7750" y="39052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Kafka可靠事件</a:t>
            </a:r>
          </a:p>
        </p:txBody>
      </p:sp>
      <p:sp>
        <p:nvSpPr>
          <p:cNvPr id="13" name="shape-1031">
            <a:extLst xmlns:a="http://schemas.openxmlformats.org/drawingml/2006/main">
              <a:ext uri="{FF2B5EF4-FFF2-40B4-BE49-F238E27FC236}">
                <a16:creationId xmlns:a16="http://schemas.microsoft.com/office/drawing/2014/main" id="{6BB8F8C3-2906-4DAE-8B1E-8225A2D6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0" y="443865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12—18小时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Outbox、幂等、补偿、积压</a:t>
            </a:r>
          </a:p>
        </p:txBody>
      </p:sp>
      <p:sp>
        <p:nvSpPr>
          <p:cNvPr id="14" name="shape-1032">
            <a:extLst xmlns:a="http://schemas.openxmlformats.org/drawingml/2006/main">
              <a:ext uri="{FF2B5EF4-FFF2-40B4-BE49-F238E27FC236}">
                <a16:creationId xmlns:a16="http://schemas.microsoft.com/office/drawing/2014/main" id="{AD1EE567-A0A8-4780-B631-A3FD9BFC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08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-1033">
            <a:extLst xmlns:a="http://schemas.openxmlformats.org/drawingml/2006/main">
              <a:ext uri="{FF2B5EF4-FFF2-40B4-BE49-F238E27FC236}">
                <a16:creationId xmlns:a16="http://schemas.microsoft.com/office/drawing/2014/main" id="{E43C53C6-2476-4C44-9FC3-37413BF0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375" y="2476500"/>
            <a:ext cx="1619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阶段6</a:t>
            </a:r>
          </a:p>
        </p:txBody>
      </p:sp>
      <p:sp>
        <p:nvSpPr>
          <p:cNvPr id="16" name="shape-1034">
            <a:extLst xmlns:a="http://schemas.openxmlformats.org/drawingml/2006/main">
              <a:ext uri="{FF2B5EF4-FFF2-40B4-BE49-F238E27FC236}">
                <a16:creationId xmlns:a16="http://schemas.microsoft.com/office/drawing/2014/main" id="{227E5F53-32CB-4CC2-9C8D-77D76786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39052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验证与监控</a:t>
            </a:r>
          </a:p>
        </p:txBody>
      </p:sp>
      <p:sp>
        <p:nvSpPr>
          <p:cNvPr id="17" name="shape-1035">
            <a:extLst xmlns:a="http://schemas.openxmlformats.org/drawingml/2006/main">
              <a:ext uri="{FF2B5EF4-FFF2-40B4-BE49-F238E27FC236}">
                <a16:creationId xmlns:a16="http://schemas.microsoft.com/office/drawing/2014/main" id="{CEA9D270-6F4C-4CF0-AB25-C4D3BC9F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500" y="443865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约12小时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测试、Grafana、备份恢复</a:t>
            </a:r>
          </a:p>
        </p:txBody>
      </p:sp>
      <p:sp>
        <p:nvSpPr>
          <p:cNvPr id="18" name="shape-1036">
            <a:extLst xmlns:a="http://schemas.openxmlformats.org/drawingml/2006/main">
              <a:ext uri="{FF2B5EF4-FFF2-40B4-BE49-F238E27FC236}">
                <a16:creationId xmlns:a16="http://schemas.microsoft.com/office/drawing/2014/main" id="{DAFE3ADD-89CA-4291-AA10-5D58C0FA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-1037">
            <a:extLst xmlns:a="http://schemas.openxmlformats.org/drawingml/2006/main">
              <a:ext uri="{FF2B5EF4-FFF2-40B4-BE49-F238E27FC236}">
                <a16:creationId xmlns:a16="http://schemas.microsoft.com/office/drawing/2014/main" id="{7C325177-E9BD-46D4-ABC1-886B9EB5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476500"/>
            <a:ext cx="1619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试用</a:t>
            </a:r>
          </a:p>
        </p:txBody>
      </p:sp>
      <p:sp>
        <p:nvSpPr>
          <p:cNvPr id="20" name="shape-1038">
            <a:extLst xmlns:a="http://schemas.openxmlformats.org/drawingml/2006/main">
              <a:ext uri="{FF2B5EF4-FFF2-40B4-BE49-F238E27FC236}">
                <a16:creationId xmlns:a16="http://schemas.microsoft.com/office/drawing/2014/main" id="{0DD29446-71FB-44A3-981C-1BE6EB0B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052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真实反馈</a:t>
            </a:r>
          </a:p>
        </p:txBody>
      </p:sp>
      <p:sp>
        <p:nvSpPr>
          <p:cNvPr id="21" name="shape-1039">
            <a:extLst xmlns:a="http://schemas.openxmlformats.org/drawingml/2006/main">
              <a:ext uri="{FF2B5EF4-FFF2-40B4-BE49-F238E27FC236}">
                <a16:creationId xmlns:a16="http://schemas.microsoft.com/office/drawing/2014/main" id="{48B49B0B-978D-4C06-8B86-DB7C67E3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3865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≥10名同学</a:t>
            </a:r>
          </a:p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记录问题并迭代</a:t>
            </a:r>
          </a:p>
        </p:txBody>
      </p:sp>
      <p:sp>
        <p:nvSpPr>
          <p:cNvPr id="22" name="shape-1040">
            <a:extLst xmlns:a="http://schemas.openxmlformats.org/drawingml/2006/main">
              <a:ext uri="{FF2B5EF4-FFF2-40B4-BE49-F238E27FC236}">
                <a16:creationId xmlns:a16="http://schemas.microsoft.com/office/drawing/2014/main" id="{AA7B5488-C63A-4FAA-92B2-889B06C0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学习顺序由项目问题驱动：先数据类型与TTL，再缓存/锁/限流；先Topic与消费组，再幂等/可靠性/Outbox。</a:t>
            </a:r>
          </a:p>
        </p:txBody>
      </p:sp>
    </p:spTree>
    <p:extLst>
      <p:ext uri="{BB962C8B-B14F-4D97-AF65-F5344CB8AC3E}">
        <p14:creationId xmlns:p14="http://schemas.microsoft.com/office/powerpoint/2010/main" val="1518078371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hape-1041">
            <a:extLst xmlns:a="http://schemas.openxmlformats.org/drawingml/2006/main">
              <a:ext uri="{FF2B5EF4-FFF2-40B4-BE49-F238E27FC236}">
                <a16:creationId xmlns:a16="http://schemas.microsoft.com/office/drawing/2014/main" id="{24E88C37-3984-45B9-B9DB-50281DE2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 开发路线</a:t>
            </a:r>
          </a:p>
        </p:txBody>
      </p:sp>
      <p:sp>
        <p:nvSpPr>
          <p:cNvPr id="2" name="shape-1042">
            <a:extLst xmlns:a="http://schemas.openxmlformats.org/drawingml/2006/main">
              <a:ext uri="{FF2B5EF4-FFF2-40B4-BE49-F238E27FC236}">
                <a16:creationId xmlns:a16="http://schemas.microsoft.com/office/drawing/2014/main" id="{B0D58930-79A2-4F3B-9DDA-FBF1595A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聊天室与AI是独立第二版，不阻塞核心平台</a:t>
            </a:r>
          </a:p>
        </p:txBody>
      </p:sp>
      <p:cxnSp>
        <p:nvCxnSpPr>
          <p:cNvPr id="24" name="shape-1043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044">
            <a:extLst xmlns:a="http://schemas.openxmlformats.org/drawingml/2006/main">
              <a:ext uri="{FF2B5EF4-FFF2-40B4-BE49-F238E27FC236}">
                <a16:creationId xmlns:a16="http://schemas.microsoft.com/office/drawing/2014/main" id="{F01C641D-1B41-4723-9E9C-79F93AB6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56</a:t>
            </a:r>
          </a:p>
        </p:txBody>
      </p:sp>
      <p:cxnSp>
        <p:nvCxnSpPr>
          <p:cNvPr id="26" name="shape-1045"/>
          <p:cNvCxnSpPr/>
          <p:nvPr/>
        </p:nvCxnSpPr>
        <p:spPr>
          <a:xfrm xmlns:a="http://schemas.openxmlformats.org/drawingml/2006/main">
            <a:off x="514350" y="3571875"/>
            <a:ext cx="11163300" cy="95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6" name="shape-1046">
            <a:extLst xmlns:a="http://schemas.openxmlformats.org/drawingml/2006/main">
              <a:ext uri="{FF2B5EF4-FFF2-40B4-BE49-F238E27FC236}">
                <a16:creationId xmlns:a16="http://schemas.microsoft.com/office/drawing/2014/main" id="{41B05C0D-E323-47E7-8444-E3CB7E82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1047">
            <a:extLst xmlns:a="http://schemas.openxmlformats.org/drawingml/2006/main">
              <a:ext uri="{FF2B5EF4-FFF2-40B4-BE49-F238E27FC236}">
                <a16:creationId xmlns:a16="http://schemas.microsoft.com/office/drawing/2014/main" id="{9493D59F-78F1-418B-AC40-BC595140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活动聊天室</a:t>
            </a:r>
          </a:p>
        </p:txBody>
      </p:sp>
      <p:sp>
        <p:nvSpPr>
          <p:cNvPr id="8" name="shape-1048">
            <a:extLst xmlns:a="http://schemas.openxmlformats.org/drawingml/2006/main">
              <a:ext uri="{FF2B5EF4-FFF2-40B4-BE49-F238E27FC236}">
                <a16:creationId xmlns:a16="http://schemas.microsoft.com/office/drawing/2014/main" id="{96452456-D587-48A6-987A-EDF2CE41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每个活动绑定</a:t>
            </a:r>
          </a:p>
        </p:txBody>
      </p:sp>
      <p:sp>
        <p:nvSpPr>
          <p:cNvPr id="9" name="shape-1049">
            <a:extLst xmlns:a="http://schemas.openxmlformats.org/drawingml/2006/main">
              <a:ext uri="{FF2B5EF4-FFF2-40B4-BE49-F238E27FC236}">
                <a16:creationId xmlns:a16="http://schemas.microsoft.com/office/drawing/2014/main" id="{D1F1CEE9-424E-4AB1-81B5-391B7B61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1050">
            <a:extLst xmlns:a="http://schemas.openxmlformats.org/drawingml/2006/main">
              <a:ext uri="{FF2B5EF4-FFF2-40B4-BE49-F238E27FC236}">
                <a16:creationId xmlns:a16="http://schemas.microsoft.com/office/drawing/2014/main" id="{401DDEA0-4979-42D8-95F2-6CF41C8E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公告/讨论分离</a:t>
            </a:r>
          </a:p>
        </p:txBody>
      </p:sp>
      <p:sp>
        <p:nvSpPr>
          <p:cNvPr id="11" name="shape-1051">
            <a:extLst xmlns:a="http://schemas.openxmlformats.org/drawingml/2006/main">
              <a:ext uri="{FF2B5EF4-FFF2-40B4-BE49-F238E27FC236}">
                <a16:creationId xmlns:a16="http://schemas.microsoft.com/office/drawing/2014/main" id="{29B1389F-BE05-4D06-95C2-BC891CE2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结束后只读归档</a:t>
            </a:r>
          </a:p>
        </p:txBody>
      </p:sp>
      <p:sp>
        <p:nvSpPr>
          <p:cNvPr id="12" name="shape-1052">
            <a:extLst xmlns:a="http://schemas.openxmlformats.org/drawingml/2006/main">
              <a:ext uri="{FF2B5EF4-FFF2-40B4-BE49-F238E27FC236}">
                <a16:creationId xmlns:a16="http://schemas.microsoft.com/office/drawing/2014/main" id="{D6D105C2-268A-4DB3-AE8D-81EC5104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-1053">
            <a:extLst xmlns:a="http://schemas.openxmlformats.org/drawingml/2006/main">
              <a:ext uri="{FF2B5EF4-FFF2-40B4-BE49-F238E27FC236}">
                <a16:creationId xmlns:a16="http://schemas.microsoft.com/office/drawing/2014/main" id="{5D6E9036-D5BF-462E-AC23-73E21CD2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变更识别</a:t>
            </a:r>
          </a:p>
        </p:txBody>
      </p:sp>
      <p:sp>
        <p:nvSpPr>
          <p:cNvPr id="14" name="shape-1054">
            <a:extLst xmlns:a="http://schemas.openxmlformats.org/drawingml/2006/main">
              <a:ext uri="{FF2B5EF4-FFF2-40B4-BE49-F238E27FC236}">
                <a16:creationId xmlns:a16="http://schemas.microsoft.com/office/drawing/2014/main" id="{72A1DF29-B1E2-453B-A712-CEB465CC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AI提取，人工确认</a:t>
            </a:r>
          </a:p>
        </p:txBody>
      </p:sp>
      <p:sp>
        <p:nvSpPr>
          <p:cNvPr id="15" name="shape-1055">
            <a:extLst xmlns:a="http://schemas.openxmlformats.org/drawingml/2006/main">
              <a:ext uri="{FF2B5EF4-FFF2-40B4-BE49-F238E27FC236}">
                <a16:creationId xmlns:a16="http://schemas.microsoft.com/office/drawing/2014/main" id="{35CD3060-121A-426D-BB69-9E7057BE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-1056">
            <a:extLst xmlns:a="http://schemas.openxmlformats.org/drawingml/2006/main">
              <a:ext uri="{FF2B5EF4-FFF2-40B4-BE49-F238E27FC236}">
                <a16:creationId xmlns:a16="http://schemas.microsoft.com/office/drawing/2014/main" id="{BBD0D774-8A43-46AF-8061-DB821C87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未读摘要</a:t>
            </a:r>
          </a:p>
        </p:txBody>
      </p:sp>
      <p:sp>
        <p:nvSpPr>
          <p:cNvPr id="17" name="shape-1057">
            <a:extLst xmlns:a="http://schemas.openxmlformats.org/drawingml/2006/main">
              <a:ext uri="{FF2B5EF4-FFF2-40B4-BE49-F238E27FC236}">
                <a16:creationId xmlns:a16="http://schemas.microsoft.com/office/drawing/2014/main" id="{0542B2B9-0041-4CFE-ADC4-552E7316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降低信息负担</a:t>
            </a:r>
          </a:p>
        </p:txBody>
      </p:sp>
      <p:sp>
        <p:nvSpPr>
          <p:cNvPr id="18" name="shape-1058">
            <a:extLst xmlns:a="http://schemas.openxmlformats.org/drawingml/2006/main">
              <a:ext uri="{FF2B5EF4-FFF2-40B4-BE49-F238E27FC236}">
                <a16:creationId xmlns:a16="http://schemas.microsoft.com/office/drawing/2014/main" id="{5B83C8D9-1BB4-421B-9FE6-01F53DC7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143250"/>
            <a:ext cx="1524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-1059">
            <a:extLst xmlns:a="http://schemas.openxmlformats.org/drawingml/2006/main">
              <a:ext uri="{FF2B5EF4-FFF2-40B4-BE49-F238E27FC236}">
                <a16:creationId xmlns:a16="http://schemas.microsoft.com/office/drawing/2014/main" id="{607A33C6-6A85-4CB3-900F-36D5BD24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7660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RAG问答</a:t>
            </a:r>
          </a:p>
        </p:txBody>
      </p:sp>
      <p:sp>
        <p:nvSpPr>
          <p:cNvPr id="20" name="shape-1060">
            <a:extLst xmlns:a="http://schemas.openxmlformats.org/drawingml/2006/main">
              <a:ext uri="{FF2B5EF4-FFF2-40B4-BE49-F238E27FC236}">
                <a16:creationId xmlns:a16="http://schemas.microsoft.com/office/drawing/2014/main" id="{4CFF44B7-F2E0-4D9F-BE3B-80700B0C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90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基于公告并引用来源</a:t>
            </a:r>
          </a:p>
        </p:txBody>
      </p:sp>
      <p:sp>
        <p:nvSpPr>
          <p:cNvPr id="21" name="shape-1061">
            <a:extLst xmlns:a="http://schemas.openxmlformats.org/drawingml/2006/main">
              <a:ext uri="{FF2B5EF4-FFF2-40B4-BE49-F238E27FC236}">
                <a16:creationId xmlns:a16="http://schemas.microsoft.com/office/drawing/2014/main" id="{0B8C3E49-31CB-485B-A6BC-568A4787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1066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WebSocket实时通信，Redis管理在线状态，Kafka处理消息事件。AI不得自动改活动、名单或报名状态；AI故障时聊天室仍工作。</a:t>
            </a:r>
          </a:p>
        </p:txBody>
      </p:sp>
    </p:spTree>
    <p:extLst>
      <p:ext uri="{BB962C8B-B14F-4D97-AF65-F5344CB8AC3E}">
        <p14:creationId xmlns:p14="http://schemas.microsoft.com/office/powerpoint/2010/main" val="630931235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hape-1062">
            <a:extLst xmlns:a="http://schemas.openxmlformats.org/drawingml/2006/main">
              <a:ext uri="{FF2B5EF4-FFF2-40B4-BE49-F238E27FC236}">
                <a16:creationId xmlns:a16="http://schemas.microsoft.com/office/drawing/2014/main" id="{FEB36BCF-FB21-401F-81B7-9D742A7A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 开发路线</a:t>
            </a:r>
          </a:p>
        </p:txBody>
      </p:sp>
      <p:sp>
        <p:nvSpPr>
          <p:cNvPr id="2" name="shape-1063">
            <a:extLst xmlns:a="http://schemas.openxmlformats.org/drawingml/2006/main">
              <a:ext uri="{FF2B5EF4-FFF2-40B4-BE49-F238E27FC236}">
                <a16:creationId xmlns:a16="http://schemas.microsoft.com/office/drawing/2014/main" id="{BB539F6A-F627-4415-B77B-0C0D608B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完整作品需要代码、证据和讲述材料</a:t>
            </a:r>
          </a:p>
        </p:txBody>
      </p:sp>
      <p:cxnSp>
        <p:nvCxnSpPr>
          <p:cNvPr id="15" name="shape-1064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065">
            <a:extLst xmlns:a="http://schemas.openxmlformats.org/drawingml/2006/main">
              <a:ext uri="{FF2B5EF4-FFF2-40B4-BE49-F238E27FC236}">
                <a16:creationId xmlns:a16="http://schemas.microsoft.com/office/drawing/2014/main" id="{F985B8F0-EA8F-4F28-B3BE-67EA00F5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57</a:t>
            </a:r>
          </a:p>
        </p:txBody>
      </p:sp>
      <p:sp>
        <p:nvSpPr>
          <p:cNvPr id="5" name="shape-1066">
            <a:extLst xmlns:a="http://schemas.openxmlformats.org/drawingml/2006/main">
              <a:ext uri="{FF2B5EF4-FFF2-40B4-BE49-F238E27FC236}">
                <a16:creationId xmlns:a16="http://schemas.microsoft.com/office/drawing/2014/main" id="{52A2E7F1-2B56-4A6F-AFB9-48885823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可复现</a:t>
            </a:r>
          </a:p>
        </p:txBody>
      </p:sp>
      <p:sp>
        <p:nvSpPr>
          <p:cNvPr id="6" name="shape-1067">
            <a:extLst xmlns:a="http://schemas.openxmlformats.org/drawingml/2006/main">
              <a:ext uri="{FF2B5EF4-FFF2-40B4-BE49-F238E27FC236}">
                <a16:creationId xmlns:a16="http://schemas.microsoft.com/office/drawing/2014/main" id="{7294ED32-0818-4CB5-BBDF-3081CB06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README与问题背景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架构图、状态图、数据库设计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OpenAPI/Swagger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Docker Compose一键部署</a:t>
            </a:r>
          </a:p>
        </p:txBody>
      </p:sp>
      <p:sp>
        <p:nvSpPr>
          <p:cNvPr id="7" name="shape-1068">
            <a:extLst xmlns:a="http://schemas.openxmlformats.org/drawingml/2006/main">
              <a:ext uri="{FF2B5EF4-FFF2-40B4-BE49-F238E27FC236}">
                <a16:creationId xmlns:a16="http://schemas.microsoft.com/office/drawing/2014/main" id="{F1C11565-FB58-4C3A-9F36-DFF9736A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1069">
            <a:extLst xmlns:a="http://schemas.openxmlformats.org/drawingml/2006/main">
              <a:ext uri="{FF2B5EF4-FFF2-40B4-BE49-F238E27FC236}">
                <a16:creationId xmlns:a16="http://schemas.microsoft.com/office/drawing/2014/main" id="{1D59A2D7-495C-4EAA-B927-6EAE1FA7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可验证</a:t>
            </a:r>
          </a:p>
        </p:txBody>
      </p:sp>
      <p:sp>
        <p:nvSpPr>
          <p:cNvPr id="9" name="shape-1070">
            <a:extLst xmlns:a="http://schemas.openxmlformats.org/drawingml/2006/main">
              <a:ext uri="{FF2B5EF4-FFF2-40B4-BE49-F238E27FC236}">
                <a16:creationId xmlns:a16="http://schemas.microsoft.com/office/drawing/2014/main" id="{66B6087D-6CD0-4980-8036-98A896EC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单元/集成/E2E/安全测试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k6压测报告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Grafana截图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数据库备份恢复记录</a:t>
            </a:r>
          </a:p>
        </p:txBody>
      </p:sp>
      <p:sp>
        <p:nvSpPr>
          <p:cNvPr id="10" name="shape-1071">
            <a:extLst xmlns:a="http://schemas.openxmlformats.org/drawingml/2006/main">
              <a:ext uri="{FF2B5EF4-FFF2-40B4-BE49-F238E27FC236}">
                <a16:creationId xmlns:a16="http://schemas.microsoft.com/office/drawing/2014/main" id="{B25E7239-672D-48A6-9E30-8991C37D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-1072">
            <a:extLst xmlns:a="http://schemas.openxmlformats.org/drawingml/2006/main">
              <a:ext uri="{FF2B5EF4-FFF2-40B4-BE49-F238E27FC236}">
                <a16:creationId xmlns:a16="http://schemas.microsoft.com/office/drawing/2014/main" id="{1D263D4F-5FF2-45E9-9756-7293B52A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可讲述</a:t>
            </a:r>
          </a:p>
        </p:txBody>
      </p:sp>
      <p:sp>
        <p:nvSpPr>
          <p:cNvPr id="12" name="shape-1073">
            <a:extLst xmlns:a="http://schemas.openxmlformats.org/drawingml/2006/main">
              <a:ext uri="{FF2B5EF4-FFF2-40B4-BE49-F238E27FC236}">
                <a16:creationId xmlns:a16="http://schemas.microsoft.com/office/drawing/2014/main" id="{E4F5962F-6AD8-41BB-B92B-5890FC07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真实试用反馈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3—5分钟演示视频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技术决策记录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从反馈到改进的过程</a:t>
            </a:r>
          </a:p>
        </p:txBody>
      </p:sp>
    </p:spTree>
    <p:extLst>
      <p:ext uri="{BB962C8B-B14F-4D97-AF65-F5344CB8AC3E}">
        <p14:creationId xmlns:p14="http://schemas.microsoft.com/office/powerpoint/2010/main" val="642063538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-1074">
            <a:extLst xmlns:a="http://schemas.openxmlformats.org/drawingml/2006/main">
              <a:ext uri="{FF2B5EF4-FFF2-40B4-BE49-F238E27FC236}">
                <a16:creationId xmlns:a16="http://schemas.microsoft.com/office/drawing/2014/main" id="{53C60396-035A-45F6-BE63-69F624AD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 开发路线</a:t>
            </a:r>
          </a:p>
        </p:txBody>
      </p:sp>
      <p:sp>
        <p:nvSpPr>
          <p:cNvPr id="2" name="shape-1075">
            <a:extLst xmlns:a="http://schemas.openxmlformats.org/drawingml/2006/main">
              <a:ext uri="{FF2B5EF4-FFF2-40B4-BE49-F238E27FC236}">
                <a16:creationId xmlns:a16="http://schemas.microsoft.com/office/drawing/2014/main" id="{D81F0F47-8EB9-45FB-AFAE-09693FDD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简历写结果，但每个数字都必须有证据</a:t>
            </a:r>
          </a:p>
        </p:txBody>
      </p:sp>
      <p:cxnSp>
        <p:nvCxnSpPr>
          <p:cNvPr id="14" name="shape-1076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077">
            <a:extLst xmlns:a="http://schemas.openxmlformats.org/drawingml/2006/main">
              <a:ext uri="{FF2B5EF4-FFF2-40B4-BE49-F238E27FC236}">
                <a16:creationId xmlns:a16="http://schemas.microsoft.com/office/drawing/2014/main" id="{008A3850-1170-49AE-893F-84CDDE42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58</a:t>
            </a:r>
          </a:p>
        </p:txBody>
      </p:sp>
      <p:sp>
        <p:nvSpPr>
          <p:cNvPr id="5" name="shape-1078">
            <a:extLst xmlns:a="http://schemas.openxmlformats.org/drawingml/2006/main">
              <a:ext uri="{FF2B5EF4-FFF2-40B4-BE49-F238E27FC236}">
                <a16:creationId xmlns:a16="http://schemas.microsoft.com/office/drawing/2014/main" id="{EF015E7B-5447-47E3-8E71-8F460DF8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可以写的工程亮点</a:t>
            </a:r>
          </a:p>
        </p:txBody>
      </p:sp>
      <p:sp>
        <p:nvSpPr>
          <p:cNvPr id="6" name="shape-1079">
            <a:extLst xmlns:a="http://schemas.openxmlformats.org/drawingml/2006/main">
              <a:ext uri="{FF2B5EF4-FFF2-40B4-BE49-F238E27FC236}">
                <a16:creationId xmlns:a16="http://schemas.microsoft.com/office/drawing/2014/main" id="{FE9445BD-5517-47CB-9AAA-964907E0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5143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1080">
            <a:extLst xmlns:a="http://schemas.openxmlformats.org/drawingml/2006/main">
              <a:ext uri="{FF2B5EF4-FFF2-40B4-BE49-F238E27FC236}">
                <a16:creationId xmlns:a16="http://schemas.microsoft.com/office/drawing/2014/main" id="{5DB0E588-FD2A-450F-B9DE-582B92A6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4667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MySQL事务与Redis并发控制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100人竞争20名额无超卖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Kafka + Transactional Outbox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幂等消费与补偿任务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Prometheus/Grafana可观测性</a:t>
            </a:r>
          </a:p>
        </p:txBody>
      </p:sp>
      <p:sp>
        <p:nvSpPr>
          <p:cNvPr id="8" name="shape-1081">
            <a:extLst xmlns:a="http://schemas.openxmlformats.org/drawingml/2006/main">
              <a:ext uri="{FF2B5EF4-FFF2-40B4-BE49-F238E27FC236}">
                <a16:creationId xmlns:a16="http://schemas.microsoft.com/office/drawing/2014/main" id="{2E2C73CF-5F32-47EE-866E-537B5030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514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不能提前编造</a:t>
            </a:r>
          </a:p>
        </p:txBody>
      </p:sp>
      <p:sp>
        <p:nvSpPr>
          <p:cNvPr id="9" name="shape-1082">
            <a:extLst xmlns:a="http://schemas.openxmlformats.org/drawingml/2006/main">
              <a:ext uri="{FF2B5EF4-FFF2-40B4-BE49-F238E27FC236}">
                <a16:creationId xmlns:a16="http://schemas.microsoft.com/office/drawing/2014/main" id="{5625A8E1-64A7-40AB-9B5D-44CAC7D5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5143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1083">
            <a:extLst xmlns:a="http://schemas.openxmlformats.org/drawingml/2006/main">
              <a:ext uri="{FF2B5EF4-FFF2-40B4-BE49-F238E27FC236}">
                <a16:creationId xmlns:a16="http://schemas.microsoft.com/office/drawing/2014/main" id="{695B39B0-FAFA-4B9D-AEB2-5DF841C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667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真实用户数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P95响应时间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错误率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通知延迟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系统吞吐量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用户满意度</a:t>
            </a:r>
          </a:p>
        </p:txBody>
      </p:sp>
      <p:sp>
        <p:nvSpPr>
          <p:cNvPr id="11" name="shape-1084">
            <a:extLst xmlns:a="http://schemas.openxmlformats.org/drawingml/2006/main">
              <a:ext uri="{FF2B5EF4-FFF2-40B4-BE49-F238E27FC236}">
                <a16:creationId xmlns:a16="http://schemas.microsoft.com/office/drawing/2014/main" id="{A12FB276-D212-4E92-AA2B-626899B4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991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指标只有在测试或试用实际产生后，才能进入简历。</a:t>
            </a:r>
          </a:p>
        </p:txBody>
      </p:sp>
    </p:spTree>
    <p:extLst>
      <p:ext uri="{BB962C8B-B14F-4D97-AF65-F5344CB8AC3E}">
        <p14:creationId xmlns:p14="http://schemas.microsoft.com/office/powerpoint/2010/main" val="41296517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hape-1085">
            <a:extLst xmlns:a="http://schemas.openxmlformats.org/drawingml/2006/main">
              <a:ext uri="{FF2B5EF4-FFF2-40B4-BE49-F238E27FC236}">
                <a16:creationId xmlns:a16="http://schemas.microsoft.com/office/drawing/2014/main" id="{3B71FCB1-7A31-4D12-81ED-1184A5E9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 开发路线</a:t>
            </a:r>
          </a:p>
        </p:txBody>
      </p:sp>
      <p:sp>
        <p:nvSpPr>
          <p:cNvPr id="2" name="shape-1086">
            <a:extLst xmlns:a="http://schemas.openxmlformats.org/drawingml/2006/main">
              <a:ext uri="{FF2B5EF4-FFF2-40B4-BE49-F238E27FC236}">
                <a16:creationId xmlns:a16="http://schemas.microsoft.com/office/drawing/2014/main" id="{B8085C9C-087A-4698-87DA-93A48180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项目完成的标准是形成可验证的真实闭环</a:t>
            </a:r>
          </a:p>
        </p:txBody>
      </p:sp>
      <p:cxnSp>
        <p:nvCxnSpPr>
          <p:cNvPr id="9" name="shape-1087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088">
            <a:extLst xmlns:a="http://schemas.openxmlformats.org/drawingml/2006/main">
              <a:ext uri="{FF2B5EF4-FFF2-40B4-BE49-F238E27FC236}">
                <a16:creationId xmlns:a16="http://schemas.microsoft.com/office/drawing/2014/main" id="{3ED20AD4-A0DB-44F1-8A59-D8F632DF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59</a:t>
            </a:r>
          </a:p>
        </p:txBody>
      </p:sp>
      <p:sp>
        <p:nvSpPr>
          <p:cNvPr id="5" name="shape-1089">
            <a:extLst xmlns:a="http://schemas.openxmlformats.org/drawingml/2006/main">
              <a:ext uri="{FF2B5EF4-FFF2-40B4-BE49-F238E27FC236}">
                <a16:creationId xmlns:a16="http://schemas.microsoft.com/office/drawing/2014/main" id="{B5980726-CCA8-4BC2-A1C3-22B455A7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66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VolunteerFlow的亮点不是技术名词多，而是把真实校园问题做成可运行、可验证、可演进的系统。</a:t>
            </a:r>
          </a:p>
        </p:txBody>
      </p:sp>
      <p:sp>
        <p:nvSpPr>
          <p:cNvPr id="6" name="shape-1090">
            <a:extLst xmlns:a="http://schemas.openxmlformats.org/drawingml/2006/main">
              <a:ext uri="{FF2B5EF4-FFF2-40B4-BE49-F238E27FC236}">
                <a16:creationId xmlns:a16="http://schemas.microsoft.com/office/drawing/2014/main" id="{A8CE3FCB-48A7-4541-A1E1-5786D979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572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报名、候补、取消、递补、通知和签到完整工作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关键权限与跨组织隔离通过测试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并发测试证明无超卖、无重复报名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Redis和Kafka故障场景有验证结果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Docker Compose能够部署演示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至少10名同学完成一次试用并留下反馈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文档、测试报告和演示材料足以让面试官复现和理解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下一步：先建立代码仓库与阶段0任务清单，再开始实现第一条纵向业务链路</a:t>
            </a:r>
          </a:p>
        </p:txBody>
      </p:sp>
    </p:spTree>
    <p:extLst>
      <p:ext uri="{BB962C8B-B14F-4D97-AF65-F5344CB8AC3E}">
        <p14:creationId xmlns:p14="http://schemas.microsoft.com/office/powerpoint/2010/main" val="167973803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1091">
            <a:extLst xmlns:a="http://schemas.openxmlformats.org/drawingml/2006/main">
              <a:ext uri="{FF2B5EF4-FFF2-40B4-BE49-F238E27FC236}">
                <a16:creationId xmlns:a16="http://schemas.microsoft.com/office/drawing/2014/main" id="{60377752-F1A7-4F22-A009-A01C8334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PART 附录</a:t>
            </a:r>
          </a:p>
        </p:txBody>
      </p:sp>
      <p:sp>
        <p:nvSpPr>
          <p:cNvPr id="2" name="shape-1092">
            <a:extLst xmlns:a="http://schemas.openxmlformats.org/drawingml/2006/main">
              <a:ext uri="{FF2B5EF4-FFF2-40B4-BE49-F238E27FC236}">
                <a16:creationId xmlns:a16="http://schemas.microsoft.com/office/drawing/2014/main" id="{6973F49D-C832-4FF4-ACA4-C0BEC9A9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525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完整实施细节</a:t>
            </a:r>
          </a:p>
        </p:txBody>
      </p:sp>
      <p:sp>
        <p:nvSpPr>
          <p:cNvPr id="3" name="shape-1093">
            <a:extLst xmlns:a="http://schemas.openxmlformats.org/drawingml/2006/main">
              <a:ext uri="{FF2B5EF4-FFF2-40B4-BE49-F238E27FC236}">
                <a16:creationId xmlns:a16="http://schemas.microsoft.com/office/drawing/2014/main" id="{79ACADF7-F694-41F4-BCC9-35984D78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781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保留响应示例、精确状态、阶段验收与发布边界，便于开发时直接查阅。</a:t>
            </a:r>
          </a:p>
        </p:txBody>
      </p:sp>
      <p:cxnSp>
        <p:nvCxnSpPr>
          <p:cNvPr id="9" name="shape-1094"/>
          <p:cNvCxnSpPr/>
          <p:nvPr/>
        </p:nvCxnSpPr>
        <p:spPr>
          <a:xfrm xmlns:a="http://schemas.openxmlformats.org/drawingml/2006/main">
            <a:off x="400050" y="5715000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5" name="shape-1095">
            <a:extLst xmlns:a="http://schemas.openxmlformats.org/drawingml/2006/main">
              <a:ext uri="{FF2B5EF4-FFF2-40B4-BE49-F238E27FC236}">
                <a16:creationId xmlns:a16="http://schemas.microsoft.com/office/drawing/2014/main" id="{771AFBBB-D9BB-4C04-A75C-09B5AE92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9626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75372355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-1096">
            <a:extLst xmlns:a="http://schemas.openxmlformats.org/drawingml/2006/main">
              <a:ext uri="{FF2B5EF4-FFF2-40B4-BE49-F238E27FC236}">
                <a16:creationId xmlns:a16="http://schemas.microsoft.com/office/drawing/2014/main" id="{D5D018E2-EEB7-4EC4-BFFC-AC11DD07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shape-1097">
            <a:extLst xmlns:a="http://schemas.openxmlformats.org/drawingml/2006/main">
              <a:ext uri="{FF2B5EF4-FFF2-40B4-BE49-F238E27FC236}">
                <a16:creationId xmlns:a16="http://schemas.microsoft.com/office/drawing/2014/main" id="{C19410A8-AF09-446E-894B-37252FB3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成功与错误响应都具有稳定结构</a:t>
            </a:r>
          </a:p>
        </p:txBody>
      </p:sp>
      <p:cxnSp>
        <p:nvCxnSpPr>
          <p:cNvPr id="14" name="shape-1098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099">
            <a:extLst xmlns:a="http://schemas.openxmlformats.org/drawingml/2006/main">
              <a:ext uri="{FF2B5EF4-FFF2-40B4-BE49-F238E27FC236}">
                <a16:creationId xmlns:a16="http://schemas.microsoft.com/office/drawing/2014/main" id="{A6ACF70B-4A2C-4917-8EE1-82FFD247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61</a:t>
            </a:r>
          </a:p>
        </p:txBody>
      </p:sp>
      <p:sp>
        <p:nvSpPr>
          <p:cNvPr id="5" name="shape-1100">
            <a:extLst xmlns:a="http://schemas.openxmlformats.org/drawingml/2006/main">
              <a:ext uri="{FF2B5EF4-FFF2-40B4-BE49-F238E27FC236}">
                <a16:creationId xmlns:a16="http://schemas.microsoft.com/office/drawing/2014/main" id="{77027C1D-C6D9-4485-AE2E-A37C9D9A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514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成功响应</a:t>
            </a:r>
          </a:p>
        </p:txBody>
      </p:sp>
      <p:sp>
        <p:nvSpPr>
          <p:cNvPr id="6" name="shape-1101">
            <a:extLst xmlns:a="http://schemas.openxmlformats.org/drawingml/2006/main">
              <a:ext uri="{FF2B5EF4-FFF2-40B4-BE49-F238E27FC236}">
                <a16:creationId xmlns:a16="http://schemas.microsoft.com/office/drawing/2014/main" id="{3C1A74DB-2748-46D9-8534-6C358123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143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-1102">
            <a:extLst xmlns:a="http://schemas.openxmlformats.org/drawingml/2006/main">
              <a:ext uri="{FF2B5EF4-FFF2-40B4-BE49-F238E27FC236}">
                <a16:creationId xmlns:a16="http://schemas.microsoft.com/office/drawing/2014/main" id="{29AA3CE6-FDAF-48A1-B055-D32687A6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HTTP/1.1 200 OK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"data": {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  "id": 101,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  "title": "校园迎新志愿活动"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},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"meta": {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  "page": 1,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  "pageSize": 20,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  "total": 86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8" name="shape-1103">
            <a:extLst xmlns:a="http://schemas.openxmlformats.org/drawingml/2006/main">
              <a:ext uri="{FF2B5EF4-FFF2-40B4-BE49-F238E27FC236}">
                <a16:creationId xmlns:a16="http://schemas.microsoft.com/office/drawing/2014/main" id="{506957BE-A508-489A-AF11-73B53142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514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RFC 7807业务错误</a:t>
            </a:r>
          </a:p>
        </p:txBody>
      </p:sp>
      <p:sp>
        <p:nvSpPr>
          <p:cNvPr id="9" name="shape-1104">
            <a:extLst xmlns:a="http://schemas.openxmlformats.org/drawingml/2006/main">
              <a:ext uri="{FF2B5EF4-FFF2-40B4-BE49-F238E27FC236}">
                <a16:creationId xmlns:a16="http://schemas.microsoft.com/office/drawing/2014/main" id="{B78D34DE-A973-4E75-B7E8-15A60860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5143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-1105">
            <a:extLst xmlns:a="http://schemas.openxmlformats.org/drawingml/2006/main">
              <a:ext uri="{FF2B5EF4-FFF2-40B4-BE49-F238E27FC236}">
                <a16:creationId xmlns:a16="http://schemas.microsoft.com/office/drawing/2014/main" id="{D07F58BF-56ED-4FC4-A034-23A1ABD8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HTTP/1.1 409 Conflict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"type": ".../promotion-offer-expired",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"title": "候补邀请已失效",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"status": 409,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"detail": "已超过确认期限",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"instance": "/api/v1/.../responses",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"code": "PROMOTION_OFFER_EXPIRED",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  "requestId": "01J5XYZ..."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>
                <a:solidFill>
                  <a:srgbClr val="111111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11" name="shape-1106">
            <a:extLst xmlns:a="http://schemas.openxmlformats.org/drawingml/2006/main">
              <a:ext uri="{FF2B5EF4-FFF2-40B4-BE49-F238E27FC236}">
                <a16:creationId xmlns:a16="http://schemas.microsoft.com/office/drawing/2014/main" id="{7DCC2D0E-4064-4747-9F80-F0C91A01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991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201创建响应可携带Location；204用于成功且无需返回内容的操作。</a:t>
            </a:r>
          </a:p>
        </p:txBody>
      </p:sp>
    </p:spTree>
    <p:extLst>
      <p:ext uri="{BB962C8B-B14F-4D97-AF65-F5344CB8AC3E}">
        <p14:creationId xmlns:p14="http://schemas.microsoft.com/office/powerpoint/2010/main" val="209631625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shape-1107">
            <a:extLst xmlns:a="http://schemas.openxmlformats.org/drawingml/2006/main">
              <a:ext uri="{FF2B5EF4-FFF2-40B4-BE49-F238E27FC236}">
                <a16:creationId xmlns:a16="http://schemas.microsoft.com/office/drawing/2014/main" id="{57D4BDDC-F58B-43D2-B607-16B3DE5F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shape-1108">
            <a:extLst xmlns:a="http://schemas.openxmlformats.org/drawingml/2006/main">
              <a:ext uri="{FF2B5EF4-FFF2-40B4-BE49-F238E27FC236}">
                <a16:creationId xmlns:a16="http://schemas.microsoft.com/office/drawing/2014/main" id="{D6DDE274-2B57-4360-BF77-3C28CAB8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候补邀请状态与名额计算必须精确</a:t>
            </a:r>
          </a:p>
        </p:txBody>
      </p:sp>
      <p:cxnSp>
        <p:nvCxnSpPr>
          <p:cNvPr id="61" name="shape-1109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110">
            <a:extLst xmlns:a="http://schemas.openxmlformats.org/drawingml/2006/main">
              <a:ext uri="{FF2B5EF4-FFF2-40B4-BE49-F238E27FC236}">
                <a16:creationId xmlns:a16="http://schemas.microsoft.com/office/drawing/2014/main" id="{D988BF10-A004-4795-8B5C-D4AFB694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62</a:t>
            </a:r>
          </a:p>
        </p:txBody>
      </p:sp>
      <p:sp>
        <p:nvSpPr>
          <p:cNvPr id="5" name="shape-1111">
            <a:extLst xmlns:a="http://schemas.openxmlformats.org/drawingml/2006/main">
              <a:ext uri="{FF2B5EF4-FFF2-40B4-BE49-F238E27FC236}">
                <a16:creationId xmlns:a16="http://schemas.microsoft.com/office/drawing/2014/main" id="{2642D703-2542-4439-A288-04A05464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702914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shape-1112">
            <a:extLst xmlns:a="http://schemas.openxmlformats.org/drawingml/2006/main">
              <a:ext uri="{FF2B5EF4-FFF2-40B4-BE49-F238E27FC236}">
                <a16:creationId xmlns:a16="http://schemas.microsoft.com/office/drawing/2014/main" id="{FF8E1995-33A1-434B-8856-377F8409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38325"/>
            <a:ext cx="2550514" cy="2815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7" name="shape-1113">
            <a:extLst xmlns:a="http://schemas.openxmlformats.org/drawingml/2006/main">
              <a:ext uri="{FF2B5EF4-FFF2-40B4-BE49-F238E27FC236}">
                <a16:creationId xmlns:a16="http://schemas.microsoft.com/office/drawing/2014/main" id="{EAE87B6D-4385-4DB0-90C9-557D363B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964" y="1762125"/>
            <a:ext cx="3603885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shape-1114">
            <a:extLst xmlns:a="http://schemas.openxmlformats.org/drawingml/2006/main">
              <a:ext uri="{FF2B5EF4-FFF2-40B4-BE49-F238E27FC236}">
                <a16:creationId xmlns:a16="http://schemas.microsoft.com/office/drawing/2014/main" id="{5BD74119-83F3-4BE7-BD46-5B567202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164" y="1838325"/>
            <a:ext cx="3451485" cy="2815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状态/公式</a:t>
            </a:r>
          </a:p>
        </p:txBody>
      </p:sp>
      <p:sp>
        <p:nvSpPr>
          <p:cNvPr id="9" name="shape-1115">
            <a:extLst xmlns:a="http://schemas.openxmlformats.org/drawingml/2006/main">
              <a:ext uri="{FF2B5EF4-FFF2-40B4-BE49-F238E27FC236}">
                <a16:creationId xmlns:a16="http://schemas.microsoft.com/office/drawing/2014/main" id="{1DB73C44-9331-41D6-9F8F-0EB43714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849" y="1762125"/>
            <a:ext cx="468505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shape-1116">
            <a:extLst xmlns:a="http://schemas.openxmlformats.org/drawingml/2006/main">
              <a:ext uri="{FF2B5EF4-FFF2-40B4-BE49-F238E27FC236}">
                <a16:creationId xmlns:a16="http://schemas.microsoft.com/office/drawing/2014/main" id="{3DC07165-96CB-4793-A49A-27D50806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049" y="1838325"/>
            <a:ext cx="4532651" cy="2815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1" name="shape-1117">
            <a:extLst xmlns:a="http://schemas.openxmlformats.org/drawingml/2006/main">
              <a:ext uri="{FF2B5EF4-FFF2-40B4-BE49-F238E27FC236}">
                <a16:creationId xmlns:a16="http://schemas.microsoft.com/office/drawing/2014/main" id="{CCB469EB-1FD9-4BB6-883E-C2F810F5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6042"/>
            <a:ext cx="2702914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shape-1118">
            <a:extLst xmlns:a="http://schemas.openxmlformats.org/drawingml/2006/main">
              <a:ext uri="{FF2B5EF4-FFF2-40B4-BE49-F238E27FC236}">
                <a16:creationId xmlns:a16="http://schemas.microsoft.com/office/drawing/2014/main" id="{B564CD62-C187-4059-8522-F99FF728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62717"/>
            <a:ext cx="2550514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promotion_offer</a:t>
            </a:r>
          </a:p>
        </p:txBody>
      </p:sp>
      <p:sp>
        <p:nvSpPr>
          <p:cNvPr id="13" name="shape-1119">
            <a:extLst xmlns:a="http://schemas.openxmlformats.org/drawingml/2006/main">
              <a:ext uri="{FF2B5EF4-FFF2-40B4-BE49-F238E27FC236}">
                <a16:creationId xmlns:a16="http://schemas.microsoft.com/office/drawing/2014/main" id="{93BCFF71-EFAE-429A-84FC-3049232E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964" y="2196042"/>
            <a:ext cx="3603885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shape-1120">
            <a:extLst xmlns:a="http://schemas.openxmlformats.org/drawingml/2006/main">
              <a:ext uri="{FF2B5EF4-FFF2-40B4-BE49-F238E27FC236}">
                <a16:creationId xmlns:a16="http://schemas.microsoft.com/office/drawing/2014/main" id="{88F47374-495A-481D-AB3F-C6334F3B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164" y="2262717"/>
            <a:ext cx="3451485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15" name="shape-1121">
            <a:extLst xmlns:a="http://schemas.openxmlformats.org/drawingml/2006/main">
              <a:ext uri="{FF2B5EF4-FFF2-40B4-BE49-F238E27FC236}">
                <a16:creationId xmlns:a16="http://schemas.microsoft.com/office/drawing/2014/main" id="{4D1B6F9B-494F-454E-BFCB-27F63464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849" y="2196042"/>
            <a:ext cx="468505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shape-1122">
            <a:extLst xmlns:a="http://schemas.openxmlformats.org/drawingml/2006/main">
              <a:ext uri="{FF2B5EF4-FFF2-40B4-BE49-F238E27FC236}">
                <a16:creationId xmlns:a16="http://schemas.microsoft.com/office/drawing/2014/main" id="{1A6C0F5A-15E8-4CC2-88D5-DF291D10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049" y="2262717"/>
            <a:ext cx="4532651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名额已保留，等待用户回应</a:t>
            </a:r>
          </a:p>
        </p:txBody>
      </p:sp>
      <p:sp>
        <p:nvSpPr>
          <p:cNvPr id="17" name="shape-1123">
            <a:extLst xmlns:a="http://schemas.openxmlformats.org/drawingml/2006/main">
              <a:ext uri="{FF2B5EF4-FFF2-40B4-BE49-F238E27FC236}">
                <a16:creationId xmlns:a16="http://schemas.microsoft.com/office/drawing/2014/main" id="{A03C103E-686F-43FC-8B94-6A078079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9958"/>
            <a:ext cx="2702914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shape-1124">
            <a:extLst xmlns:a="http://schemas.openxmlformats.org/drawingml/2006/main">
              <a:ext uri="{FF2B5EF4-FFF2-40B4-BE49-F238E27FC236}">
                <a16:creationId xmlns:a16="http://schemas.microsoft.com/office/drawing/2014/main" id="{68BB86BF-CAE2-41B5-BBD1-724C97F8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96633"/>
            <a:ext cx="2550514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promotion_offer</a:t>
            </a:r>
          </a:p>
        </p:txBody>
      </p:sp>
      <p:sp>
        <p:nvSpPr>
          <p:cNvPr id="19" name="shape-1125">
            <a:extLst xmlns:a="http://schemas.openxmlformats.org/drawingml/2006/main">
              <a:ext uri="{FF2B5EF4-FFF2-40B4-BE49-F238E27FC236}">
                <a16:creationId xmlns:a16="http://schemas.microsoft.com/office/drawing/2014/main" id="{488D204D-0151-43B3-AF13-82909172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964" y="2629958"/>
            <a:ext cx="3603885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shape-1126">
            <a:extLst xmlns:a="http://schemas.openxmlformats.org/drawingml/2006/main">
              <a:ext uri="{FF2B5EF4-FFF2-40B4-BE49-F238E27FC236}">
                <a16:creationId xmlns:a16="http://schemas.microsoft.com/office/drawing/2014/main" id="{07CDB8B4-0862-4803-B5B1-35CFA8EC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164" y="2696633"/>
            <a:ext cx="3451485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ACCEPTED</a:t>
            </a:r>
          </a:p>
        </p:txBody>
      </p:sp>
      <p:sp>
        <p:nvSpPr>
          <p:cNvPr id="21" name="shape-1127">
            <a:extLst xmlns:a="http://schemas.openxmlformats.org/drawingml/2006/main">
              <a:ext uri="{FF2B5EF4-FFF2-40B4-BE49-F238E27FC236}">
                <a16:creationId xmlns:a16="http://schemas.microsoft.com/office/drawing/2014/main" id="{0ED8C6CD-21D0-42DF-A0FB-0911EC58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849" y="2629958"/>
            <a:ext cx="468505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shape-1128">
            <a:extLst xmlns:a="http://schemas.openxmlformats.org/drawingml/2006/main">
              <a:ext uri="{FF2B5EF4-FFF2-40B4-BE49-F238E27FC236}">
                <a16:creationId xmlns:a16="http://schemas.microsoft.com/office/drawing/2014/main" id="{0152D90A-B38F-4530-BC4D-DFBFA05D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049" y="2696633"/>
            <a:ext cx="4532651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报名转为CONFIRMED</a:t>
            </a:r>
          </a:p>
        </p:txBody>
      </p:sp>
      <p:sp>
        <p:nvSpPr>
          <p:cNvPr id="23" name="shape-1129">
            <a:extLst xmlns:a="http://schemas.openxmlformats.org/drawingml/2006/main">
              <a:ext uri="{FF2B5EF4-FFF2-40B4-BE49-F238E27FC236}">
                <a16:creationId xmlns:a16="http://schemas.microsoft.com/office/drawing/2014/main" id="{A48D5761-F489-41BF-991C-F102768B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63875"/>
            <a:ext cx="2702914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shape-1130">
            <a:extLst xmlns:a="http://schemas.openxmlformats.org/drawingml/2006/main">
              <a:ext uri="{FF2B5EF4-FFF2-40B4-BE49-F238E27FC236}">
                <a16:creationId xmlns:a16="http://schemas.microsoft.com/office/drawing/2014/main" id="{C69904D3-D973-45EE-9A50-8DF7DBB4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30550"/>
            <a:ext cx="2550514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promotion_offer</a:t>
            </a:r>
          </a:p>
        </p:txBody>
      </p:sp>
      <p:sp>
        <p:nvSpPr>
          <p:cNvPr id="25" name="shape-1131">
            <a:extLst xmlns:a="http://schemas.openxmlformats.org/drawingml/2006/main">
              <a:ext uri="{FF2B5EF4-FFF2-40B4-BE49-F238E27FC236}">
                <a16:creationId xmlns:a16="http://schemas.microsoft.com/office/drawing/2014/main" id="{27483322-8F18-453F-886F-4AAEFCE4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964" y="3063875"/>
            <a:ext cx="3603885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shape-1132">
            <a:extLst xmlns:a="http://schemas.openxmlformats.org/drawingml/2006/main">
              <a:ext uri="{FF2B5EF4-FFF2-40B4-BE49-F238E27FC236}">
                <a16:creationId xmlns:a16="http://schemas.microsoft.com/office/drawing/2014/main" id="{A96A9788-C08A-4B57-BD7B-60EDDA0D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164" y="3130550"/>
            <a:ext cx="3451485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DECLINED</a:t>
            </a:r>
          </a:p>
        </p:txBody>
      </p:sp>
      <p:sp>
        <p:nvSpPr>
          <p:cNvPr id="27" name="shape-1133">
            <a:extLst xmlns:a="http://schemas.openxmlformats.org/drawingml/2006/main">
              <a:ext uri="{FF2B5EF4-FFF2-40B4-BE49-F238E27FC236}">
                <a16:creationId xmlns:a16="http://schemas.microsoft.com/office/drawing/2014/main" id="{6D2E91B6-2A35-4CF0-AD59-D99A8B36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849" y="3063875"/>
            <a:ext cx="468505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shape-1134">
            <a:extLst xmlns:a="http://schemas.openxmlformats.org/drawingml/2006/main">
              <a:ext uri="{FF2B5EF4-FFF2-40B4-BE49-F238E27FC236}">
                <a16:creationId xmlns:a16="http://schemas.microsoft.com/office/drawing/2014/main" id="{D8050631-2D10-40F2-9420-A966DF54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049" y="3130550"/>
            <a:ext cx="4532651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用户拒绝，继续下一位</a:t>
            </a:r>
          </a:p>
        </p:txBody>
      </p:sp>
      <p:sp>
        <p:nvSpPr>
          <p:cNvPr id="29" name="shape-1135">
            <a:extLst xmlns:a="http://schemas.openxmlformats.org/drawingml/2006/main">
              <a:ext uri="{FF2B5EF4-FFF2-40B4-BE49-F238E27FC236}">
                <a16:creationId xmlns:a16="http://schemas.microsoft.com/office/drawing/2014/main" id="{90095E4C-2F22-4599-A028-7EB9195C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7792"/>
            <a:ext cx="2702914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shape-1136">
            <a:extLst xmlns:a="http://schemas.openxmlformats.org/drawingml/2006/main">
              <a:ext uri="{FF2B5EF4-FFF2-40B4-BE49-F238E27FC236}">
                <a16:creationId xmlns:a16="http://schemas.microsoft.com/office/drawing/2014/main" id="{B3E993BC-6F81-4E22-B0EF-BF6245DA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4467"/>
            <a:ext cx="2550514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promotion_offer</a:t>
            </a:r>
          </a:p>
        </p:txBody>
      </p:sp>
      <p:sp>
        <p:nvSpPr>
          <p:cNvPr id="31" name="shape-1137">
            <a:extLst xmlns:a="http://schemas.openxmlformats.org/drawingml/2006/main">
              <a:ext uri="{FF2B5EF4-FFF2-40B4-BE49-F238E27FC236}">
                <a16:creationId xmlns:a16="http://schemas.microsoft.com/office/drawing/2014/main" id="{630E039C-2A74-468B-AA24-FA243D19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964" y="3497792"/>
            <a:ext cx="3603885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shape-1138">
            <a:extLst xmlns:a="http://schemas.openxmlformats.org/drawingml/2006/main">
              <a:ext uri="{FF2B5EF4-FFF2-40B4-BE49-F238E27FC236}">
                <a16:creationId xmlns:a16="http://schemas.microsoft.com/office/drawing/2014/main" id="{9586266F-50B5-499A-BE43-1B850D5B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164" y="3564467"/>
            <a:ext cx="3451485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EXPIRED</a:t>
            </a:r>
          </a:p>
        </p:txBody>
      </p:sp>
      <p:sp>
        <p:nvSpPr>
          <p:cNvPr id="33" name="shape-1139">
            <a:extLst xmlns:a="http://schemas.openxmlformats.org/drawingml/2006/main">
              <a:ext uri="{FF2B5EF4-FFF2-40B4-BE49-F238E27FC236}">
                <a16:creationId xmlns:a16="http://schemas.microsoft.com/office/drawing/2014/main" id="{F06094F6-A542-4ADF-BCFA-8BABFCDE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849" y="3497792"/>
            <a:ext cx="468505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shape-1140">
            <a:extLst xmlns:a="http://schemas.openxmlformats.org/drawingml/2006/main">
              <a:ext uri="{FF2B5EF4-FFF2-40B4-BE49-F238E27FC236}">
                <a16:creationId xmlns:a16="http://schemas.microsoft.com/office/drawing/2014/main" id="{6552E26B-122C-4193-926C-65125A37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049" y="3564467"/>
            <a:ext cx="4532651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超过expiresAt，继续下一位</a:t>
            </a:r>
          </a:p>
        </p:txBody>
      </p:sp>
      <p:sp>
        <p:nvSpPr>
          <p:cNvPr id="35" name="shape-1141">
            <a:extLst xmlns:a="http://schemas.openxmlformats.org/drawingml/2006/main">
              <a:ext uri="{FF2B5EF4-FFF2-40B4-BE49-F238E27FC236}">
                <a16:creationId xmlns:a16="http://schemas.microsoft.com/office/drawing/2014/main" id="{63E2D522-E849-4592-8AAD-2BF40D67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31708"/>
            <a:ext cx="2702914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shape-1142">
            <a:extLst xmlns:a="http://schemas.openxmlformats.org/drawingml/2006/main">
              <a:ext uri="{FF2B5EF4-FFF2-40B4-BE49-F238E27FC236}">
                <a16:creationId xmlns:a16="http://schemas.microsoft.com/office/drawing/2014/main" id="{C5841A89-DD9D-49EA-BED9-8C246AB2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8383"/>
            <a:ext cx="2550514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promotion_offer</a:t>
            </a:r>
          </a:p>
        </p:txBody>
      </p:sp>
      <p:sp>
        <p:nvSpPr>
          <p:cNvPr id="37" name="shape-1143">
            <a:extLst xmlns:a="http://schemas.openxmlformats.org/drawingml/2006/main">
              <a:ext uri="{FF2B5EF4-FFF2-40B4-BE49-F238E27FC236}">
                <a16:creationId xmlns:a16="http://schemas.microsoft.com/office/drawing/2014/main" id="{FA7514B8-16A8-418A-A1C4-9947FE1C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964" y="3931708"/>
            <a:ext cx="3603885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shape-1144">
            <a:extLst xmlns:a="http://schemas.openxmlformats.org/drawingml/2006/main">
              <a:ext uri="{FF2B5EF4-FFF2-40B4-BE49-F238E27FC236}">
                <a16:creationId xmlns:a16="http://schemas.microsoft.com/office/drawing/2014/main" id="{994ECE65-5C95-4691-B7D3-19B861AB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164" y="3998383"/>
            <a:ext cx="3451485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CANCELED</a:t>
            </a:r>
          </a:p>
        </p:txBody>
      </p:sp>
      <p:sp>
        <p:nvSpPr>
          <p:cNvPr id="39" name="shape-1145">
            <a:extLst xmlns:a="http://schemas.openxmlformats.org/drawingml/2006/main">
              <a:ext uri="{FF2B5EF4-FFF2-40B4-BE49-F238E27FC236}">
                <a16:creationId xmlns:a16="http://schemas.microsoft.com/office/drawing/2014/main" id="{73573324-D7EC-43F6-A611-6489ECE8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849" y="3931708"/>
            <a:ext cx="468505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shape-1146">
            <a:extLst xmlns:a="http://schemas.openxmlformats.org/drawingml/2006/main">
              <a:ext uri="{FF2B5EF4-FFF2-40B4-BE49-F238E27FC236}">
                <a16:creationId xmlns:a16="http://schemas.microsoft.com/office/drawing/2014/main" id="{D0348A81-BF86-45F6-9B53-C6435682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049" y="3998383"/>
            <a:ext cx="4532651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活动或业务原因使邀请失效</a:t>
            </a:r>
          </a:p>
        </p:txBody>
      </p:sp>
      <p:sp>
        <p:nvSpPr>
          <p:cNvPr id="41" name="shape-1147">
            <a:extLst xmlns:a="http://schemas.openxmlformats.org/drawingml/2006/main">
              <a:ext uri="{FF2B5EF4-FFF2-40B4-BE49-F238E27FC236}">
                <a16:creationId xmlns:a16="http://schemas.microsoft.com/office/drawing/2014/main" id="{D5D7F3E1-6DEA-4D68-8992-D239EB82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5625"/>
            <a:ext cx="2702914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shape-1148">
            <a:extLst xmlns:a="http://schemas.openxmlformats.org/drawingml/2006/main">
              <a:ext uri="{FF2B5EF4-FFF2-40B4-BE49-F238E27FC236}">
                <a16:creationId xmlns:a16="http://schemas.microsoft.com/office/drawing/2014/main" id="{273C4DC0-A593-4294-8A29-5CE84D75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2300"/>
            <a:ext cx="2550514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名额占用</a:t>
            </a:r>
          </a:p>
        </p:txBody>
      </p:sp>
      <p:sp>
        <p:nvSpPr>
          <p:cNvPr id="43" name="shape-1149">
            <a:extLst xmlns:a="http://schemas.openxmlformats.org/drawingml/2006/main">
              <a:ext uri="{FF2B5EF4-FFF2-40B4-BE49-F238E27FC236}">
                <a16:creationId xmlns:a16="http://schemas.microsoft.com/office/drawing/2014/main" id="{B3FF8B52-2C8C-4C21-A269-9DBE24FB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964" y="4365625"/>
            <a:ext cx="3603885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4" name="shape-1150">
            <a:extLst xmlns:a="http://schemas.openxmlformats.org/drawingml/2006/main">
              <a:ext uri="{FF2B5EF4-FFF2-40B4-BE49-F238E27FC236}">
                <a16:creationId xmlns:a16="http://schemas.microsoft.com/office/drawing/2014/main" id="{E5D7E585-7EF0-4E9C-A8CA-72527E28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164" y="4432300"/>
            <a:ext cx="3451485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CONFIRMED + 有效PENDING邀请</a:t>
            </a:r>
          </a:p>
        </p:txBody>
      </p:sp>
      <p:sp>
        <p:nvSpPr>
          <p:cNvPr id="45" name="shape-1151">
            <a:extLst xmlns:a="http://schemas.openxmlformats.org/drawingml/2006/main">
              <a:ext uri="{FF2B5EF4-FFF2-40B4-BE49-F238E27FC236}">
                <a16:creationId xmlns:a16="http://schemas.microsoft.com/office/drawing/2014/main" id="{8F68B7CB-49D4-410A-91A5-45B46E5D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849" y="4365625"/>
            <a:ext cx="468505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shape-1152">
            <a:extLst xmlns:a="http://schemas.openxmlformats.org/drawingml/2006/main">
              <a:ext uri="{FF2B5EF4-FFF2-40B4-BE49-F238E27FC236}">
                <a16:creationId xmlns:a16="http://schemas.microsoft.com/office/drawing/2014/main" id="{6C21CE95-3D02-46CC-A564-87A25475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049" y="4432300"/>
            <a:ext cx="4532651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不能把同一空位重复分配</a:t>
            </a:r>
          </a:p>
        </p:txBody>
      </p:sp>
      <p:sp>
        <p:nvSpPr>
          <p:cNvPr id="47" name="shape-1153">
            <a:extLst xmlns:a="http://schemas.openxmlformats.org/drawingml/2006/main">
              <a:ext uri="{FF2B5EF4-FFF2-40B4-BE49-F238E27FC236}">
                <a16:creationId xmlns:a16="http://schemas.microsoft.com/office/drawing/2014/main" id="{B7A3A5D2-D09D-4E97-83D3-6EBDB658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99542"/>
            <a:ext cx="2702914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shape-1154">
            <a:extLst xmlns:a="http://schemas.openxmlformats.org/drawingml/2006/main">
              <a:ext uri="{FF2B5EF4-FFF2-40B4-BE49-F238E27FC236}">
                <a16:creationId xmlns:a16="http://schemas.microsoft.com/office/drawing/2014/main" id="{7DEC1299-19C7-4926-BB43-0D0ED377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66217"/>
            <a:ext cx="2550514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确认期限</a:t>
            </a:r>
          </a:p>
        </p:txBody>
      </p:sp>
      <p:sp>
        <p:nvSpPr>
          <p:cNvPr id="49" name="shape-1155">
            <a:extLst xmlns:a="http://schemas.openxmlformats.org/drawingml/2006/main">
              <a:ext uri="{FF2B5EF4-FFF2-40B4-BE49-F238E27FC236}">
                <a16:creationId xmlns:a16="http://schemas.microsoft.com/office/drawing/2014/main" id="{E44330F5-C7CF-46AC-95A1-E2200AB0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964" y="4799542"/>
            <a:ext cx="3603885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shape-1156">
            <a:extLst xmlns:a="http://schemas.openxmlformats.org/drawingml/2006/main">
              <a:ext uri="{FF2B5EF4-FFF2-40B4-BE49-F238E27FC236}">
                <a16:creationId xmlns:a16="http://schemas.microsoft.com/office/drawing/2014/main" id="{F2923125-3584-4ACD-9256-DD8986B6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164" y="4866217"/>
            <a:ext cx="3451485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30分钟—12小时，默认2小时</a:t>
            </a:r>
          </a:p>
        </p:txBody>
      </p:sp>
      <p:sp>
        <p:nvSpPr>
          <p:cNvPr id="51" name="shape-1157">
            <a:extLst xmlns:a="http://schemas.openxmlformats.org/drawingml/2006/main">
              <a:ext uri="{FF2B5EF4-FFF2-40B4-BE49-F238E27FC236}">
                <a16:creationId xmlns:a16="http://schemas.microsoft.com/office/drawing/2014/main" id="{FD14D0D0-304D-4A54-ADD3-5B31F567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849" y="4799542"/>
            <a:ext cx="468505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shape-1158">
            <a:extLst xmlns:a="http://schemas.openxmlformats.org/drawingml/2006/main">
              <a:ext uri="{FF2B5EF4-FFF2-40B4-BE49-F238E27FC236}">
                <a16:creationId xmlns:a16="http://schemas.microsoft.com/office/drawing/2014/main" id="{24E25037-D74C-417B-AA35-DBE615F4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049" y="4866217"/>
            <a:ext cx="4532651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以MySQL的expiresAt为准</a:t>
            </a:r>
          </a:p>
        </p:txBody>
      </p:sp>
      <p:sp>
        <p:nvSpPr>
          <p:cNvPr id="53" name="shape-1159">
            <a:extLst xmlns:a="http://schemas.openxmlformats.org/drawingml/2006/main">
              <a:ext uri="{FF2B5EF4-FFF2-40B4-BE49-F238E27FC236}">
                <a16:creationId xmlns:a16="http://schemas.microsoft.com/office/drawing/2014/main" id="{2355C583-0BA1-4C5B-93C4-7C07921F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3458"/>
            <a:ext cx="2702914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4" name="shape-1160">
            <a:extLst xmlns:a="http://schemas.openxmlformats.org/drawingml/2006/main">
              <a:ext uri="{FF2B5EF4-FFF2-40B4-BE49-F238E27FC236}">
                <a16:creationId xmlns:a16="http://schemas.microsoft.com/office/drawing/2014/main" id="{5F9AFE8E-02D0-4D4A-9D11-1A3C88E62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00133"/>
            <a:ext cx="2550514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重新报名</a:t>
            </a:r>
          </a:p>
        </p:txBody>
      </p:sp>
      <p:sp>
        <p:nvSpPr>
          <p:cNvPr id="55" name="shape-1161">
            <a:extLst xmlns:a="http://schemas.openxmlformats.org/drawingml/2006/main">
              <a:ext uri="{FF2B5EF4-FFF2-40B4-BE49-F238E27FC236}">
                <a16:creationId xmlns:a16="http://schemas.microsoft.com/office/drawing/2014/main" id="{C2078B3D-4894-4718-A590-46543CC0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2964" y="5233458"/>
            <a:ext cx="3603885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6" name="shape-1162">
            <a:extLst xmlns:a="http://schemas.openxmlformats.org/drawingml/2006/main">
              <a:ext uri="{FF2B5EF4-FFF2-40B4-BE49-F238E27FC236}">
                <a16:creationId xmlns:a16="http://schemas.microsoft.com/office/drawing/2014/main" id="{B7BFDE36-11E5-4340-B95A-361BFE82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9164" y="5300133"/>
            <a:ext cx="3451485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新生命周期 + 新queueNumber</a:t>
            </a:r>
          </a:p>
        </p:txBody>
      </p:sp>
      <p:sp>
        <p:nvSpPr>
          <p:cNvPr id="57" name="shape-1163">
            <a:extLst xmlns:a="http://schemas.openxmlformats.org/drawingml/2006/main">
              <a:ext uri="{FF2B5EF4-FFF2-40B4-BE49-F238E27FC236}">
                <a16:creationId xmlns:a16="http://schemas.microsoft.com/office/drawing/2014/main" id="{6F266FDB-9E08-48F4-B62F-35A5AD3B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849" y="5233458"/>
            <a:ext cx="4685051" cy="4339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8" name="shape-1164">
            <a:extLst xmlns:a="http://schemas.openxmlformats.org/drawingml/2006/main">
              <a:ext uri="{FF2B5EF4-FFF2-40B4-BE49-F238E27FC236}">
                <a16:creationId xmlns:a16="http://schemas.microsoft.com/office/drawing/2014/main" id="{12D890FB-E8C9-4DAA-9963-5B90ECE7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3049" y="5300133"/>
            <a:ext cx="4532651" cy="3005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回到队尾，历史留在审计</a:t>
            </a:r>
          </a:p>
        </p:txBody>
      </p:sp>
    </p:spTree>
    <p:extLst>
      <p:ext uri="{BB962C8B-B14F-4D97-AF65-F5344CB8AC3E}">
        <p14:creationId xmlns:p14="http://schemas.microsoft.com/office/powerpoint/2010/main" val="1012503609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hape-1165">
            <a:extLst xmlns:a="http://schemas.openxmlformats.org/drawingml/2006/main">
              <a:ext uri="{FF2B5EF4-FFF2-40B4-BE49-F238E27FC236}">
                <a16:creationId xmlns:a16="http://schemas.microsoft.com/office/drawing/2014/main" id="{F9B3264D-7951-4B31-A467-2CC617D6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shape-1166">
            <a:extLst xmlns:a="http://schemas.openxmlformats.org/drawingml/2006/main">
              <a:ext uri="{FF2B5EF4-FFF2-40B4-BE49-F238E27FC236}">
                <a16:creationId xmlns:a16="http://schemas.microsoft.com/office/drawing/2014/main" id="{09B08808-343C-42FC-8FAF-E751F300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活动与报名字段支撑状态、并发和审计</a:t>
            </a:r>
          </a:p>
        </p:txBody>
      </p:sp>
      <p:cxnSp>
        <p:nvCxnSpPr>
          <p:cNvPr id="56" name="shape-1167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168">
            <a:extLst xmlns:a="http://schemas.openxmlformats.org/drawingml/2006/main">
              <a:ext uri="{FF2B5EF4-FFF2-40B4-BE49-F238E27FC236}">
                <a16:creationId xmlns:a16="http://schemas.microsoft.com/office/drawing/2014/main" id="{2D61B9D3-810A-40BC-9513-C70529B2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63</a:t>
            </a:r>
          </a:p>
        </p:txBody>
      </p:sp>
      <p:sp>
        <p:nvSpPr>
          <p:cNvPr id="5" name="shape-1169">
            <a:extLst xmlns:a="http://schemas.openxmlformats.org/drawingml/2006/main">
              <a:ext uri="{FF2B5EF4-FFF2-40B4-BE49-F238E27FC236}">
                <a16:creationId xmlns:a16="http://schemas.microsoft.com/office/drawing/2014/main" id="{C4D9EF49-319E-4767-A832-211601EA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95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聊天与AI表不进入第一版数据库。</a:t>
            </a:r>
          </a:p>
        </p:txBody>
      </p:sp>
      <p:sp>
        <p:nvSpPr>
          <p:cNvPr id="6" name="shape-1170">
            <a:extLst xmlns:a="http://schemas.openxmlformats.org/drawingml/2006/main">
              <a:ext uri="{FF2B5EF4-FFF2-40B4-BE49-F238E27FC236}">
                <a16:creationId xmlns:a16="http://schemas.microsoft.com/office/drawing/2014/main" id="{5306CFF3-71E7-4ED4-9070-862A1F88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263028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shape-1171">
            <a:extLst xmlns:a="http://schemas.openxmlformats.org/drawingml/2006/main">
              <a:ext uri="{FF2B5EF4-FFF2-40B4-BE49-F238E27FC236}">
                <a16:creationId xmlns:a16="http://schemas.microsoft.com/office/drawing/2014/main" id="{60B786BF-C412-4DA2-9F61-F93E0A0E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71700"/>
            <a:ext cx="2110628" cy="335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</a:t>
            </a:r>
          </a:p>
        </p:txBody>
      </p:sp>
      <p:sp>
        <p:nvSpPr>
          <p:cNvPr id="8" name="shape-1172">
            <a:extLst xmlns:a="http://schemas.openxmlformats.org/drawingml/2006/main">
              <a:ext uri="{FF2B5EF4-FFF2-40B4-BE49-F238E27FC236}">
                <a16:creationId xmlns:a16="http://schemas.microsoft.com/office/drawing/2014/main" id="{17D92E9E-07C5-486E-BBBB-06EA2A2D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078" y="2095500"/>
            <a:ext cx="5172635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shape-1173">
            <a:extLst xmlns:a="http://schemas.openxmlformats.org/drawingml/2006/main">
              <a:ext uri="{FF2B5EF4-FFF2-40B4-BE49-F238E27FC236}">
                <a16:creationId xmlns:a16="http://schemas.microsoft.com/office/drawing/2014/main" id="{3141ECDE-D66C-41AA-9DAD-59FA90FB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78" y="2171700"/>
            <a:ext cx="5020235" cy="335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关键字段</a:t>
            </a:r>
          </a:p>
        </p:txBody>
      </p:sp>
      <p:sp>
        <p:nvSpPr>
          <p:cNvPr id="10" name="shape-1174">
            <a:extLst xmlns:a="http://schemas.openxmlformats.org/drawingml/2006/main">
              <a:ext uri="{FF2B5EF4-FFF2-40B4-BE49-F238E27FC236}">
                <a16:creationId xmlns:a16="http://schemas.microsoft.com/office/drawing/2014/main" id="{CA16241C-5EE5-4073-ACFE-9885A265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713" y="2095500"/>
            <a:ext cx="3556187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shape-1175">
            <a:extLst xmlns:a="http://schemas.openxmlformats.org/drawingml/2006/main">
              <a:ext uri="{FF2B5EF4-FFF2-40B4-BE49-F238E27FC236}">
                <a16:creationId xmlns:a16="http://schemas.microsoft.com/office/drawing/2014/main" id="{CA383FAC-C307-43F7-8A4C-B391ADBA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913" y="2171700"/>
            <a:ext cx="3403787" cy="3357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12" name="shape-1176">
            <a:extLst xmlns:a="http://schemas.openxmlformats.org/drawingml/2006/main">
              <a:ext uri="{FF2B5EF4-FFF2-40B4-BE49-F238E27FC236}">
                <a16:creationId xmlns:a16="http://schemas.microsoft.com/office/drawing/2014/main" id="{9C4F1BCB-F762-489D-A61D-E59250C0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83656"/>
            <a:ext cx="2263028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hape-1177">
            <a:extLst xmlns:a="http://schemas.openxmlformats.org/drawingml/2006/main">
              <a:ext uri="{FF2B5EF4-FFF2-40B4-BE49-F238E27FC236}">
                <a16:creationId xmlns:a16="http://schemas.microsoft.com/office/drawing/2014/main" id="{97808F69-9DF2-4DDD-BC76-EC9F0CA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50331"/>
            <a:ext cx="2110628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activity</a:t>
            </a:r>
          </a:p>
        </p:txBody>
      </p:sp>
      <p:sp>
        <p:nvSpPr>
          <p:cNvPr id="14" name="shape-1178">
            <a:extLst xmlns:a="http://schemas.openxmlformats.org/drawingml/2006/main">
              <a:ext uri="{FF2B5EF4-FFF2-40B4-BE49-F238E27FC236}">
                <a16:creationId xmlns:a16="http://schemas.microsoft.com/office/drawing/2014/main" id="{38F1FB7B-0B05-453B-A71F-5FB5D5BC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078" y="2583656"/>
            <a:ext cx="5172635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hape-1179">
            <a:extLst xmlns:a="http://schemas.openxmlformats.org/drawingml/2006/main">
              <a:ext uri="{FF2B5EF4-FFF2-40B4-BE49-F238E27FC236}">
                <a16:creationId xmlns:a16="http://schemas.microsoft.com/office/drawing/2014/main" id="{2A0C476E-1502-4905-9C91-69742E23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78" y="2650331"/>
            <a:ext cx="5020235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organization_id, mode, capacity, times, status, version</a:t>
            </a:r>
          </a:p>
        </p:txBody>
      </p:sp>
      <p:sp>
        <p:nvSpPr>
          <p:cNvPr id="16" name="shape-1180">
            <a:extLst xmlns:a="http://schemas.openxmlformats.org/drawingml/2006/main">
              <a:ext uri="{FF2B5EF4-FFF2-40B4-BE49-F238E27FC236}">
                <a16:creationId xmlns:a16="http://schemas.microsoft.com/office/drawing/2014/main" id="{E2B7A99D-9C60-4DA0-AA09-7C6085E1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713" y="2583656"/>
            <a:ext cx="3556187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hape-1181">
            <a:extLst xmlns:a="http://schemas.openxmlformats.org/drawingml/2006/main">
              <a:ext uri="{FF2B5EF4-FFF2-40B4-BE49-F238E27FC236}">
                <a16:creationId xmlns:a16="http://schemas.microsoft.com/office/drawing/2014/main" id="{9B704D23-F1D4-4BC3-A87F-B1A41921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913" y="2650331"/>
            <a:ext cx="3403787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组织隔离、报名窗口、容量和乐观锁</a:t>
            </a:r>
          </a:p>
        </p:txBody>
      </p:sp>
      <p:sp>
        <p:nvSpPr>
          <p:cNvPr id="18" name="shape-1182">
            <a:extLst xmlns:a="http://schemas.openxmlformats.org/drawingml/2006/main">
              <a:ext uri="{FF2B5EF4-FFF2-40B4-BE49-F238E27FC236}">
                <a16:creationId xmlns:a16="http://schemas.microsoft.com/office/drawing/2014/main" id="{58E78189-B29C-4416-BB60-52C25A71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71813"/>
            <a:ext cx="2263028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hape-1183">
            <a:extLst xmlns:a="http://schemas.openxmlformats.org/drawingml/2006/main">
              <a:ext uri="{FF2B5EF4-FFF2-40B4-BE49-F238E27FC236}">
                <a16:creationId xmlns:a16="http://schemas.microsoft.com/office/drawing/2014/main" id="{16A2DADB-1CE9-469F-83D6-E362B1AD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38488"/>
            <a:ext cx="2110628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registration</a:t>
            </a:r>
          </a:p>
        </p:txBody>
      </p:sp>
      <p:sp>
        <p:nvSpPr>
          <p:cNvPr id="20" name="shape-1184">
            <a:extLst xmlns:a="http://schemas.openxmlformats.org/drawingml/2006/main">
              <a:ext uri="{FF2B5EF4-FFF2-40B4-BE49-F238E27FC236}">
                <a16:creationId xmlns:a16="http://schemas.microsoft.com/office/drawing/2014/main" id="{ACAD0164-E3D3-45B0-91BB-D8525380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078" y="3071813"/>
            <a:ext cx="5172635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hape-1185">
            <a:extLst xmlns:a="http://schemas.openxmlformats.org/drawingml/2006/main">
              <a:ext uri="{FF2B5EF4-FFF2-40B4-BE49-F238E27FC236}">
                <a16:creationId xmlns:a16="http://schemas.microsoft.com/office/drawing/2014/main" id="{C927B24A-C8D9-4834-A184-5A128129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78" y="3138488"/>
            <a:ext cx="5020235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status, queue_number, cancel_reason, attendance_status</a:t>
            </a:r>
          </a:p>
        </p:txBody>
      </p:sp>
      <p:sp>
        <p:nvSpPr>
          <p:cNvPr id="22" name="shape-1186">
            <a:extLst xmlns:a="http://schemas.openxmlformats.org/drawingml/2006/main">
              <a:ext uri="{FF2B5EF4-FFF2-40B4-BE49-F238E27FC236}">
                <a16:creationId xmlns:a16="http://schemas.microsoft.com/office/drawing/2014/main" id="{0F43073E-A809-407B-9E9C-10C498E9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713" y="3071813"/>
            <a:ext cx="3556187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hape-1187">
            <a:extLst xmlns:a="http://schemas.openxmlformats.org/drawingml/2006/main">
              <a:ext uri="{FF2B5EF4-FFF2-40B4-BE49-F238E27FC236}">
                <a16:creationId xmlns:a16="http://schemas.microsoft.com/office/drawing/2014/main" id="{812567EF-96A4-4251-8114-2E605642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913" y="3138488"/>
            <a:ext cx="3403787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报名、候补、取消和到场结果</a:t>
            </a:r>
          </a:p>
        </p:txBody>
      </p:sp>
      <p:sp>
        <p:nvSpPr>
          <p:cNvPr id="24" name="shape-1188">
            <a:extLst xmlns:a="http://schemas.openxmlformats.org/drawingml/2006/main">
              <a:ext uri="{FF2B5EF4-FFF2-40B4-BE49-F238E27FC236}">
                <a16:creationId xmlns:a16="http://schemas.microsoft.com/office/drawing/2014/main" id="{F9D4C91C-1A65-4C13-9D72-48F492C7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59969"/>
            <a:ext cx="2263028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hape-1189">
            <a:extLst xmlns:a="http://schemas.openxmlformats.org/drawingml/2006/main">
              <a:ext uri="{FF2B5EF4-FFF2-40B4-BE49-F238E27FC236}">
                <a16:creationId xmlns:a16="http://schemas.microsoft.com/office/drawing/2014/main" id="{F2721ED1-BA78-4BA7-89E4-3180EBA3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6644"/>
            <a:ext cx="2110628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promotion_offer</a:t>
            </a:r>
          </a:p>
        </p:txBody>
      </p:sp>
      <p:sp>
        <p:nvSpPr>
          <p:cNvPr id="26" name="shape-1190">
            <a:extLst xmlns:a="http://schemas.openxmlformats.org/drawingml/2006/main">
              <a:ext uri="{FF2B5EF4-FFF2-40B4-BE49-F238E27FC236}">
                <a16:creationId xmlns:a16="http://schemas.microsoft.com/office/drawing/2014/main" id="{C65679AF-E3DB-4354-B7FB-56D7839A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078" y="3559969"/>
            <a:ext cx="5172635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hape-1191">
            <a:extLst xmlns:a="http://schemas.openxmlformats.org/drawingml/2006/main">
              <a:ext uri="{FF2B5EF4-FFF2-40B4-BE49-F238E27FC236}">
                <a16:creationId xmlns:a16="http://schemas.microsoft.com/office/drawing/2014/main" id="{DFC92CD7-E502-4B91-8E05-2BD3549E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78" y="3626644"/>
            <a:ext cx="5020235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status, expires_at, registration_id</a:t>
            </a:r>
          </a:p>
        </p:txBody>
      </p:sp>
      <p:sp>
        <p:nvSpPr>
          <p:cNvPr id="28" name="shape-1192">
            <a:extLst xmlns:a="http://schemas.openxmlformats.org/drawingml/2006/main">
              <a:ext uri="{FF2B5EF4-FFF2-40B4-BE49-F238E27FC236}">
                <a16:creationId xmlns:a16="http://schemas.microsoft.com/office/drawing/2014/main" id="{36E10459-C2E7-4958-ADFE-B95DECE6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713" y="3559969"/>
            <a:ext cx="3556187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shape-1193">
            <a:extLst xmlns:a="http://schemas.openxmlformats.org/drawingml/2006/main">
              <a:ext uri="{FF2B5EF4-FFF2-40B4-BE49-F238E27FC236}">
                <a16:creationId xmlns:a16="http://schemas.microsoft.com/office/drawing/2014/main" id="{4835FDDA-5CC6-4829-9C4C-3A1D3A00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913" y="3626644"/>
            <a:ext cx="3403787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限时保留与递补推进</a:t>
            </a:r>
          </a:p>
        </p:txBody>
      </p:sp>
      <p:sp>
        <p:nvSpPr>
          <p:cNvPr id="30" name="shape-1194">
            <a:extLst xmlns:a="http://schemas.openxmlformats.org/drawingml/2006/main">
              <a:ext uri="{FF2B5EF4-FFF2-40B4-BE49-F238E27FC236}">
                <a16:creationId xmlns:a16="http://schemas.microsoft.com/office/drawing/2014/main" id="{32EEDB4E-1C52-4B8B-99F7-858B26EC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263028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shape-1195">
            <a:extLst xmlns:a="http://schemas.openxmlformats.org/drawingml/2006/main">
              <a:ext uri="{FF2B5EF4-FFF2-40B4-BE49-F238E27FC236}">
                <a16:creationId xmlns:a16="http://schemas.microsoft.com/office/drawing/2014/main" id="{4CF8083F-0223-4048-8AB5-8ADF06CE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14800"/>
            <a:ext cx="2110628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activity_change</a:t>
            </a:r>
          </a:p>
        </p:txBody>
      </p:sp>
      <p:sp>
        <p:nvSpPr>
          <p:cNvPr id="32" name="shape-1196">
            <a:extLst xmlns:a="http://schemas.openxmlformats.org/drawingml/2006/main">
              <a:ext uri="{FF2B5EF4-FFF2-40B4-BE49-F238E27FC236}">
                <a16:creationId xmlns:a16="http://schemas.microsoft.com/office/drawing/2014/main" id="{D9782462-C03F-4CDD-A962-F95C6604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078" y="4048125"/>
            <a:ext cx="5172635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shape-1197">
            <a:extLst xmlns:a="http://schemas.openxmlformats.org/drawingml/2006/main">
              <a:ext uri="{FF2B5EF4-FFF2-40B4-BE49-F238E27FC236}">
                <a16:creationId xmlns:a16="http://schemas.microsoft.com/office/drawing/2014/main" id="{2C508AD4-1889-457A-A781-58DC3BF1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78" y="4114800"/>
            <a:ext cx="5020235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before, after, operator, notified_at</a:t>
            </a:r>
          </a:p>
        </p:txBody>
      </p:sp>
      <p:sp>
        <p:nvSpPr>
          <p:cNvPr id="34" name="shape-1198">
            <a:extLst xmlns:a="http://schemas.openxmlformats.org/drawingml/2006/main">
              <a:ext uri="{FF2B5EF4-FFF2-40B4-BE49-F238E27FC236}">
                <a16:creationId xmlns:a16="http://schemas.microsoft.com/office/drawing/2014/main" id="{DD197D7C-51B3-4CF3-8CE6-B324FD7F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713" y="4048125"/>
            <a:ext cx="3556187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shape-1199">
            <a:extLst xmlns:a="http://schemas.openxmlformats.org/drawingml/2006/main">
              <a:ext uri="{FF2B5EF4-FFF2-40B4-BE49-F238E27FC236}">
                <a16:creationId xmlns:a16="http://schemas.microsoft.com/office/drawing/2014/main" id="{5F280424-62AC-4CCC-9F18-2909205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913" y="4114800"/>
            <a:ext cx="3403787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发布后变更与通知证据</a:t>
            </a:r>
          </a:p>
        </p:txBody>
      </p:sp>
      <p:sp>
        <p:nvSpPr>
          <p:cNvPr id="36" name="shape-1200">
            <a:extLst xmlns:a="http://schemas.openxmlformats.org/drawingml/2006/main">
              <a:ext uri="{FF2B5EF4-FFF2-40B4-BE49-F238E27FC236}">
                <a16:creationId xmlns:a16="http://schemas.microsoft.com/office/drawing/2014/main" id="{ECDEA98A-AD69-4435-ADE5-934F9D23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6281"/>
            <a:ext cx="2263028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shape-1201">
            <a:extLst xmlns:a="http://schemas.openxmlformats.org/drawingml/2006/main">
              <a:ext uri="{FF2B5EF4-FFF2-40B4-BE49-F238E27FC236}">
                <a16:creationId xmlns:a16="http://schemas.microsoft.com/office/drawing/2014/main" id="{6CB50882-2EA6-4BDE-932A-96B4A038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02956"/>
            <a:ext cx="2110628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notification</a:t>
            </a:r>
          </a:p>
        </p:txBody>
      </p:sp>
      <p:sp>
        <p:nvSpPr>
          <p:cNvPr id="38" name="shape-1202">
            <a:extLst xmlns:a="http://schemas.openxmlformats.org/drawingml/2006/main">
              <a:ext uri="{FF2B5EF4-FFF2-40B4-BE49-F238E27FC236}">
                <a16:creationId xmlns:a16="http://schemas.microsoft.com/office/drawing/2014/main" id="{DA287D36-F21F-44B1-AA90-6D4A8641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078" y="4536281"/>
            <a:ext cx="5172635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shape-1203">
            <a:extLst xmlns:a="http://schemas.openxmlformats.org/drawingml/2006/main">
              <a:ext uri="{FF2B5EF4-FFF2-40B4-BE49-F238E27FC236}">
                <a16:creationId xmlns:a16="http://schemas.microsoft.com/office/drawing/2014/main" id="{862FACFB-955E-4086-9E01-3E6BB987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78" y="4602956"/>
            <a:ext cx="5020235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event_id, user_id, channel, read_at</a:t>
            </a:r>
          </a:p>
        </p:txBody>
      </p:sp>
      <p:sp>
        <p:nvSpPr>
          <p:cNvPr id="40" name="shape-1204">
            <a:extLst xmlns:a="http://schemas.openxmlformats.org/drawingml/2006/main">
              <a:ext uri="{FF2B5EF4-FFF2-40B4-BE49-F238E27FC236}">
                <a16:creationId xmlns:a16="http://schemas.microsoft.com/office/drawing/2014/main" id="{20CCC63E-BE2C-4824-91F9-2AF21C77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713" y="4536281"/>
            <a:ext cx="3556187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shape-1205">
            <a:extLst xmlns:a="http://schemas.openxmlformats.org/drawingml/2006/main">
              <a:ext uri="{FF2B5EF4-FFF2-40B4-BE49-F238E27FC236}">
                <a16:creationId xmlns:a16="http://schemas.microsoft.com/office/drawing/2014/main" id="{2BCD6D58-E757-4370-BCC3-66B42300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913" y="4602956"/>
            <a:ext cx="3403787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幂等通知和已读状态</a:t>
            </a:r>
          </a:p>
        </p:txBody>
      </p:sp>
      <p:sp>
        <p:nvSpPr>
          <p:cNvPr id="42" name="shape-1206">
            <a:extLst xmlns:a="http://schemas.openxmlformats.org/drawingml/2006/main">
              <a:ext uri="{FF2B5EF4-FFF2-40B4-BE49-F238E27FC236}">
                <a16:creationId xmlns:a16="http://schemas.microsoft.com/office/drawing/2014/main" id="{F89D189C-E649-4129-A97C-265D9767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24438"/>
            <a:ext cx="2263028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shape-1207">
            <a:extLst xmlns:a="http://schemas.openxmlformats.org/drawingml/2006/main">
              <a:ext uri="{FF2B5EF4-FFF2-40B4-BE49-F238E27FC236}">
                <a16:creationId xmlns:a16="http://schemas.microsoft.com/office/drawing/2014/main" id="{8FE5A402-70DC-4355-AF90-93DE7B56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91113"/>
            <a:ext cx="2110628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audit_log</a:t>
            </a:r>
          </a:p>
        </p:txBody>
      </p:sp>
      <p:sp>
        <p:nvSpPr>
          <p:cNvPr id="44" name="shape-1208">
            <a:extLst xmlns:a="http://schemas.openxmlformats.org/drawingml/2006/main">
              <a:ext uri="{FF2B5EF4-FFF2-40B4-BE49-F238E27FC236}">
                <a16:creationId xmlns:a16="http://schemas.microsoft.com/office/drawing/2014/main" id="{1CF6A21D-5AFB-4F15-A501-69B5CB65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078" y="5024438"/>
            <a:ext cx="5172635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shape-1209">
            <a:extLst xmlns:a="http://schemas.openxmlformats.org/drawingml/2006/main">
              <a:ext uri="{FF2B5EF4-FFF2-40B4-BE49-F238E27FC236}">
                <a16:creationId xmlns:a16="http://schemas.microsoft.com/office/drawing/2014/main" id="{0CE6F211-C92A-4C09-B5B6-7A4AEE69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78" y="5091113"/>
            <a:ext cx="5020235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actor, action, target, before, after</a:t>
            </a:r>
          </a:p>
        </p:txBody>
      </p:sp>
      <p:sp>
        <p:nvSpPr>
          <p:cNvPr id="46" name="shape-1210">
            <a:extLst xmlns:a="http://schemas.openxmlformats.org/drawingml/2006/main">
              <a:ext uri="{FF2B5EF4-FFF2-40B4-BE49-F238E27FC236}">
                <a16:creationId xmlns:a16="http://schemas.microsoft.com/office/drawing/2014/main" id="{7D349D12-C3E4-4012-9BA4-2D04F430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713" y="5024438"/>
            <a:ext cx="3556187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7" name="shape-1211">
            <a:extLst xmlns:a="http://schemas.openxmlformats.org/drawingml/2006/main">
              <a:ext uri="{FF2B5EF4-FFF2-40B4-BE49-F238E27FC236}">
                <a16:creationId xmlns:a16="http://schemas.microsoft.com/office/drawing/2014/main" id="{63BEB89E-98ED-43DA-A814-B0F4DBA9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913" y="5091113"/>
            <a:ext cx="3403787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只追加的关键操作记录</a:t>
            </a:r>
          </a:p>
        </p:txBody>
      </p:sp>
      <p:sp>
        <p:nvSpPr>
          <p:cNvPr id="48" name="shape-1212">
            <a:extLst xmlns:a="http://schemas.openxmlformats.org/drawingml/2006/main">
              <a:ext uri="{FF2B5EF4-FFF2-40B4-BE49-F238E27FC236}">
                <a16:creationId xmlns:a16="http://schemas.microsoft.com/office/drawing/2014/main" id="{91348623-C545-4BD2-A605-EDC13CAC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12594"/>
            <a:ext cx="2263028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shape-1213">
            <a:extLst xmlns:a="http://schemas.openxmlformats.org/drawingml/2006/main">
              <a:ext uri="{FF2B5EF4-FFF2-40B4-BE49-F238E27FC236}">
                <a16:creationId xmlns:a16="http://schemas.microsoft.com/office/drawing/2014/main" id="{DFEBE6C0-CDFB-43B9-ACE7-5D287943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579269"/>
            <a:ext cx="2110628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outbox_event</a:t>
            </a:r>
          </a:p>
        </p:txBody>
      </p:sp>
      <p:sp>
        <p:nvSpPr>
          <p:cNvPr id="50" name="shape-1214">
            <a:extLst xmlns:a="http://schemas.openxmlformats.org/drawingml/2006/main">
              <a:ext uri="{FF2B5EF4-FFF2-40B4-BE49-F238E27FC236}">
                <a16:creationId xmlns:a16="http://schemas.microsoft.com/office/drawing/2014/main" id="{DB36FCC2-5F19-48D0-BE7A-067A22F0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078" y="5512594"/>
            <a:ext cx="5172635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shape-1215">
            <a:extLst xmlns:a="http://schemas.openxmlformats.org/drawingml/2006/main">
              <a:ext uri="{FF2B5EF4-FFF2-40B4-BE49-F238E27FC236}">
                <a16:creationId xmlns:a16="http://schemas.microsoft.com/office/drawing/2014/main" id="{5EB430EB-1CB1-4B94-9C46-649A703D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78" y="5579269"/>
            <a:ext cx="5020235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event_id, topic, payload, published_at</a:t>
            </a:r>
          </a:p>
        </p:txBody>
      </p:sp>
      <p:sp>
        <p:nvSpPr>
          <p:cNvPr id="52" name="shape-1216">
            <a:extLst xmlns:a="http://schemas.openxmlformats.org/drawingml/2006/main">
              <a:ext uri="{FF2B5EF4-FFF2-40B4-BE49-F238E27FC236}">
                <a16:creationId xmlns:a16="http://schemas.microsoft.com/office/drawing/2014/main" id="{17BF7693-3B98-4A2F-B222-81B068AB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5713" y="5512594"/>
            <a:ext cx="3556187" cy="4881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3" name="shape-1217">
            <a:extLst xmlns:a="http://schemas.openxmlformats.org/drawingml/2006/main">
              <a:ext uri="{FF2B5EF4-FFF2-40B4-BE49-F238E27FC236}">
                <a16:creationId xmlns:a16="http://schemas.microsoft.com/office/drawing/2014/main" id="{1F501756-F007-4E03-89A9-120B1C45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913" y="5579269"/>
            <a:ext cx="3403787" cy="3548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可靠发布与失败重试</a:t>
            </a:r>
          </a:p>
        </p:txBody>
      </p:sp>
    </p:spTree>
    <p:extLst>
      <p:ext uri="{BB962C8B-B14F-4D97-AF65-F5344CB8AC3E}">
        <p14:creationId xmlns:p14="http://schemas.microsoft.com/office/powerpoint/2010/main" val="2147313822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-1218">
            <a:extLst xmlns:a="http://schemas.openxmlformats.org/drawingml/2006/main">
              <a:ext uri="{FF2B5EF4-FFF2-40B4-BE49-F238E27FC236}">
                <a16:creationId xmlns:a16="http://schemas.microsoft.com/office/drawing/2014/main" id="{7E639764-0C77-49BA-9132-121C95BC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shape-1219">
            <a:extLst xmlns:a="http://schemas.openxmlformats.org/drawingml/2006/main">
              <a:ext uri="{FF2B5EF4-FFF2-40B4-BE49-F238E27FC236}">
                <a16:creationId xmlns:a16="http://schemas.microsoft.com/office/drawing/2014/main" id="{5166FE02-C217-4563-A36A-51C2F047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安全控制覆盖认证、输入、输出和运行环境</a:t>
            </a:r>
          </a:p>
        </p:txBody>
      </p:sp>
      <p:cxnSp>
        <p:nvCxnSpPr>
          <p:cNvPr id="13" name="shape-1220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221">
            <a:extLst xmlns:a="http://schemas.openxmlformats.org/drawingml/2006/main">
              <a:ext uri="{FF2B5EF4-FFF2-40B4-BE49-F238E27FC236}">
                <a16:creationId xmlns:a16="http://schemas.microsoft.com/office/drawing/2014/main" id="{E2E68049-31F3-4081-BA75-C307224F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64</a:t>
            </a:r>
          </a:p>
        </p:txBody>
      </p:sp>
      <p:sp>
        <p:nvSpPr>
          <p:cNvPr id="5" name="shape-1222">
            <a:extLst xmlns:a="http://schemas.openxmlformats.org/drawingml/2006/main">
              <a:ext uri="{FF2B5EF4-FFF2-40B4-BE49-F238E27FC236}">
                <a16:creationId xmlns:a16="http://schemas.microsoft.com/office/drawing/2014/main" id="{ABD3D7F7-4203-4FCB-BA1B-FD63A16A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请求与数据</a:t>
            </a:r>
          </a:p>
        </p:txBody>
      </p:sp>
      <p:sp>
        <p:nvSpPr>
          <p:cNvPr id="6" name="shape-1223">
            <a:extLst xmlns:a="http://schemas.openxmlformats.org/drawingml/2006/main">
              <a:ext uri="{FF2B5EF4-FFF2-40B4-BE49-F238E27FC236}">
                <a16:creationId xmlns:a16="http://schemas.microsoft.com/office/drawing/2014/main" id="{136B8FC9-5107-405D-8988-7D0AA5A5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BCrypt保存密码摘要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刷新令牌使用随机值并只存摘要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Bean Validation限制人数、时间和文本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MyBatis参数绑定；动态排序白名单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纯文本活动介绍，输出时编码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无文件上传需求时不开放上传端点</a:t>
            </a:r>
          </a:p>
        </p:txBody>
      </p:sp>
      <p:sp>
        <p:nvSpPr>
          <p:cNvPr id="7" name="shape-1224">
            <a:extLst xmlns:a="http://schemas.openxmlformats.org/drawingml/2006/main">
              <a:ext uri="{FF2B5EF4-FFF2-40B4-BE49-F238E27FC236}">
                <a16:creationId xmlns:a16="http://schemas.microsoft.com/office/drawing/2014/main" id="{6E1A245D-8C69-406A-80C6-ECD5B6F9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4288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1225">
            <a:extLst xmlns:a="http://schemas.openxmlformats.org/drawingml/2006/main">
              <a:ext uri="{FF2B5EF4-FFF2-40B4-BE49-F238E27FC236}">
                <a16:creationId xmlns:a16="http://schemas.microsoft.com/office/drawing/2014/main" id="{8256A52C-649B-4AF7-91E9-7BC5D66C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运行与响应</a:t>
            </a:r>
          </a:p>
        </p:txBody>
      </p:sp>
      <p:sp>
        <p:nvSpPr>
          <p:cNvPr id="9" name="shape-1226">
            <a:extLst xmlns:a="http://schemas.openxmlformats.org/drawingml/2006/main">
              <a:ext uri="{FF2B5EF4-FFF2-40B4-BE49-F238E27FC236}">
                <a16:creationId xmlns:a16="http://schemas.microsoft.com/office/drawing/2014/main" id="{E016C6F8-6423-43F8-BFB5-88B9110F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登录失败不泄露账号是否存在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CORS仅允许正式前端域名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HTTPS与安全响应头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令牌、密码和完整手机号不进日志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密钥通过环境变量或Docker Secret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错误只返回稳定code和requestId</a:t>
            </a:r>
          </a:p>
        </p:txBody>
      </p:sp>
      <p:sp>
        <p:nvSpPr>
          <p:cNvPr id="10" name="shape-1227">
            <a:extLst xmlns:a="http://schemas.openxmlformats.org/drawingml/2006/main">
              <a:ext uri="{FF2B5EF4-FFF2-40B4-BE49-F238E27FC236}">
                <a16:creationId xmlns:a16="http://schemas.microsoft.com/office/drawing/2014/main" id="{C1F4E0AD-1449-45E8-BFA7-E8A37F77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Access Token放Authorization Header；Refresh Cookie轮换、撤销，并结合SameSite与同站点部署。</a:t>
            </a:r>
          </a:p>
        </p:txBody>
      </p:sp>
    </p:spTree>
    <p:extLst>
      <p:ext uri="{BB962C8B-B14F-4D97-AF65-F5344CB8AC3E}">
        <p14:creationId xmlns:p14="http://schemas.microsoft.com/office/powerpoint/2010/main" val="102693350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hape-1228">
            <a:extLst xmlns:a="http://schemas.openxmlformats.org/drawingml/2006/main">
              <a:ext uri="{FF2B5EF4-FFF2-40B4-BE49-F238E27FC236}">
                <a16:creationId xmlns:a16="http://schemas.microsoft.com/office/drawing/2014/main" id="{C275C590-CCD9-45AE-883D-D5C56583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shape-1229">
            <a:extLst xmlns:a="http://schemas.openxmlformats.org/drawingml/2006/main">
              <a:ext uri="{FF2B5EF4-FFF2-40B4-BE49-F238E27FC236}">
                <a16:creationId xmlns:a16="http://schemas.microsoft.com/office/drawing/2014/main" id="{AD1163DD-975F-4BC3-BD5F-8F5151D3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完整页面清单同时覆盖成员、负责人和异常状态</a:t>
            </a:r>
          </a:p>
        </p:txBody>
      </p:sp>
      <p:cxnSp>
        <p:nvCxnSpPr>
          <p:cNvPr id="15" name="shape-1230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231">
            <a:extLst xmlns:a="http://schemas.openxmlformats.org/drawingml/2006/main">
              <a:ext uri="{FF2B5EF4-FFF2-40B4-BE49-F238E27FC236}">
                <a16:creationId xmlns:a16="http://schemas.microsoft.com/office/drawing/2014/main" id="{7DE9A81B-C273-4C2B-B13E-8F5B542A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65</a:t>
            </a:r>
          </a:p>
        </p:txBody>
      </p:sp>
      <p:sp>
        <p:nvSpPr>
          <p:cNvPr id="5" name="shape-1232">
            <a:extLst xmlns:a="http://schemas.openxmlformats.org/drawingml/2006/main">
              <a:ext uri="{FF2B5EF4-FFF2-40B4-BE49-F238E27FC236}">
                <a16:creationId xmlns:a16="http://schemas.microsoft.com/office/drawing/2014/main" id="{6D6AAA91-DBE4-4FE2-BDAC-1941D19B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成员页面</a:t>
            </a:r>
          </a:p>
        </p:txBody>
      </p:sp>
      <p:sp>
        <p:nvSpPr>
          <p:cNvPr id="6" name="shape-1233">
            <a:extLst xmlns:a="http://schemas.openxmlformats.org/drawingml/2006/main">
              <a:ext uri="{FF2B5EF4-FFF2-40B4-BE49-F238E27FC236}">
                <a16:creationId xmlns:a16="http://schemas.microsoft.com/office/drawing/2014/main" id="{DD55FDDB-E634-41F4-84DF-81DE7085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活动广场、详情、报名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我的活动四类筛选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候补邀请详情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扫码签到、通知、资料</a:t>
            </a:r>
          </a:p>
        </p:txBody>
      </p:sp>
      <p:sp>
        <p:nvSpPr>
          <p:cNvPr id="7" name="shape-1234">
            <a:extLst xmlns:a="http://schemas.openxmlformats.org/drawingml/2006/main">
              <a:ext uri="{FF2B5EF4-FFF2-40B4-BE49-F238E27FC236}">
                <a16:creationId xmlns:a16="http://schemas.microsoft.com/office/drawing/2014/main" id="{51ABA3BC-96A9-480C-9B42-03F271D2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1235">
            <a:extLst xmlns:a="http://schemas.openxmlformats.org/drawingml/2006/main">
              <a:ext uri="{FF2B5EF4-FFF2-40B4-BE49-F238E27FC236}">
                <a16:creationId xmlns:a16="http://schemas.microsoft.com/office/drawing/2014/main" id="{4C731636-F921-4F83-9B96-0DEA844F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管理页面</a:t>
            </a:r>
          </a:p>
        </p:txBody>
      </p:sp>
      <p:sp>
        <p:nvSpPr>
          <p:cNvPr id="9" name="shape-1236">
            <a:extLst xmlns:a="http://schemas.openxmlformats.org/drawingml/2006/main">
              <a:ext uri="{FF2B5EF4-FFF2-40B4-BE49-F238E27FC236}">
                <a16:creationId xmlns:a16="http://schemas.microsoft.com/office/drawing/2014/main" id="{86137AB0-FFDE-435F-917C-CA89372E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数据概览、活动数据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创建/草稿/报名/候补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现场签到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成员角色、组织设置、审计</a:t>
            </a:r>
          </a:p>
        </p:txBody>
      </p:sp>
      <p:sp>
        <p:nvSpPr>
          <p:cNvPr id="10" name="shape-1237">
            <a:extLst xmlns:a="http://schemas.openxmlformats.org/drawingml/2006/main">
              <a:ext uri="{FF2B5EF4-FFF2-40B4-BE49-F238E27FC236}">
                <a16:creationId xmlns:a16="http://schemas.microsoft.com/office/drawing/2014/main" id="{EF1345C4-660F-4053-9A3C-89A0C196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1143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-1238">
            <a:extLst xmlns:a="http://schemas.openxmlformats.org/drawingml/2006/main">
              <a:ext uri="{FF2B5EF4-FFF2-40B4-BE49-F238E27FC236}">
                <a16:creationId xmlns:a16="http://schemas.microsoft.com/office/drawing/2014/main" id="{D8EA5AC2-E814-4BF2-89A0-6A92D750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19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页面状态</a:t>
            </a:r>
          </a:p>
        </p:txBody>
      </p:sp>
      <p:sp>
        <p:nvSpPr>
          <p:cNvPr id="12" name="shape-1239">
            <a:extLst xmlns:a="http://schemas.openxmlformats.org/drawingml/2006/main">
              <a:ext uri="{FF2B5EF4-FFF2-40B4-BE49-F238E27FC236}">
                <a16:creationId xmlns:a16="http://schemas.microsoft.com/office/drawing/2014/main" id="{5F596332-FB82-4C94-93E9-D23BDC7F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319087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加载、空数据、失败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无权限、活动不存在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断网、重复提交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并发状态改变后刷新</a:t>
            </a:r>
          </a:p>
        </p:txBody>
      </p:sp>
    </p:spTree>
    <p:extLst>
      <p:ext uri="{BB962C8B-B14F-4D97-AF65-F5344CB8AC3E}">
        <p14:creationId xmlns:p14="http://schemas.microsoft.com/office/powerpoint/2010/main" val="143176596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-1240">
            <a:extLst xmlns:a="http://schemas.openxmlformats.org/drawingml/2006/main">
              <a:ext uri="{FF2B5EF4-FFF2-40B4-BE49-F238E27FC236}">
                <a16:creationId xmlns:a16="http://schemas.microsoft.com/office/drawing/2014/main" id="{2A01DD03-2EC3-45FB-9D90-3FA6BE82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shape-1241">
            <a:extLst xmlns:a="http://schemas.openxmlformats.org/drawingml/2006/main">
              <a:ext uri="{FF2B5EF4-FFF2-40B4-BE49-F238E27FC236}">
                <a16:creationId xmlns:a16="http://schemas.microsoft.com/office/drawing/2014/main" id="{7EADB440-92E7-4D09-9493-555A2D51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部署不仅要启动容器，还要保证可恢复</a:t>
            </a:r>
          </a:p>
        </p:txBody>
      </p:sp>
      <p:cxnSp>
        <p:nvCxnSpPr>
          <p:cNvPr id="13" name="shape-1242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243">
            <a:extLst xmlns:a="http://schemas.openxmlformats.org/drawingml/2006/main">
              <a:ext uri="{FF2B5EF4-FFF2-40B4-BE49-F238E27FC236}">
                <a16:creationId xmlns:a16="http://schemas.microsoft.com/office/drawing/2014/main" id="{96018FD1-2028-4AC1-ADDB-FFD6BD69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66</a:t>
            </a:r>
          </a:p>
        </p:txBody>
      </p:sp>
      <p:sp>
        <p:nvSpPr>
          <p:cNvPr id="5" name="shape-1244">
            <a:extLst xmlns:a="http://schemas.openxmlformats.org/drawingml/2006/main">
              <a:ext uri="{FF2B5EF4-FFF2-40B4-BE49-F238E27FC236}">
                <a16:creationId xmlns:a16="http://schemas.microsoft.com/office/drawing/2014/main" id="{850751D6-8189-4148-9BCA-7E5D0F23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网络与密钥</a:t>
            </a:r>
          </a:p>
        </p:txBody>
      </p:sp>
      <p:sp>
        <p:nvSpPr>
          <p:cNvPr id="6" name="shape-1245">
            <a:extLst xmlns:a="http://schemas.openxmlformats.org/drawingml/2006/main">
              <a:ext uri="{FF2B5EF4-FFF2-40B4-BE49-F238E27FC236}">
                <a16:creationId xmlns:a16="http://schemas.microsoft.com/office/drawing/2014/main" id="{5D26CC60-0E4B-4996-9CEA-D9AEFE06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Nginx提供Vue静态资源和/api反向代理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生产环境启用HTTPS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MySQL、Redis、Kafka不暴露公网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密码和密钥通过环境变量或Secret注入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外部只开放必要端口</a:t>
            </a:r>
          </a:p>
        </p:txBody>
      </p:sp>
      <p:sp>
        <p:nvSpPr>
          <p:cNvPr id="7" name="shape-1246">
            <a:extLst xmlns:a="http://schemas.openxmlformats.org/drawingml/2006/main">
              <a:ext uri="{FF2B5EF4-FFF2-40B4-BE49-F238E27FC236}">
                <a16:creationId xmlns:a16="http://schemas.microsoft.com/office/drawing/2014/main" id="{4FB0EDCB-9476-48F2-9AC6-20AF6F76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4288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1247">
            <a:extLst xmlns:a="http://schemas.openxmlformats.org/drawingml/2006/main">
              <a:ext uri="{FF2B5EF4-FFF2-40B4-BE49-F238E27FC236}">
                <a16:creationId xmlns:a16="http://schemas.microsoft.com/office/drawing/2014/main" id="{4098BBCB-6D02-4244-A6A9-3AB7D571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数据与健康</a:t>
            </a:r>
          </a:p>
        </p:txBody>
      </p:sp>
      <p:sp>
        <p:nvSpPr>
          <p:cNvPr id="9" name="shape-1248">
            <a:extLst xmlns:a="http://schemas.openxmlformats.org/drawingml/2006/main">
              <a:ext uri="{FF2B5EF4-FFF2-40B4-BE49-F238E27FC236}">
                <a16:creationId xmlns:a16="http://schemas.microsoft.com/office/drawing/2014/main" id="{284C1F97-417E-4AE5-9C30-5248F199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MySQL使用持久化Docker Volume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每日自动备份数据库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至少实际验证一次恢复流程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健康检查区分liveness和readiness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增强阶段加入Prometheus与Grafana</a:t>
            </a:r>
          </a:p>
        </p:txBody>
      </p:sp>
      <p:sp>
        <p:nvSpPr>
          <p:cNvPr id="10" name="shape-1249">
            <a:extLst xmlns:a="http://schemas.openxmlformats.org/drawingml/2006/main">
              <a:ext uri="{FF2B5EF4-FFF2-40B4-BE49-F238E27FC236}">
                <a16:creationId xmlns:a16="http://schemas.microsoft.com/office/drawing/2014/main" id="{59095E2B-AFC1-4842-A4CF-97296DA2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Kafka使用KRaft模式，避免额外引入ZooKeeper。</a:t>
            </a:r>
          </a:p>
        </p:txBody>
      </p:sp>
    </p:spTree>
    <p:extLst>
      <p:ext uri="{BB962C8B-B14F-4D97-AF65-F5344CB8AC3E}">
        <p14:creationId xmlns:p14="http://schemas.microsoft.com/office/powerpoint/2010/main" val="1965021056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hape-1250">
            <a:extLst xmlns:a="http://schemas.openxmlformats.org/drawingml/2006/main">
              <a:ext uri="{FF2B5EF4-FFF2-40B4-BE49-F238E27FC236}">
                <a16:creationId xmlns:a16="http://schemas.microsoft.com/office/drawing/2014/main" id="{F144A8B0-9A75-4A1B-95F6-9F41673B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shape-1251">
            <a:extLst xmlns:a="http://schemas.openxmlformats.org/drawingml/2006/main">
              <a:ext uri="{FF2B5EF4-FFF2-40B4-BE49-F238E27FC236}">
                <a16:creationId xmlns:a16="http://schemas.microsoft.com/office/drawing/2014/main" id="{A4B077CF-A12A-4718-A267-7715614C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阶段0—3每一步都有可运行验收物</a:t>
            </a:r>
          </a:p>
        </p:txBody>
      </p:sp>
      <p:cxnSp>
        <p:nvCxnSpPr>
          <p:cNvPr id="38" name="shape-1252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253">
            <a:extLst xmlns:a="http://schemas.openxmlformats.org/drawingml/2006/main">
              <a:ext uri="{FF2B5EF4-FFF2-40B4-BE49-F238E27FC236}">
                <a16:creationId xmlns:a16="http://schemas.microsoft.com/office/drawing/2014/main" id="{EB508381-B891-492D-89DB-47FBB47E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67</a:t>
            </a:r>
          </a:p>
        </p:txBody>
      </p:sp>
      <p:sp>
        <p:nvSpPr>
          <p:cNvPr id="5" name="shape-1254">
            <a:extLst xmlns:a="http://schemas.openxmlformats.org/drawingml/2006/main">
              <a:ext uri="{FF2B5EF4-FFF2-40B4-BE49-F238E27FC236}">
                <a16:creationId xmlns:a16="http://schemas.microsoft.com/office/drawing/2014/main" id="{1B3DF227-DB90-4AC3-A770-25C2EAD3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95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第一轮先用MySQL事务、行锁和唯一约束完成正确闭环，再引入Redis。</a:t>
            </a:r>
          </a:p>
        </p:txBody>
      </p:sp>
      <p:sp>
        <p:nvSpPr>
          <p:cNvPr id="6" name="shape-1255">
            <a:extLst xmlns:a="http://schemas.openxmlformats.org/drawingml/2006/main">
              <a:ext uri="{FF2B5EF4-FFF2-40B4-BE49-F238E27FC236}">
                <a16:creationId xmlns:a16="http://schemas.microsoft.com/office/drawing/2014/main" id="{38C0704F-787D-4042-8794-3D478867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727291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shape-1256">
            <a:extLst xmlns:a="http://schemas.openxmlformats.org/drawingml/2006/main">
              <a:ext uri="{FF2B5EF4-FFF2-40B4-BE49-F238E27FC236}">
                <a16:creationId xmlns:a16="http://schemas.microsoft.com/office/drawing/2014/main" id="{42406F4B-FCE6-4B8F-8D0F-90E51033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71700"/>
            <a:ext cx="1574891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8" name="shape-1257">
            <a:extLst xmlns:a="http://schemas.openxmlformats.org/drawingml/2006/main">
              <a:ext uri="{FF2B5EF4-FFF2-40B4-BE49-F238E27FC236}">
                <a16:creationId xmlns:a16="http://schemas.microsoft.com/office/drawing/2014/main" id="{4F9A7080-45C3-40CE-B4EF-A681ADBA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341" y="2095500"/>
            <a:ext cx="5181872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shape-1258">
            <a:extLst xmlns:a="http://schemas.openxmlformats.org/drawingml/2006/main">
              <a:ext uri="{FF2B5EF4-FFF2-40B4-BE49-F238E27FC236}">
                <a16:creationId xmlns:a16="http://schemas.microsoft.com/office/drawing/2014/main" id="{BB116283-D41E-4481-AE38-294D6A90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541" y="2171700"/>
            <a:ext cx="5029472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交付内容</a:t>
            </a:r>
          </a:p>
        </p:txBody>
      </p:sp>
      <p:sp>
        <p:nvSpPr>
          <p:cNvPr id="10" name="shape-1259">
            <a:extLst xmlns:a="http://schemas.openxmlformats.org/drawingml/2006/main">
              <a:ext uri="{FF2B5EF4-FFF2-40B4-BE49-F238E27FC236}">
                <a16:creationId xmlns:a16="http://schemas.microsoft.com/office/drawing/2014/main" id="{009D6DF8-FF03-4AB9-9D63-4864D2F9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213" y="2095500"/>
            <a:ext cx="4082687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shape-1260">
            <a:extLst xmlns:a="http://schemas.openxmlformats.org/drawingml/2006/main">
              <a:ext uri="{FF2B5EF4-FFF2-40B4-BE49-F238E27FC236}">
                <a16:creationId xmlns:a16="http://schemas.microsoft.com/office/drawing/2014/main" id="{CC25F493-CB15-49AD-8246-F336EC91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413" y="2171700"/>
            <a:ext cx="3930287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验收门槛</a:t>
            </a:r>
          </a:p>
        </p:txBody>
      </p:sp>
      <p:sp>
        <p:nvSpPr>
          <p:cNvPr id="12" name="shape-1261">
            <a:extLst xmlns:a="http://schemas.openxmlformats.org/drawingml/2006/main">
              <a:ext uri="{FF2B5EF4-FFF2-40B4-BE49-F238E27FC236}">
                <a16:creationId xmlns:a16="http://schemas.microsoft.com/office/drawing/2014/main" id="{E72537F0-584E-4B99-9E2C-B6B6402C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1727291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hape-1262">
            <a:extLst xmlns:a="http://schemas.openxmlformats.org/drawingml/2006/main">
              <a:ext uri="{FF2B5EF4-FFF2-40B4-BE49-F238E27FC236}">
                <a16:creationId xmlns:a16="http://schemas.microsoft.com/office/drawing/2014/main" id="{A5C53CB7-CAB6-4E50-8616-F1822189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1574891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 工程准备</a:t>
            </a:r>
          </a:p>
        </p:txBody>
      </p:sp>
      <p:sp>
        <p:nvSpPr>
          <p:cNvPr id="14" name="shape-1263">
            <a:extLst xmlns:a="http://schemas.openxmlformats.org/drawingml/2006/main">
              <a:ext uri="{FF2B5EF4-FFF2-40B4-BE49-F238E27FC236}">
                <a16:creationId xmlns:a16="http://schemas.microsoft.com/office/drawing/2014/main" id="{0ECE040C-2802-49C7-83C7-D0F13EC4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341" y="2619375"/>
            <a:ext cx="5181872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hape-1264">
            <a:extLst xmlns:a="http://schemas.openxmlformats.org/drawingml/2006/main">
              <a:ext uri="{FF2B5EF4-FFF2-40B4-BE49-F238E27FC236}">
                <a16:creationId xmlns:a16="http://schemas.microsoft.com/office/drawing/2014/main" id="{AA684865-F60C-498D-ABC3-5456C853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541" y="2686050"/>
            <a:ext cx="5029472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前后端初始化、迁移、错误、日志、MySQL Compose</a:t>
            </a:r>
          </a:p>
        </p:txBody>
      </p:sp>
      <p:sp>
        <p:nvSpPr>
          <p:cNvPr id="16" name="shape-1265">
            <a:extLst xmlns:a="http://schemas.openxmlformats.org/drawingml/2006/main">
              <a:ext uri="{FF2B5EF4-FFF2-40B4-BE49-F238E27FC236}">
                <a16:creationId xmlns:a16="http://schemas.microsoft.com/office/drawing/2014/main" id="{A77B4340-EE0D-4CA1-B18D-B70A33AA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213" y="2619375"/>
            <a:ext cx="4082687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hape-1266">
            <a:extLst xmlns:a="http://schemas.openxmlformats.org/drawingml/2006/main">
              <a:ext uri="{FF2B5EF4-FFF2-40B4-BE49-F238E27FC236}">
                <a16:creationId xmlns:a16="http://schemas.microsoft.com/office/drawing/2014/main" id="{BF6F242E-8E8A-4084-9CC4-FEB84D98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413" y="2686050"/>
            <a:ext cx="393028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前端访问健康接口；迁移可自动执行</a:t>
            </a:r>
          </a:p>
        </p:txBody>
      </p:sp>
      <p:sp>
        <p:nvSpPr>
          <p:cNvPr id="18" name="shape-1267">
            <a:extLst xmlns:a="http://schemas.openxmlformats.org/drawingml/2006/main">
              <a:ext uri="{FF2B5EF4-FFF2-40B4-BE49-F238E27FC236}">
                <a16:creationId xmlns:a16="http://schemas.microsoft.com/office/drawing/2014/main" id="{FB384266-57A0-4D90-B550-133B6B3D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727291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hape-1268">
            <a:extLst xmlns:a="http://schemas.openxmlformats.org/drawingml/2006/main">
              <a:ext uri="{FF2B5EF4-FFF2-40B4-BE49-F238E27FC236}">
                <a16:creationId xmlns:a16="http://schemas.microsoft.com/office/drawing/2014/main" id="{CD216A0F-5898-403C-B692-51EEEBB5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09925"/>
            <a:ext cx="1574891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 组织与活动</a:t>
            </a:r>
          </a:p>
        </p:txBody>
      </p:sp>
      <p:sp>
        <p:nvSpPr>
          <p:cNvPr id="20" name="shape-1269">
            <a:extLst xmlns:a="http://schemas.openxmlformats.org/drawingml/2006/main">
              <a:ext uri="{FF2B5EF4-FFF2-40B4-BE49-F238E27FC236}">
                <a16:creationId xmlns:a16="http://schemas.microsoft.com/office/drawing/2014/main" id="{B52ABF9B-0C77-4209-B795-EFA213CB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341" y="3143250"/>
            <a:ext cx="5181872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hape-1270">
            <a:extLst xmlns:a="http://schemas.openxmlformats.org/drawingml/2006/main">
              <a:ext uri="{FF2B5EF4-FFF2-40B4-BE49-F238E27FC236}">
                <a16:creationId xmlns:a16="http://schemas.microsoft.com/office/drawing/2014/main" id="{8096BA26-1270-439F-84DD-CAD8DE9D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541" y="3209925"/>
            <a:ext cx="5029472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认证、组织、邀请、角色、活动发布、移动端详情</a:t>
            </a:r>
          </a:p>
        </p:txBody>
      </p:sp>
      <p:sp>
        <p:nvSpPr>
          <p:cNvPr id="22" name="shape-1271">
            <a:extLst xmlns:a="http://schemas.openxmlformats.org/drawingml/2006/main">
              <a:ext uri="{FF2B5EF4-FFF2-40B4-BE49-F238E27FC236}">
                <a16:creationId xmlns:a16="http://schemas.microsoft.com/office/drawing/2014/main" id="{784E4F13-8D82-4826-AD09-E1D366CF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213" y="3143250"/>
            <a:ext cx="4082687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hape-1272">
            <a:extLst xmlns:a="http://schemas.openxmlformats.org/drawingml/2006/main">
              <a:ext uri="{FF2B5EF4-FFF2-40B4-BE49-F238E27FC236}">
                <a16:creationId xmlns:a16="http://schemas.microsoft.com/office/drawing/2014/main" id="{BCF3A380-297B-4BBB-B97D-FAB35E3B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413" y="3209925"/>
            <a:ext cx="393028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负责人能邀请同学并发布手机可看的活动</a:t>
            </a:r>
          </a:p>
        </p:txBody>
      </p:sp>
      <p:sp>
        <p:nvSpPr>
          <p:cNvPr id="24" name="shape-1273">
            <a:extLst xmlns:a="http://schemas.openxmlformats.org/drawingml/2006/main">
              <a:ext uri="{FF2B5EF4-FFF2-40B4-BE49-F238E27FC236}">
                <a16:creationId xmlns:a16="http://schemas.microsoft.com/office/drawing/2014/main" id="{D1718910-4268-4055-98DD-674AE1A9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1727291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hape-1274">
            <a:extLst xmlns:a="http://schemas.openxmlformats.org/drawingml/2006/main">
              <a:ext uri="{FF2B5EF4-FFF2-40B4-BE49-F238E27FC236}">
                <a16:creationId xmlns:a16="http://schemas.microsoft.com/office/drawing/2014/main" id="{BA49CA27-C44D-45C4-B979-EC789C3F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1574891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 报名与候补</a:t>
            </a:r>
          </a:p>
        </p:txBody>
      </p:sp>
      <p:sp>
        <p:nvSpPr>
          <p:cNvPr id="26" name="shape-1275">
            <a:extLst xmlns:a="http://schemas.openxmlformats.org/drawingml/2006/main">
              <a:ext uri="{FF2B5EF4-FFF2-40B4-BE49-F238E27FC236}">
                <a16:creationId xmlns:a16="http://schemas.microsoft.com/office/drawing/2014/main" id="{7C03B411-61F5-4A5D-A0D9-1BE7CF31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341" y="3667125"/>
            <a:ext cx="5181872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hape-1276">
            <a:extLst xmlns:a="http://schemas.openxmlformats.org/drawingml/2006/main">
              <a:ext uri="{FF2B5EF4-FFF2-40B4-BE49-F238E27FC236}">
                <a16:creationId xmlns:a16="http://schemas.microsoft.com/office/drawing/2014/main" id="{2D62B6F3-F641-4C52-80A0-E56C217E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541" y="3733800"/>
            <a:ext cx="5029472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动态问题、两种模式、取消、递补、限时确认、审计</a:t>
            </a:r>
          </a:p>
        </p:txBody>
      </p:sp>
      <p:sp>
        <p:nvSpPr>
          <p:cNvPr id="28" name="shape-1277">
            <a:extLst xmlns:a="http://schemas.openxmlformats.org/drawingml/2006/main">
              <a:ext uri="{FF2B5EF4-FFF2-40B4-BE49-F238E27FC236}">
                <a16:creationId xmlns:a16="http://schemas.microsoft.com/office/drawing/2014/main" id="{7425B87B-2654-48E4-8CAD-EBFF79CC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213" y="3667125"/>
            <a:ext cx="4082687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shape-1278">
            <a:extLst xmlns:a="http://schemas.openxmlformats.org/drawingml/2006/main">
              <a:ext uri="{FF2B5EF4-FFF2-40B4-BE49-F238E27FC236}">
                <a16:creationId xmlns:a16="http://schemas.microsoft.com/office/drawing/2014/main" id="{F6F1EA19-16D1-4B27-AD53-2B821CE2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413" y="3733800"/>
            <a:ext cx="393028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20名额活动中第21人候补，取消后正确递补</a:t>
            </a:r>
          </a:p>
        </p:txBody>
      </p:sp>
      <p:sp>
        <p:nvSpPr>
          <p:cNvPr id="30" name="shape-1279">
            <a:extLst xmlns:a="http://schemas.openxmlformats.org/drawingml/2006/main">
              <a:ext uri="{FF2B5EF4-FFF2-40B4-BE49-F238E27FC236}">
                <a16:creationId xmlns:a16="http://schemas.microsoft.com/office/drawing/2014/main" id="{0E74F625-1CD9-4516-A7A2-2A8F2E3B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727291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shape-1280">
            <a:extLst xmlns:a="http://schemas.openxmlformats.org/drawingml/2006/main">
              <a:ext uri="{FF2B5EF4-FFF2-40B4-BE49-F238E27FC236}">
                <a16:creationId xmlns:a16="http://schemas.microsoft.com/office/drawing/2014/main" id="{AA00F820-8D8A-4D62-A065-56430BFC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57675"/>
            <a:ext cx="1574891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 通知与签到</a:t>
            </a:r>
          </a:p>
        </p:txBody>
      </p:sp>
      <p:sp>
        <p:nvSpPr>
          <p:cNvPr id="32" name="shape-1281">
            <a:extLst xmlns:a="http://schemas.openxmlformats.org/drawingml/2006/main">
              <a:ext uri="{FF2B5EF4-FFF2-40B4-BE49-F238E27FC236}">
                <a16:creationId xmlns:a16="http://schemas.microsoft.com/office/drawing/2014/main" id="{99F1A6A5-2B98-44C5-8549-030ECBE3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341" y="4191000"/>
            <a:ext cx="5181872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shape-1282">
            <a:extLst xmlns:a="http://schemas.openxmlformats.org/drawingml/2006/main">
              <a:ext uri="{FF2B5EF4-FFF2-40B4-BE49-F238E27FC236}">
                <a16:creationId xmlns:a16="http://schemas.microsoft.com/office/drawing/2014/main" id="{C3BB55D4-F884-431E-B223-44FB8744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541" y="4257675"/>
            <a:ext cx="5029472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站内通知、活动变更、签到、补签、统计、首次部署</a:t>
            </a:r>
          </a:p>
        </p:txBody>
      </p:sp>
      <p:sp>
        <p:nvSpPr>
          <p:cNvPr id="34" name="shape-1283">
            <a:extLst xmlns:a="http://schemas.openxmlformats.org/drawingml/2006/main">
              <a:ext uri="{FF2B5EF4-FFF2-40B4-BE49-F238E27FC236}">
                <a16:creationId xmlns:a16="http://schemas.microsoft.com/office/drawing/2014/main" id="{9D905362-DF1E-4C12-868D-22B82B2D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213" y="4191000"/>
            <a:ext cx="4082687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shape-1284">
            <a:extLst xmlns:a="http://schemas.openxmlformats.org/drawingml/2006/main">
              <a:ext uri="{FF2B5EF4-FFF2-40B4-BE49-F238E27FC236}">
                <a16:creationId xmlns:a16="http://schemas.microsoft.com/office/drawing/2014/main" id="{D4869B20-5EF1-4670-BE27-E522707A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5413" y="4257675"/>
            <a:ext cx="3930287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同学从手机完成报名、候补确认和签到</a:t>
            </a:r>
          </a:p>
        </p:txBody>
      </p:sp>
    </p:spTree>
    <p:extLst>
      <p:ext uri="{BB962C8B-B14F-4D97-AF65-F5344CB8AC3E}">
        <p14:creationId xmlns:p14="http://schemas.microsoft.com/office/powerpoint/2010/main" val="1431311440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hape-1285">
            <a:extLst xmlns:a="http://schemas.openxmlformats.org/drawingml/2006/main">
              <a:ext uri="{FF2B5EF4-FFF2-40B4-BE49-F238E27FC236}">
                <a16:creationId xmlns:a16="http://schemas.microsoft.com/office/drawing/2014/main" id="{597475AA-7546-4660-887B-CAB0C666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shape-1286">
            <a:extLst xmlns:a="http://schemas.openxmlformats.org/drawingml/2006/main">
              <a:ext uri="{FF2B5EF4-FFF2-40B4-BE49-F238E27FC236}">
                <a16:creationId xmlns:a16="http://schemas.microsoft.com/office/drawing/2014/main" id="{51E78B8F-C264-48CA-9C72-DE65B2E1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阶段4—6围绕已经出现的工程问题学习</a:t>
            </a:r>
          </a:p>
        </p:txBody>
      </p:sp>
      <p:cxnSp>
        <p:nvCxnSpPr>
          <p:cNvPr id="38" name="shape-1287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288">
            <a:extLst xmlns:a="http://schemas.openxmlformats.org/drawingml/2006/main">
              <a:ext uri="{FF2B5EF4-FFF2-40B4-BE49-F238E27FC236}">
                <a16:creationId xmlns:a16="http://schemas.microsoft.com/office/drawing/2014/main" id="{A414620B-A38A-4503-B579-166C0E02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68</a:t>
            </a:r>
          </a:p>
        </p:txBody>
      </p:sp>
      <p:sp>
        <p:nvSpPr>
          <p:cNvPr id="5" name="shape-1289">
            <a:extLst xmlns:a="http://schemas.openxmlformats.org/drawingml/2006/main">
              <a:ext uri="{FF2B5EF4-FFF2-40B4-BE49-F238E27FC236}">
                <a16:creationId xmlns:a16="http://schemas.microsoft.com/office/drawing/2014/main" id="{EB769016-F454-484C-AAAB-A2726DAD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1095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一天落后不机械翻倍任务，优先守住报名、候补、取消和通知主线。</a:t>
            </a:r>
          </a:p>
        </p:txBody>
      </p:sp>
      <p:sp>
        <p:nvSpPr>
          <p:cNvPr id="6" name="shape-1290">
            <a:extLst xmlns:a="http://schemas.openxmlformats.org/drawingml/2006/main">
              <a:ext uri="{FF2B5EF4-FFF2-40B4-BE49-F238E27FC236}">
                <a16:creationId xmlns:a16="http://schemas.microsoft.com/office/drawing/2014/main" id="{CDACAD55-9B17-462B-8167-E7F44236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727291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shape-1291">
            <a:extLst xmlns:a="http://schemas.openxmlformats.org/drawingml/2006/main">
              <a:ext uri="{FF2B5EF4-FFF2-40B4-BE49-F238E27FC236}">
                <a16:creationId xmlns:a16="http://schemas.microsoft.com/office/drawing/2014/main" id="{78D098D6-5FCF-4912-9198-019796CF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71700"/>
            <a:ext cx="1574891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8" name="shape-1292">
            <a:extLst xmlns:a="http://schemas.openxmlformats.org/drawingml/2006/main">
              <a:ext uri="{FF2B5EF4-FFF2-40B4-BE49-F238E27FC236}">
                <a16:creationId xmlns:a16="http://schemas.microsoft.com/office/drawing/2014/main" id="{03F2515D-CA5E-408E-99B6-6FDC98CCD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341" y="2095500"/>
            <a:ext cx="580997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shape-1293">
            <a:extLst xmlns:a="http://schemas.openxmlformats.org/drawingml/2006/main">
              <a:ext uri="{FF2B5EF4-FFF2-40B4-BE49-F238E27FC236}">
                <a16:creationId xmlns:a16="http://schemas.microsoft.com/office/drawing/2014/main" id="{075F1250-4E1D-44F4-9555-117A965E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541" y="2171700"/>
            <a:ext cx="5657578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学习与实现顺序</a:t>
            </a:r>
          </a:p>
        </p:txBody>
      </p:sp>
      <p:sp>
        <p:nvSpPr>
          <p:cNvPr id="10" name="shape-1294">
            <a:extLst xmlns:a="http://schemas.openxmlformats.org/drawingml/2006/main">
              <a:ext uri="{FF2B5EF4-FFF2-40B4-BE49-F238E27FC236}">
                <a16:creationId xmlns:a16="http://schemas.microsoft.com/office/drawing/2014/main" id="{DFD64CE5-5B57-4113-94AF-893F205E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319" y="2095500"/>
            <a:ext cx="3454581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shape-1295">
            <a:extLst xmlns:a="http://schemas.openxmlformats.org/drawingml/2006/main">
              <a:ext uri="{FF2B5EF4-FFF2-40B4-BE49-F238E27FC236}">
                <a16:creationId xmlns:a16="http://schemas.microsoft.com/office/drawing/2014/main" id="{AF602EAA-DD88-4069-914A-CCF221FE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519" y="2171700"/>
            <a:ext cx="3302181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验收门槛</a:t>
            </a:r>
          </a:p>
        </p:txBody>
      </p:sp>
      <p:sp>
        <p:nvSpPr>
          <p:cNvPr id="12" name="shape-1296">
            <a:extLst xmlns:a="http://schemas.openxmlformats.org/drawingml/2006/main">
              <a:ext uri="{FF2B5EF4-FFF2-40B4-BE49-F238E27FC236}">
                <a16:creationId xmlns:a16="http://schemas.microsoft.com/office/drawing/2014/main" id="{2558C9AD-01A2-4620-A55F-9EEDB6A54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1727291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hape-1297">
            <a:extLst xmlns:a="http://schemas.openxmlformats.org/drawingml/2006/main">
              <a:ext uri="{FF2B5EF4-FFF2-40B4-BE49-F238E27FC236}">
                <a16:creationId xmlns:a16="http://schemas.microsoft.com/office/drawing/2014/main" id="{FCD1C6D0-3650-4054-803C-102E766E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1574891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 Redis</a:t>
            </a:r>
          </a:p>
        </p:txBody>
      </p:sp>
      <p:sp>
        <p:nvSpPr>
          <p:cNvPr id="14" name="shape-1298">
            <a:extLst xmlns:a="http://schemas.openxmlformats.org/drawingml/2006/main">
              <a:ext uri="{FF2B5EF4-FFF2-40B4-BE49-F238E27FC236}">
                <a16:creationId xmlns:a16="http://schemas.microsoft.com/office/drawing/2014/main" id="{F629E420-9F22-40E4-AE5A-0CDCA0F1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341" y="2619375"/>
            <a:ext cx="580997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hape-1299">
            <a:extLst xmlns:a="http://schemas.openxmlformats.org/drawingml/2006/main">
              <a:ext uri="{FF2B5EF4-FFF2-40B4-BE49-F238E27FC236}">
                <a16:creationId xmlns:a16="http://schemas.microsoft.com/office/drawing/2014/main" id="{7C1E79CC-C6FC-4D16-A533-F122E667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541" y="2686050"/>
            <a:ext cx="565757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数据类型 → TTL → Cache Aside → 原子操作 → 锁 → 限流</a:t>
            </a:r>
          </a:p>
        </p:txBody>
      </p:sp>
      <p:sp>
        <p:nvSpPr>
          <p:cNvPr id="16" name="shape-1300">
            <a:extLst xmlns:a="http://schemas.openxmlformats.org/drawingml/2006/main">
              <a:ext uri="{FF2B5EF4-FFF2-40B4-BE49-F238E27FC236}">
                <a16:creationId xmlns:a16="http://schemas.microsoft.com/office/drawing/2014/main" id="{43DD4DFA-57E6-4F10-BD36-D556B2A0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319" y="2619375"/>
            <a:ext cx="3454581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hape-1301">
            <a:extLst xmlns:a="http://schemas.openxmlformats.org/drawingml/2006/main">
              <a:ext uri="{FF2B5EF4-FFF2-40B4-BE49-F238E27FC236}">
                <a16:creationId xmlns:a16="http://schemas.microsoft.com/office/drawing/2014/main" id="{1D9095E2-41CA-4673-AEC8-48D53BF5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519" y="2686050"/>
            <a:ext cx="3302181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100人争20名额；Redis正常/故障均无超卖</a:t>
            </a:r>
          </a:p>
        </p:txBody>
      </p:sp>
      <p:sp>
        <p:nvSpPr>
          <p:cNvPr id="18" name="shape-1302">
            <a:extLst xmlns:a="http://schemas.openxmlformats.org/drawingml/2006/main">
              <a:ext uri="{FF2B5EF4-FFF2-40B4-BE49-F238E27FC236}">
                <a16:creationId xmlns:a16="http://schemas.microsoft.com/office/drawing/2014/main" id="{41B4DF2E-303C-4C82-8E13-F53E2711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727291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hape-1303">
            <a:extLst xmlns:a="http://schemas.openxmlformats.org/drawingml/2006/main">
              <a:ext uri="{FF2B5EF4-FFF2-40B4-BE49-F238E27FC236}">
                <a16:creationId xmlns:a16="http://schemas.microsoft.com/office/drawing/2014/main" id="{1574F5FF-B674-403C-A8B1-5B9C0D08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09925"/>
            <a:ext cx="1574891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 Kafka</a:t>
            </a:r>
          </a:p>
        </p:txBody>
      </p:sp>
      <p:sp>
        <p:nvSpPr>
          <p:cNvPr id="20" name="shape-1304">
            <a:extLst xmlns:a="http://schemas.openxmlformats.org/drawingml/2006/main">
              <a:ext uri="{FF2B5EF4-FFF2-40B4-BE49-F238E27FC236}">
                <a16:creationId xmlns:a16="http://schemas.microsoft.com/office/drawing/2014/main" id="{3681F26F-2D5A-4BA2-BA8A-BDB3941F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341" y="3143250"/>
            <a:ext cx="580997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hape-1305">
            <a:extLst xmlns:a="http://schemas.openxmlformats.org/drawingml/2006/main">
              <a:ext uri="{FF2B5EF4-FFF2-40B4-BE49-F238E27FC236}">
                <a16:creationId xmlns:a16="http://schemas.microsoft.com/office/drawing/2014/main" id="{896FD566-73F6-4B58-A025-869AA460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541" y="3209925"/>
            <a:ext cx="565757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Topic → Producer/Consumer → Group → 重复消费 → 幂等 → 可靠性 → Outbox</a:t>
            </a:r>
          </a:p>
        </p:txBody>
      </p:sp>
      <p:sp>
        <p:nvSpPr>
          <p:cNvPr id="22" name="shape-1306">
            <a:extLst xmlns:a="http://schemas.openxmlformats.org/drawingml/2006/main">
              <a:ext uri="{FF2B5EF4-FFF2-40B4-BE49-F238E27FC236}">
                <a16:creationId xmlns:a16="http://schemas.microsoft.com/office/drawing/2014/main" id="{A1814C17-9B92-4C32-9E72-5D5CE727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319" y="3143250"/>
            <a:ext cx="3454581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shape-1307">
            <a:extLst xmlns:a="http://schemas.openxmlformats.org/drawingml/2006/main">
              <a:ext uri="{FF2B5EF4-FFF2-40B4-BE49-F238E27FC236}">
                <a16:creationId xmlns:a16="http://schemas.microsoft.com/office/drawing/2014/main" id="{F6E868B9-7BA3-4F08-86AE-1BCAC994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519" y="3209925"/>
            <a:ext cx="3302181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Kafka停机后报名成功；恢复后补发且不重复</a:t>
            </a:r>
          </a:p>
        </p:txBody>
      </p:sp>
      <p:sp>
        <p:nvSpPr>
          <p:cNvPr id="24" name="shape-1308">
            <a:extLst xmlns:a="http://schemas.openxmlformats.org/drawingml/2006/main">
              <a:ext uri="{FF2B5EF4-FFF2-40B4-BE49-F238E27FC236}">
                <a16:creationId xmlns:a16="http://schemas.microsoft.com/office/drawing/2014/main" id="{10F3BCA0-589A-47D4-8AEB-5FB74A09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1727291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shape-1309">
            <a:extLst xmlns:a="http://schemas.openxmlformats.org/drawingml/2006/main">
              <a:ext uri="{FF2B5EF4-FFF2-40B4-BE49-F238E27FC236}">
                <a16:creationId xmlns:a16="http://schemas.microsoft.com/office/drawing/2014/main" id="{A06EEFB3-12AD-455F-A20D-78E3C030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1574891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 验证监控</a:t>
            </a:r>
          </a:p>
        </p:txBody>
      </p:sp>
      <p:sp>
        <p:nvSpPr>
          <p:cNvPr id="26" name="shape-1310">
            <a:extLst xmlns:a="http://schemas.openxmlformats.org/drawingml/2006/main">
              <a:ext uri="{FF2B5EF4-FFF2-40B4-BE49-F238E27FC236}">
                <a16:creationId xmlns:a16="http://schemas.microsoft.com/office/drawing/2014/main" id="{2E74DF23-07F5-45BA-9844-8C8822F3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341" y="3667125"/>
            <a:ext cx="580997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hape-1311">
            <a:extLst xmlns:a="http://schemas.openxmlformats.org/drawingml/2006/main">
              <a:ext uri="{FF2B5EF4-FFF2-40B4-BE49-F238E27FC236}">
                <a16:creationId xmlns:a16="http://schemas.microsoft.com/office/drawing/2014/main" id="{47EE894C-61C2-4F42-8404-387EAA86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541" y="3733800"/>
            <a:ext cx="565757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单元 → Testcontainers → Playwright → k6 → Actuator → Grafana</a:t>
            </a:r>
          </a:p>
        </p:txBody>
      </p:sp>
      <p:sp>
        <p:nvSpPr>
          <p:cNvPr id="28" name="shape-1312">
            <a:extLst xmlns:a="http://schemas.openxmlformats.org/drawingml/2006/main">
              <a:ext uri="{FF2B5EF4-FFF2-40B4-BE49-F238E27FC236}">
                <a16:creationId xmlns:a16="http://schemas.microsoft.com/office/drawing/2014/main" id="{DFCBBEA8-EC6D-4402-BAB5-4D7FD7FC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319" y="3667125"/>
            <a:ext cx="3454581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shape-1313">
            <a:extLst xmlns:a="http://schemas.openxmlformats.org/drawingml/2006/main">
              <a:ext uri="{FF2B5EF4-FFF2-40B4-BE49-F238E27FC236}">
                <a16:creationId xmlns:a16="http://schemas.microsoft.com/office/drawing/2014/main" id="{85F1B144-5195-4049-B207-DBED6CFF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519" y="3733800"/>
            <a:ext cx="3302181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测试、压测、备份恢复和监控证据齐全</a:t>
            </a:r>
          </a:p>
        </p:txBody>
      </p:sp>
      <p:sp>
        <p:nvSpPr>
          <p:cNvPr id="30" name="shape-1314">
            <a:extLst xmlns:a="http://schemas.openxmlformats.org/drawingml/2006/main">
              <a:ext uri="{FF2B5EF4-FFF2-40B4-BE49-F238E27FC236}">
                <a16:creationId xmlns:a16="http://schemas.microsoft.com/office/drawing/2014/main" id="{E51B34EA-0032-4A3E-8EC2-985922B5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727291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shape-1315">
            <a:extLst xmlns:a="http://schemas.openxmlformats.org/drawingml/2006/main">
              <a:ext uri="{FF2B5EF4-FFF2-40B4-BE49-F238E27FC236}">
                <a16:creationId xmlns:a16="http://schemas.microsoft.com/office/drawing/2014/main" id="{D6DE24CF-C3F2-4A6B-8DA5-57FE4FD0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57675"/>
            <a:ext cx="1574891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真实试用</a:t>
            </a:r>
          </a:p>
        </p:txBody>
      </p:sp>
      <p:sp>
        <p:nvSpPr>
          <p:cNvPr id="32" name="shape-1316">
            <a:extLst xmlns:a="http://schemas.openxmlformats.org/drawingml/2006/main">
              <a:ext uri="{FF2B5EF4-FFF2-40B4-BE49-F238E27FC236}">
                <a16:creationId xmlns:a16="http://schemas.microsoft.com/office/drawing/2014/main" id="{F5B0C55F-14BF-4683-AC81-C77EF438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341" y="4191000"/>
            <a:ext cx="580997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shape-1317">
            <a:extLst xmlns:a="http://schemas.openxmlformats.org/drawingml/2006/main">
              <a:ext uri="{FF2B5EF4-FFF2-40B4-BE49-F238E27FC236}">
                <a16:creationId xmlns:a16="http://schemas.microsoft.com/office/drawing/2014/main" id="{D942695F-3FC1-4274-9304-E8003DD4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541" y="4257675"/>
            <a:ext cx="5657578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发布 → 满员 → 取消 → 递补 → 确认 → 签到 → 反馈</a:t>
            </a:r>
          </a:p>
        </p:txBody>
      </p:sp>
      <p:sp>
        <p:nvSpPr>
          <p:cNvPr id="34" name="shape-1318">
            <a:extLst xmlns:a="http://schemas.openxmlformats.org/drawingml/2006/main">
              <a:ext uri="{FF2B5EF4-FFF2-40B4-BE49-F238E27FC236}">
                <a16:creationId xmlns:a16="http://schemas.microsoft.com/office/drawing/2014/main" id="{F3A3CD85-4B27-4D32-ACBF-2DE97EB0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319" y="4191000"/>
            <a:ext cx="3454581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shape-1319">
            <a:extLst xmlns:a="http://schemas.openxmlformats.org/drawingml/2006/main">
              <a:ext uri="{FF2B5EF4-FFF2-40B4-BE49-F238E27FC236}">
                <a16:creationId xmlns:a16="http://schemas.microsoft.com/office/drawing/2014/main" id="{A9CC99FB-8EB2-4A02-9004-0E140DCF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519" y="4257675"/>
            <a:ext cx="3302181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至少10名同学；记录失败步骤和迭代原因</a:t>
            </a:r>
          </a:p>
        </p:txBody>
      </p:sp>
    </p:spTree>
    <p:extLst>
      <p:ext uri="{BB962C8B-B14F-4D97-AF65-F5344CB8AC3E}">
        <p14:creationId xmlns:p14="http://schemas.microsoft.com/office/powerpoint/2010/main" val="164035410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hape-1320">
            <a:extLst xmlns:a="http://schemas.openxmlformats.org/drawingml/2006/main">
              <a:ext uri="{FF2B5EF4-FFF2-40B4-BE49-F238E27FC236}">
                <a16:creationId xmlns:a16="http://schemas.microsoft.com/office/drawing/2014/main" id="{B91E291C-F3A6-45D8-B111-2D272426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shape-1321">
            <a:extLst xmlns:a="http://schemas.openxmlformats.org/drawingml/2006/main">
              <a:ext uri="{FF2B5EF4-FFF2-40B4-BE49-F238E27FC236}">
                <a16:creationId xmlns:a16="http://schemas.microsoft.com/office/drawing/2014/main" id="{621D2771-14F6-448F-AEF1-E376E1D4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第二版AI必须服从正式业务数据</a:t>
            </a:r>
          </a:p>
        </p:txBody>
      </p:sp>
      <p:cxnSp>
        <p:nvCxnSpPr>
          <p:cNvPr id="13" name="shape-1322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323">
            <a:extLst xmlns:a="http://schemas.openxmlformats.org/drawingml/2006/main">
              <a:ext uri="{FF2B5EF4-FFF2-40B4-BE49-F238E27FC236}">
                <a16:creationId xmlns:a16="http://schemas.microsoft.com/office/drawing/2014/main" id="{68C02877-91B0-4390-BE4F-2473D144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69</a:t>
            </a:r>
          </a:p>
        </p:txBody>
      </p:sp>
      <p:sp>
        <p:nvSpPr>
          <p:cNvPr id="5" name="shape-1324">
            <a:extLst xmlns:a="http://schemas.openxmlformats.org/drawingml/2006/main">
              <a:ext uri="{FF2B5EF4-FFF2-40B4-BE49-F238E27FC236}">
                <a16:creationId xmlns:a16="http://schemas.microsoft.com/office/drawing/2014/main" id="{2BF3F2A4-E231-493E-98DB-011DD2E6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允许AI做</a:t>
            </a:r>
          </a:p>
        </p:txBody>
      </p:sp>
      <p:sp>
        <p:nvSpPr>
          <p:cNvPr id="6" name="shape-1325">
            <a:extLst xmlns:a="http://schemas.openxmlformats.org/drawingml/2006/main">
              <a:ext uri="{FF2B5EF4-FFF2-40B4-BE49-F238E27FC236}">
                <a16:creationId xmlns:a16="http://schemas.microsoft.com/office/drawing/2014/main" id="{E5D69BF8-DC09-4163-BCFB-240C8B74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识别聊天中的活动变更候选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把候选交给负责人确认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生成未读消息摘要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基于活动资料和已确认公告做RAG问答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回答必须标注来源</a:t>
            </a:r>
          </a:p>
        </p:txBody>
      </p:sp>
      <p:sp>
        <p:nvSpPr>
          <p:cNvPr id="7" name="shape-1326">
            <a:extLst xmlns:a="http://schemas.openxmlformats.org/drawingml/2006/main">
              <a:ext uri="{FF2B5EF4-FFF2-40B4-BE49-F238E27FC236}">
                <a16:creationId xmlns:a16="http://schemas.microsoft.com/office/drawing/2014/main" id="{1433680D-854B-4AFF-B422-46DEF4B9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4288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1327">
            <a:extLst xmlns:a="http://schemas.openxmlformats.org/drawingml/2006/main">
              <a:ext uri="{FF2B5EF4-FFF2-40B4-BE49-F238E27FC236}">
                <a16:creationId xmlns:a16="http://schemas.microsoft.com/office/drawing/2014/main" id="{B7B86441-F264-43B1-968F-2E96B7F7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AI不能做</a:t>
            </a:r>
          </a:p>
        </p:txBody>
      </p:sp>
      <p:sp>
        <p:nvSpPr>
          <p:cNvPr id="9" name="shape-1328">
            <a:extLst xmlns:a="http://schemas.openxmlformats.org/drawingml/2006/main">
              <a:ext uri="{FF2B5EF4-FFF2-40B4-BE49-F238E27FC236}">
                <a16:creationId xmlns:a16="http://schemas.microsoft.com/office/drawing/2014/main" id="{921767D2-3617-43F9-824C-77A384BB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不能自动修改时间、地点和名单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不能直接改变报名状态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模型故障不能影响聊天室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需要防提示注入和隐私泄露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需要消息保留、审核和内容治理规则</a:t>
            </a:r>
          </a:p>
        </p:txBody>
      </p:sp>
      <p:sp>
        <p:nvSpPr>
          <p:cNvPr id="10" name="shape-1329">
            <a:extLst xmlns:a="http://schemas.openxmlformats.org/drawingml/2006/main">
              <a:ext uri="{FF2B5EF4-FFF2-40B4-BE49-F238E27FC236}">
                <a16:creationId xmlns:a16="http://schemas.microsoft.com/office/drawing/2014/main" id="{30D471A8-4226-4AB2-A391-F3562D90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000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活动聊天室与通用群聊分开；官方公告与成员讨论分开；活动结束后只读归档。</a:t>
            </a:r>
          </a:p>
        </p:txBody>
      </p:sp>
    </p:spTree>
    <p:extLst>
      <p:ext uri="{BB962C8B-B14F-4D97-AF65-F5344CB8AC3E}">
        <p14:creationId xmlns:p14="http://schemas.microsoft.com/office/powerpoint/2010/main" val="741952225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hape-1330">
            <a:extLst xmlns:a="http://schemas.openxmlformats.org/drawingml/2006/main">
              <a:ext uri="{FF2B5EF4-FFF2-40B4-BE49-F238E27FC236}">
                <a16:creationId xmlns:a16="http://schemas.microsoft.com/office/drawing/2014/main" id="{D7DFD118-95B9-4490-BAE5-ECF9B2A9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附录</a:t>
            </a:r>
          </a:p>
        </p:txBody>
      </p:sp>
      <p:sp>
        <p:nvSpPr>
          <p:cNvPr id="2" name="shape-1331">
            <a:extLst xmlns:a="http://schemas.openxmlformats.org/drawingml/2006/main">
              <a:ext uri="{FF2B5EF4-FFF2-40B4-BE49-F238E27FC236}">
                <a16:creationId xmlns:a16="http://schemas.microsoft.com/office/drawing/2014/main" id="{79CF26A9-73E2-4F1D-A776-1A0AE641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上线前先检查阻断条件，再接受已知取舍</a:t>
            </a:r>
          </a:p>
        </p:txBody>
      </p:sp>
      <p:cxnSp>
        <p:nvCxnSpPr>
          <p:cNvPr id="12" name="shape-1332"/>
          <p:cNvCxnSpPr/>
          <p:nvPr/>
        </p:nvCxnSpPr>
        <p:spPr>
          <a:xfrm xmlns:a="http://schemas.openxmlformats.org/drawingml/2006/main">
            <a:off x="400050" y="1362075"/>
            <a:ext cx="11391900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shape-1333">
            <a:extLst xmlns:a="http://schemas.openxmlformats.org/drawingml/2006/main">
              <a:ext uri="{FF2B5EF4-FFF2-40B4-BE49-F238E27FC236}">
                <a16:creationId xmlns:a16="http://schemas.microsoft.com/office/drawing/2014/main" id="{CA7E0CE7-DE28-40D8-9095-1636FD67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5" name="shape-1334">
            <a:extLst xmlns:a="http://schemas.openxmlformats.org/drawingml/2006/main">
              <a:ext uri="{FF2B5EF4-FFF2-40B4-BE49-F238E27FC236}">
                <a16:creationId xmlns:a16="http://schemas.microsoft.com/office/drawing/2014/main" id="{CF325099-7D9D-4902-982C-A69988C6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任何一项出现都不能上线</a:t>
            </a:r>
          </a:p>
        </p:txBody>
      </p:sp>
      <p:sp>
        <p:nvSpPr>
          <p:cNvPr id="6" name="shape-1335">
            <a:extLst xmlns:a="http://schemas.openxmlformats.org/drawingml/2006/main">
              <a:ext uri="{FF2B5EF4-FFF2-40B4-BE49-F238E27FC236}">
                <a16:creationId xmlns:a16="http://schemas.microsoft.com/office/drawing/2014/main" id="{3B8225F4-6BDB-4BD7-81C0-DECB90D7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可能超卖或重复有效报名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可能重复签到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普通成员能看到他人隐私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跨组织访问管理资源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邀请可重复接受或过期后接受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Redis/Kafka故障破坏最终报名数据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日志泄露密码、令牌、SQL或堆栈</a:t>
            </a:r>
          </a:p>
        </p:txBody>
      </p:sp>
      <p:sp>
        <p:nvSpPr>
          <p:cNvPr id="7" name="shape-1336">
            <a:extLst xmlns:a="http://schemas.openxmlformats.org/drawingml/2006/main">
              <a:ext uri="{FF2B5EF4-FFF2-40B4-BE49-F238E27FC236}">
                <a16:creationId xmlns:a16="http://schemas.microsoft.com/office/drawing/2014/main" id="{994774CD-0C20-4F86-9461-B5AC8A22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4288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-1337">
            <a:extLst xmlns:a="http://schemas.openxmlformats.org/drawingml/2006/main">
              <a:ext uri="{FF2B5EF4-FFF2-40B4-BE49-F238E27FC236}">
                <a16:creationId xmlns:a16="http://schemas.microsoft.com/office/drawing/2014/main" id="{7501372C-9AEE-4EC2-8D6F-A3EA51F6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第一版接受的取舍</a:t>
            </a:r>
          </a:p>
        </p:txBody>
      </p:sp>
      <p:sp>
        <p:nvSpPr>
          <p:cNvPr id="9" name="shape-1338">
            <a:extLst xmlns:a="http://schemas.openxmlformats.org/drawingml/2006/main">
              <a:ext uri="{FF2B5EF4-FFF2-40B4-BE49-F238E27FC236}">
                <a16:creationId xmlns:a16="http://schemas.microsoft.com/office/drawing/2014/main" id="{B373A6CE-F313-4B10-A750-1BADECB2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5095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活动管理员可管理组织内全部活动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签到与通知使用短轮询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外部通知渠道后续再定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只记录迟取消和未到场，不自动处罚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一个响应式Vue项目服务两端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项目暂名VolunteerFlow</a:t>
            </a:r>
          </a:p>
        </p:txBody>
      </p:sp>
    </p:spTree>
    <p:extLst>
      <p:ext uri="{BB962C8B-B14F-4D97-AF65-F5344CB8AC3E}">
        <p14:creationId xmlns:p14="http://schemas.microsoft.com/office/powerpoint/2010/main" val="1999550628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-1339">
            <a:extLst xmlns:a="http://schemas.openxmlformats.org/drawingml/2006/main">
              <a:ext uri="{FF2B5EF4-FFF2-40B4-BE49-F238E27FC236}">
                <a16:creationId xmlns:a16="http://schemas.microsoft.com/office/drawing/2014/main" id="{00AF4016-639F-4BEA-A192-EB5097A8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571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2" name="shape-1340">
            <a:extLst xmlns:a="http://schemas.openxmlformats.org/drawingml/2006/main">
              <a:ext uri="{FF2B5EF4-FFF2-40B4-BE49-F238E27FC236}">
                <a16:creationId xmlns:a16="http://schemas.microsoft.com/office/drawing/2014/main" id="{58767299-9D95-4157-A5BD-C6982108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620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从阶段0开始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建立第一条纵向链路</a:t>
            </a:r>
          </a:p>
        </p:txBody>
      </p:sp>
      <p:sp>
        <p:nvSpPr>
          <p:cNvPr id="3" name="shape-1341">
            <a:extLst xmlns:a="http://schemas.openxmlformats.org/drawingml/2006/main">
              <a:ext uri="{FF2B5EF4-FFF2-40B4-BE49-F238E27FC236}">
                <a16:creationId xmlns:a16="http://schemas.microsoft.com/office/drawing/2014/main" id="{EE7D203B-E737-45FF-9B7F-52B5A86B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095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-1342">
            <a:extLst xmlns:a="http://schemas.openxmlformats.org/drawingml/2006/main">
              <a:ext uri="{FF2B5EF4-FFF2-40B4-BE49-F238E27FC236}">
                <a16:creationId xmlns:a16="http://schemas.microsoft.com/office/drawing/2014/main" id="{7BE22669-BB62-42BF-A481-DF65EC5C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723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仓库与迁移 → 登录与组织 → 发布首个活动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每一阶段都留下可运行、可测试、可讲述的证据。</a:t>
            </a:r>
          </a:p>
        </p:txBody>
      </p:sp>
      <p:sp>
        <p:nvSpPr>
          <p:cNvPr id="5" name="shape-1343">
            <a:extLst xmlns:a="http://schemas.openxmlformats.org/drawingml/2006/main">
              <a:ext uri="{FF2B5EF4-FFF2-40B4-BE49-F238E27FC236}">
                <a16:creationId xmlns:a16="http://schemas.microsoft.com/office/drawing/2014/main" id="{8EE306F9-BA0D-49FC-8DC5-8A311FB3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246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207733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2026-08-06T11:09:30.3310000Z</dcterms:created>
  <dcterms:modified xsi:type="dcterms:W3CDTF">2026-08-06T11:09:30.3320000Z</dcterms:modified>
</coreProperties>
</file>